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7" r:id="rId3"/>
    <p:sldId id="262" r:id="rId4"/>
    <p:sldId id="261" r:id="rId5"/>
    <p:sldId id="268" r:id="rId6"/>
    <p:sldId id="266" r:id="rId7"/>
    <p:sldId id="263" r:id="rId8"/>
    <p:sldId id="269" r:id="rId9"/>
    <p:sldId id="267" r:id="rId10"/>
    <p:sldId id="264" r:id="rId11"/>
    <p:sldId id="265" r:id="rId12"/>
    <p:sldId id="256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94660"/>
  </p:normalViewPr>
  <p:slideViewPr>
    <p:cSldViewPr snapToGrid="0">
      <p:cViewPr varScale="1">
        <p:scale>
          <a:sx n="62" d="100"/>
          <a:sy n="62" d="100"/>
        </p:scale>
        <p:origin x="3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Potencia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8FF-4A29-B920-AC7C3D2E9469}"/>
              </c:ext>
            </c:extLst>
          </c:dPt>
          <c:dPt>
            <c:idx val="1"/>
            <c:bubble3D val="0"/>
            <c:spPr>
              <a:solidFill>
                <a:srgbClr val="5C6B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8FF-4A29-B920-AC7C3D2E9469}"/>
              </c:ext>
            </c:extLst>
          </c:dPt>
          <c:dPt>
            <c:idx val="2"/>
            <c:bubble3D val="0"/>
            <c:spPr>
              <a:solidFill>
                <a:srgbClr val="1565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8FF-4A29-B920-AC7C3D2E9469}"/>
              </c:ext>
            </c:extLst>
          </c:dPt>
          <c:dPt>
            <c:idx val="3"/>
            <c:bubble3D val="0"/>
            <c:spPr>
              <a:solidFill>
                <a:srgbClr val="9C45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D8FF-4A29-B920-AC7C3D2E9469}"/>
              </c:ext>
            </c:extLst>
          </c:dPt>
          <c:dPt>
            <c:idx val="4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D8FF-4A29-B920-AC7C3D2E9469}"/>
              </c:ext>
            </c:extLst>
          </c:dPt>
          <c:dPt>
            <c:idx val="5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D8FF-4A29-B920-AC7C3D2E9469}"/>
              </c:ext>
            </c:extLst>
          </c:dPt>
          <c:dPt>
            <c:idx val="6"/>
            <c:bubble3D val="0"/>
            <c:spPr>
              <a:solidFill>
                <a:srgbClr val="E5737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D8FF-4A29-B920-AC7C3D2E9469}"/>
              </c:ext>
            </c:extLst>
          </c:dPt>
          <c:cat>
            <c:strRef>
              <c:f>Sheet1!$A$2:$A$8</c:f>
              <c:strCache>
                <c:ptCount val="7"/>
                <c:pt idx="0">
                  <c:v>Motores</c:v>
                </c:pt>
                <c:pt idx="1">
                  <c:v>Tableros SS.AA. / HVAC</c:v>
                </c:pt>
                <c:pt idx="2">
                  <c:v>Equipos generales (skids)</c:v>
                </c:pt>
                <c:pt idx="3">
                  <c:v>Calentadores eléctricos</c:v>
                </c:pt>
                <c:pt idx="4">
                  <c:v>SAI / UPS</c:v>
                </c:pt>
                <c:pt idx="5">
                  <c:v>Tracing (calefacción)</c:v>
                </c:pt>
                <c:pt idx="6">
                  <c:v>Iluminación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4426.7</c:v>
                </c:pt>
                <c:pt idx="1">
                  <c:v>710</c:v>
                </c:pt>
                <c:pt idx="2">
                  <c:v>508.6</c:v>
                </c:pt>
                <c:pt idx="3">
                  <c:v>260</c:v>
                </c:pt>
                <c:pt idx="4">
                  <c:v>150</c:v>
                </c:pt>
                <c:pt idx="5">
                  <c:v>150</c:v>
                </c:pt>
                <c:pt idx="6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8FF-4A29-B920-AC7C3D2E94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265A1-AE76-4D83-8606-3585546A0857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04485-8C03-4A24-BEBB-F15EC58D92C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642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3DC2E-E68B-267F-4997-0A150D923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4D941C-9B7B-0D4C-9264-EBE5A328D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18222F-C90F-7518-1D6F-47F70346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A7335-1E01-AF6F-427B-9189A45E7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3F2DC-B0D1-4306-0BD3-686EB470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6487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8AC8B-F03A-F091-33EB-5D76DDBA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AE41A-4E39-E970-EDD7-04B4A34CE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7E333C-2B2C-EB67-2454-3A8A43B5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32CAF6-FAFB-48CB-94B4-C41D2F53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8ADC9A-D85E-4E45-17E7-226B6046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3433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9C913-F06A-5F35-1E32-5ADE454C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997AB-8C96-850F-C2BF-8C33B7EC0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B06A9D-5C1E-97AA-D284-C5E95344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16FBA1-E10F-4499-D22D-B619523C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993734-5155-2031-1EDB-E98DF168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423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02709-9077-75BF-6B79-C2EB361D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5DCA10-5B2A-2FB1-FCE9-5704F5BEE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60BB0F-F9E2-AEC8-CC16-20992AB98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8E3AD5-9034-7E3C-4332-E29D2F64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93CA27-CB40-D693-28F0-E4ECEB9C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01CC27-58FF-031A-2BA9-128B4FC5C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748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C23E4-AD09-4910-6987-6529FEB4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7C73F5-353A-9292-F25A-74F4A6B6F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03C833-B01B-F402-FB08-4EA2DBEE6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1C9B3A-3BEE-865C-C446-0CF041B2E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176F80-33B7-936A-4AC6-821A1972D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99CFEC-3C34-7FBF-3517-AF76A5C87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CBDE488-D89E-85ED-2AB7-4C6B1FC35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DAD007D-1904-20A0-A6C6-18503359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4482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6918B-1C24-0232-75BC-02CFB26B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89C872-8CE6-5AED-CA11-70F0E72F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708622-C390-5C95-2EA6-1A7F78C0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1C3DF1-D646-A6F6-4DC9-A1079570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638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91EFD8D-85A3-758C-E9F6-2F22AE71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CD7991-6EDF-2801-EB62-1FA8FBDF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72172E-B273-05FC-1A1A-A613F26C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508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09FEA-E94B-3D3F-2994-C33A0413A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5580B0-D4CC-F946-1D5E-762DF7583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75930E-4AE0-9CDC-69B0-254D7E8FB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AFC1C4-EB6A-85B4-C92D-6C555B12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5D19DB-C21D-168E-53CA-7EB0AC44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7FBFDB-E017-8EB0-CFC8-639D1B50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19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04542-0EFA-1F48-CB08-B411EEBEC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172B6A-7B80-D7CC-C5D5-75BA889D0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9C1663-C604-5B56-1F2A-96C87D78E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A7353D-3059-041F-2D0B-0B296223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7F8FC8-7E9D-435E-2499-D632C2A6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4A8816-B733-B7C8-A554-EDA74FA1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546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71C0E-5ABC-D38D-74B4-91359300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136CD7-52B8-F309-2622-01EC9D22A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8FE6B8-6B02-8B0A-37A0-F976734F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96460D-A893-EEC1-05A2-762289935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89DC73-C247-6A3A-5DCB-3F06632B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054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F292E4-7C54-EDE8-03E7-E81304363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463670-466C-CBE6-721F-FB4CD37F6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01FA43-3F91-F32A-C1C5-1DF80FCA4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1150AB-2B5D-5076-57F7-D239934C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F5D1B-E6DE-1D47-3446-E2FCCDDC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9329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986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09FBAC-C635-A2F8-697B-8D312994E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B0B6E7-C03E-1FD6-5CA4-884FDBDBA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3C8FCB-6D70-4C25-D2EA-0C60F06A8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9EBB6-1841-4CCA-8375-C74F3DB7A42C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910670-3891-A9D3-C0FE-78C02A3A6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FCAA0-673B-E9B2-E3FA-12567EAA0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80869-66EF-4B2D-AC1C-C1FEE5BCF352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081AFD-5366-A4D4-0D5B-4E51637B38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02988" y="190500"/>
            <a:ext cx="8239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AESA - Pública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7BE508-77A0-F27A-C0B9-FE9B9AA2C3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02988" y="6515100"/>
            <a:ext cx="8239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AESA - Pública</a:t>
            </a:r>
          </a:p>
        </p:txBody>
      </p:sp>
    </p:spTree>
    <p:extLst>
      <p:ext uri="{BB962C8B-B14F-4D97-AF65-F5344CB8AC3E}">
        <p14:creationId xmlns:p14="http://schemas.microsoft.com/office/powerpoint/2010/main" val="101965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— Salas eléctricas y cargas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758952" y="1618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758952" y="16184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SE#3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" y="19842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#3 — Baja Tensión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8952" y="23134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 instalados · 6 transformadores exteriores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" y="26060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CCM (102-CCM-005/006/007) — 4.000 A, 65 kA, 380/220 V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UPS doble + bypass (40 kW) y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Rectificador/cargador 110 Vcc (20 kVA) +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VFD — bombas inyección de agua (373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Generador de emergencia diesel MAN-90006 (1.250 kW, vía ATS a CCM-006)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502920" y="3931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2"/>
          <p:cNvSpPr/>
          <p:nvPr/>
        </p:nvSpPr>
        <p:spPr>
          <a:xfrm>
            <a:off x="758952" y="41330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758952" y="41330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SE#4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58952" y="44988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#4 — Media Tensión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8952" y="48280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 instalados · 2 transformadores exteriores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8952" y="51206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 celdas MT — TGMT-001 (15, 13,2 kV) + TGMT-002 (10, 6,6 kV) · 630 A · 25 kA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VFD MT — bombas de condensado (600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UPS + rectificador 110 Vcc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5806440" y="1417320"/>
            <a:ext cx="5897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Text 18"/>
          <p:cNvSpPr/>
          <p:nvPr/>
        </p:nvSpPr>
        <p:spPr>
          <a:xfrm>
            <a:off x="6099048" y="157276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instalada por tipo de carga — SE#3 + SE#4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099048" y="1819656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Balance de cargas eléctricas — área 102 (114 equipos)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080760" y="2029968"/>
          <a:ext cx="2651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608076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6.325</a:t>
            </a:r>
            <a:endParaRPr lang="en-US" sz="2100" dirty="0"/>
          </a:p>
        </p:txBody>
      </p:sp>
      <p:sp>
        <p:nvSpPr>
          <p:cNvPr id="25" name="Text 21"/>
          <p:cNvSpPr/>
          <p:nvPr/>
        </p:nvSpPr>
        <p:spPr>
          <a:xfrm>
            <a:off x="6080760" y="3447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kW instalados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8869680" y="2011680"/>
            <a:ext cx="118872" cy="1188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3"/>
          <p:cNvSpPr/>
          <p:nvPr/>
        </p:nvSpPr>
        <p:spPr>
          <a:xfrm>
            <a:off x="9052560" y="1975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Motores</a:t>
            </a:r>
            <a:endParaRPr lang="en-US" sz="860" dirty="0"/>
          </a:p>
        </p:txBody>
      </p:sp>
      <p:sp>
        <p:nvSpPr>
          <p:cNvPr id="28" name="Text 24"/>
          <p:cNvSpPr/>
          <p:nvPr/>
        </p:nvSpPr>
        <p:spPr>
          <a:xfrm>
            <a:off x="10744200" y="1975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4.426,7</a:t>
            </a:r>
            <a:endParaRPr lang="en-US" sz="860" dirty="0"/>
          </a:p>
        </p:txBody>
      </p:sp>
      <p:sp>
        <p:nvSpPr>
          <p:cNvPr id="29" name="Shape 25"/>
          <p:cNvSpPr/>
          <p:nvPr/>
        </p:nvSpPr>
        <p:spPr>
          <a:xfrm>
            <a:off x="8869680" y="2304288"/>
            <a:ext cx="118872" cy="118872"/>
          </a:xfrm>
          <a:prstGeom prst="rect">
            <a:avLst/>
          </a:prstGeom>
          <a:solidFill>
            <a:srgbClr val="5C6B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6"/>
          <p:cNvSpPr/>
          <p:nvPr/>
        </p:nvSpPr>
        <p:spPr>
          <a:xfrm>
            <a:off x="9052560" y="2267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SS.AA. / HVAC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10744200" y="2267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710,0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8869680" y="2596896"/>
            <a:ext cx="118872" cy="1188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29"/>
          <p:cNvSpPr/>
          <p:nvPr/>
        </p:nvSpPr>
        <p:spPr>
          <a:xfrm>
            <a:off x="9052560" y="2560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Equipos generales (skids)</a:t>
            </a:r>
            <a:endParaRPr lang="en-US" sz="860" dirty="0"/>
          </a:p>
        </p:txBody>
      </p:sp>
      <p:sp>
        <p:nvSpPr>
          <p:cNvPr id="34" name="Text 30"/>
          <p:cNvSpPr/>
          <p:nvPr/>
        </p:nvSpPr>
        <p:spPr>
          <a:xfrm>
            <a:off x="10744200" y="2560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508,6</a:t>
            </a:r>
            <a:endParaRPr lang="en-US" sz="860" dirty="0"/>
          </a:p>
        </p:txBody>
      </p:sp>
      <p:sp>
        <p:nvSpPr>
          <p:cNvPr id="35" name="Shape 31"/>
          <p:cNvSpPr/>
          <p:nvPr/>
        </p:nvSpPr>
        <p:spPr>
          <a:xfrm>
            <a:off x="8869680" y="2889504"/>
            <a:ext cx="118872" cy="118872"/>
          </a:xfrm>
          <a:prstGeom prst="rect">
            <a:avLst/>
          </a:prstGeom>
          <a:solidFill>
            <a:srgbClr val="9C45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2"/>
          <p:cNvSpPr/>
          <p:nvPr/>
        </p:nvSpPr>
        <p:spPr>
          <a:xfrm>
            <a:off x="905256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Calentadores eléctricos</a:t>
            </a:r>
            <a:endParaRPr lang="en-US" sz="860" dirty="0"/>
          </a:p>
        </p:txBody>
      </p:sp>
      <p:sp>
        <p:nvSpPr>
          <p:cNvPr id="37" name="Text 33"/>
          <p:cNvSpPr/>
          <p:nvPr/>
        </p:nvSpPr>
        <p:spPr>
          <a:xfrm>
            <a:off x="10744200" y="28529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260,0</a:t>
            </a:r>
            <a:endParaRPr lang="en-US" sz="860" dirty="0"/>
          </a:p>
        </p:txBody>
      </p:sp>
      <p:sp>
        <p:nvSpPr>
          <p:cNvPr id="38" name="Shape 34"/>
          <p:cNvSpPr/>
          <p:nvPr/>
        </p:nvSpPr>
        <p:spPr>
          <a:xfrm>
            <a:off x="8869680" y="3182112"/>
            <a:ext cx="118872" cy="11887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5"/>
          <p:cNvSpPr/>
          <p:nvPr/>
        </p:nvSpPr>
        <p:spPr>
          <a:xfrm>
            <a:off x="9052560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SAI / UPS</a:t>
            </a:r>
            <a:endParaRPr lang="en-US" sz="860" dirty="0"/>
          </a:p>
        </p:txBody>
      </p:sp>
      <p:sp>
        <p:nvSpPr>
          <p:cNvPr id="40" name="Text 36"/>
          <p:cNvSpPr/>
          <p:nvPr/>
        </p:nvSpPr>
        <p:spPr>
          <a:xfrm>
            <a:off x="10744200" y="3145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150,0</a:t>
            </a:r>
            <a:endParaRPr lang="en-US" sz="860" dirty="0"/>
          </a:p>
        </p:txBody>
      </p:sp>
      <p:sp>
        <p:nvSpPr>
          <p:cNvPr id="41" name="Shape 37"/>
          <p:cNvSpPr/>
          <p:nvPr/>
        </p:nvSpPr>
        <p:spPr>
          <a:xfrm>
            <a:off x="8869680" y="3474720"/>
            <a:ext cx="118872" cy="118872"/>
          </a:xfrm>
          <a:prstGeom prst="rect">
            <a:avLst/>
          </a:prstGeom>
          <a:solidFill>
            <a:srgbClr val="C992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38"/>
          <p:cNvSpPr/>
          <p:nvPr/>
        </p:nvSpPr>
        <p:spPr>
          <a:xfrm>
            <a:off x="9052560" y="34381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Tracing (calefacción)</a:t>
            </a:r>
            <a:endParaRPr lang="en-US" sz="860" dirty="0"/>
          </a:p>
        </p:txBody>
      </p:sp>
      <p:sp>
        <p:nvSpPr>
          <p:cNvPr id="43" name="Text 39"/>
          <p:cNvSpPr/>
          <p:nvPr/>
        </p:nvSpPr>
        <p:spPr>
          <a:xfrm>
            <a:off x="10744200" y="34381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150,0</a:t>
            </a:r>
            <a:endParaRPr lang="en-US" sz="860" dirty="0"/>
          </a:p>
        </p:txBody>
      </p:sp>
      <p:sp>
        <p:nvSpPr>
          <p:cNvPr id="44" name="Shape 40"/>
          <p:cNvSpPr/>
          <p:nvPr/>
        </p:nvSpPr>
        <p:spPr>
          <a:xfrm>
            <a:off x="8869680" y="3767328"/>
            <a:ext cx="118872" cy="118872"/>
          </a:xfrm>
          <a:prstGeom prst="rect">
            <a:avLst/>
          </a:prstGeom>
          <a:solidFill>
            <a:srgbClr val="E5737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1"/>
          <p:cNvSpPr/>
          <p:nvPr/>
        </p:nvSpPr>
        <p:spPr>
          <a:xfrm>
            <a:off x="9052560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Iluminación</a:t>
            </a:r>
            <a:endParaRPr lang="en-US" sz="860" dirty="0"/>
          </a:p>
        </p:txBody>
      </p:sp>
      <p:sp>
        <p:nvSpPr>
          <p:cNvPr id="46" name="Text 42"/>
          <p:cNvSpPr/>
          <p:nvPr/>
        </p:nvSpPr>
        <p:spPr>
          <a:xfrm>
            <a:off x="10744200" y="3730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120,0</a:t>
            </a:r>
            <a:endParaRPr lang="en-US" sz="860" dirty="0"/>
          </a:p>
        </p:txBody>
      </p:sp>
      <p:sp>
        <p:nvSpPr>
          <p:cNvPr id="47" name="Shape 43"/>
          <p:cNvSpPr/>
          <p:nvPr/>
        </p:nvSpPr>
        <p:spPr>
          <a:xfrm>
            <a:off x="5806440" y="4434840"/>
            <a:ext cx="5897880" cy="1965960"/>
          </a:xfrm>
          <a:prstGeom prst="roundRect">
            <a:avLst>
              <a:gd name="adj" fmla="val 3721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8" name="Text 44"/>
          <p:cNvSpPr/>
          <p:nvPr/>
        </p:nvSpPr>
        <p:spPr>
          <a:xfrm>
            <a:off x="6099048" y="4581144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disponible por sala</a:t>
            </a:r>
            <a:endParaRPr lang="en-US" sz="1350" dirty="0"/>
          </a:p>
        </p:txBody>
      </p:sp>
      <p:sp>
        <p:nvSpPr>
          <p:cNvPr id="49" name="Text 45"/>
          <p:cNvSpPr/>
          <p:nvPr/>
        </p:nvSpPr>
        <p:spPr>
          <a:xfrm>
            <a:off x="6099048" y="4937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7955280" y="499262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Shape 47"/>
          <p:cNvSpPr/>
          <p:nvPr/>
        </p:nvSpPr>
        <p:spPr>
          <a:xfrm>
            <a:off x="7955280" y="4992624"/>
            <a:ext cx="954176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2" name="Text 48"/>
          <p:cNvSpPr/>
          <p:nvPr/>
        </p:nvSpPr>
        <p:spPr>
          <a:xfrm>
            <a:off x="8028432" y="49926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60% usado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6099048" y="532180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2.260,8 kVA disponibles</a:t>
            </a:r>
            <a:r>
              <a:rPr lang="en-US" sz="930" dirty="0">
                <a:solidFill>
                  <a:srgbClr val="9B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de 5.600 kVA (demanda 3.339,2 kVA)</a:t>
            </a:r>
            <a:endParaRPr lang="en-US" sz="930" dirty="0"/>
          </a:p>
        </p:txBody>
      </p:sp>
      <p:sp>
        <p:nvSpPr>
          <p:cNvPr id="54" name="Text 50"/>
          <p:cNvSpPr/>
          <p:nvPr/>
        </p:nvSpPr>
        <p:spPr>
          <a:xfrm>
            <a:off x="6099048" y="5605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7955280" y="5660136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6" name="Shape 52"/>
          <p:cNvSpPr/>
          <p:nvPr/>
        </p:nvSpPr>
        <p:spPr>
          <a:xfrm>
            <a:off x="7955280" y="5660136"/>
            <a:ext cx="742045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7" name="Text 53"/>
          <p:cNvSpPr/>
          <p:nvPr/>
        </p:nvSpPr>
        <p:spPr>
          <a:xfrm>
            <a:off x="8028432" y="5660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46% usado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6099048" y="598932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1.340,7 kVA disponibles</a:t>
            </a:r>
            <a:r>
              <a:rPr lang="en-US" sz="930" dirty="0">
                <a:solidFill>
                  <a:srgbClr val="9B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de 2.500 kVA (demanda 1.159,3 kVA)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— SE#3 y SE#4 (modelo 3D)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graficas/assets/ae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81328"/>
            <a:ext cx="5454396" cy="3137493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9" name="Image 1" descr="/tmp/claude-0/-home-user-OWN-Daro-1/a5c78a85-7f37-586c-8f2d-662506f55282/scratchpad/graficas/assets/sala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554480"/>
            <a:ext cx="5308092" cy="26802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4298781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7"/>
          <p:cNvSpPr/>
          <p:nvPr/>
        </p:nvSpPr>
        <p:spPr>
          <a:xfrm>
            <a:off x="685800" y="4298781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423160" y="4298781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#3 — Baja Tensión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1636" y="1481328"/>
            <a:ext cx="5454396" cy="3137493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4" name="Image 2" descr="/tmp/claude-0/-home-user-OWN-Daro-1/a5c78a85-7f37-586c-8f2d-662506f55282/scratchpad/graficas/assets/sala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788" y="1554480"/>
            <a:ext cx="5308092" cy="268029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14516" y="4298781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1"/>
          <p:cNvSpPr/>
          <p:nvPr/>
        </p:nvSpPr>
        <p:spPr>
          <a:xfrm>
            <a:off x="6414516" y="4298781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151876" y="4298781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#4 — Media Tensión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" y="4600533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Capturas de referencia del modelo 3D (BIM) — shelters premontados de fábrica por ABB, sobre estructura elevada con bandejas de vinculación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50292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5"/>
          <p:cNvSpPr/>
          <p:nvPr/>
        </p:nvSpPr>
        <p:spPr>
          <a:xfrm>
            <a:off x="72237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6"/>
          <p:cNvSpPr/>
          <p:nvPr/>
        </p:nvSpPr>
        <p:spPr>
          <a:xfrm>
            <a:off x="68580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8580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instalados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transformadores exteriores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4899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19"/>
          <p:cNvSpPr/>
          <p:nvPr/>
        </p:nvSpPr>
        <p:spPr>
          <a:xfrm>
            <a:off x="356844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0"/>
          <p:cNvSpPr/>
          <p:nvPr/>
        </p:nvSpPr>
        <p:spPr>
          <a:xfrm>
            <a:off x="353187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353187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instalados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transformadores TRMT-001 A/B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19506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8" name="Shape 23"/>
          <p:cNvSpPr/>
          <p:nvPr/>
        </p:nvSpPr>
        <p:spPr>
          <a:xfrm>
            <a:off x="641451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4"/>
          <p:cNvSpPr/>
          <p:nvPr/>
        </p:nvSpPr>
        <p:spPr>
          <a:xfrm>
            <a:off x="637794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 + 25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637794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BT/CCM (SE#3) + celdas MT (SE#4)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04113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2" name="Shape 27"/>
          <p:cNvSpPr/>
          <p:nvPr/>
        </p:nvSpPr>
        <p:spPr>
          <a:xfrm>
            <a:off x="926058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28"/>
          <p:cNvSpPr/>
          <p:nvPr/>
        </p:nvSpPr>
        <p:spPr>
          <a:xfrm>
            <a:off x="922401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· 16.200 kVA</a:t>
            </a:r>
            <a:endParaRPr lang="en-US" sz="2200" dirty="0"/>
          </a:p>
        </p:txBody>
      </p:sp>
      <p:sp>
        <p:nvSpPr>
          <p:cNvPr id="34" name="Text 29"/>
          <p:cNvSpPr/>
          <p:nvPr/>
        </p:nvSpPr>
        <p:spPr>
          <a:xfrm>
            <a:off x="922401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Transformadores de potencia totales</a:t>
            </a:r>
            <a:endParaRPr lang="en-US" sz="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(fuera de las salas)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PMS — ABB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7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PMS ABB — Existente vs.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Arquitectura SCADA ELE / PMS — Anexo III Expansión CPF2-F4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562356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100" b="1">
                <a:solidFill>
                  <a:srgbClr val="2EA64B"/>
                </a:solidFill>
                <a:latin typeface="Calibri"/>
              </a:rPr>
              <a:t>ARQUITECTURA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80160"/>
            <a:ext cx="5623560" cy="36576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1005840"/>
            <a:ext cx="562356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100" b="1">
                <a:solidFill>
                  <a:srgbClr val="C81E1E"/>
                </a:solidFill>
                <a:latin typeface="Calibri"/>
              </a:rPr>
              <a:t>AMPLIACIÓN CPF 2 — SE3 + SE4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280160"/>
            <a:ext cx="562356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lide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23560" cy="397671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1417320"/>
            <a:ext cx="5623560" cy="4206240"/>
          </a:xfrm>
          <a:prstGeom prst="rect">
            <a:avLst/>
          </a:prstGeom>
          <a:noFill/>
          <a:ln w="190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lide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17320"/>
            <a:ext cx="5623560" cy="39767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199632" y="1417320"/>
            <a:ext cx="5623560" cy="4206240"/>
          </a:xfrm>
          <a:prstGeom prst="rect">
            <a:avLst/>
          </a:prstGeom>
          <a:noFill/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365992" cy="6858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11556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PCS ↔ PMS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11556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Modbus TCP redundante  ·  Red IEC 61850 anillo redundante  ·  PROFINET CPF2 para UMC y variadores  ·  ModuleBus redundante  ·  Pruebas integración: 5 días en Bs 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+ 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PCS/SCADA e HIMA — Sistemas integrados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PMS (provisión eléctrica ABB) se integra con los sistemas de control y seguridad de Instrumentación — PCS/SCADA e HIMA — bajo un único esquema de comunicaciones.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731520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731520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PMS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— Gestión de energía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1520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850392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r>
              <a:rPr lang="en-US" sz="94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 tableros supervisados (25 celdas MT + 3 CCM)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731520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800xA / AC800M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#1/#2 existentes + #3/#4 nuevas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I/O propio — vía IEC 61850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Deslastre de cargas, lógicas DAG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352544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4"/>
          <p:cNvSpPr/>
          <p:nvPr/>
        </p:nvSpPr>
        <p:spPr>
          <a:xfrm>
            <a:off x="4581144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5"/>
          <p:cNvSpPr/>
          <p:nvPr/>
        </p:nvSpPr>
        <p:spPr>
          <a:xfrm>
            <a:off x="4581144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81144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 — Control de proceso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581144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8"/>
          <p:cNvSpPr/>
          <p:nvPr/>
        </p:nvSpPr>
        <p:spPr>
          <a:xfrm>
            <a:off x="4700016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r>
              <a:rPr lang="en-US" sz="94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 señales I/O + ≈500 var. equipos paquete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4581144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Rockwell ControlLogix 1756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remotas nuevas: 175 AI · 65 AO · 38 DI · 32 DO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skids de equipos paquete vía Modbus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Inauco hasta entrega; SAT por AESA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8202168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1"/>
          <p:cNvSpPr/>
          <p:nvPr/>
        </p:nvSpPr>
        <p:spPr>
          <a:xfrm>
            <a:off x="8430768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2"/>
          <p:cNvSpPr/>
          <p:nvPr/>
        </p:nvSpPr>
        <p:spPr>
          <a:xfrm>
            <a:off x="8430768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430768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 — Seguridad de proceso (ESD/F&amp;G/PSS)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430768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5"/>
          <p:cNvSpPr/>
          <p:nvPr/>
        </p:nvSpPr>
        <p:spPr>
          <a:xfrm>
            <a:off x="8549640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r>
              <a:rPr lang="en-US" sz="94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 señales I/O (ESD 243 + PSS 644)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8430768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Planar4 existente, sin cambios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Nuevo I/O en Shelter 7 (ampliación)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Integrado al SCADA de seguridad de Inauco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marshalling — alcance AESA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3986784" y="2875788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8"/>
          <p:cNvSpPr/>
          <p:nvPr/>
        </p:nvSpPr>
        <p:spPr>
          <a:xfrm>
            <a:off x="3849624" y="24917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Modbus TCP redundante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7836408" y="2875788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0"/>
          <p:cNvSpPr/>
          <p:nvPr/>
        </p:nvSpPr>
        <p:spPr>
          <a:xfrm>
            <a:off x="7699248" y="24917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SIS ↔ SCADA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502920" y="4407408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5" name="Text 32"/>
          <p:cNvSpPr/>
          <p:nvPr/>
        </p:nvSpPr>
        <p:spPr>
          <a:xfrm>
            <a:off x="822960" y="4535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y HIMA son AMPLIACIONES de sistemas ya instalados en CPF-1 / CPF-1.5 — no son sistemas nuevos.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822960" y="4901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ABB: arquitectura existente + expansión a Salas #3/#4 (Anexo III Expansión CPF2-F4). SIS HIMA: mismo Planar4, se agrega I/O de Shelter 7. Referencias: ACAL-100-PL-K-100 Rev 11 (PCS) · ACAL-100-PL-K-551 Rev A (SIS).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FOCO ESPECIAL · PROVISIÓN INAUCO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 — provisión y alcance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187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(CPU Rockwell)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de control — CPU y chasis ControlLogix 1756 (1756-A13) — provisión de PPSA (Pluspetrol), equipo del cliente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Ingeniería, configuración y puesta en marcha del sistema a cargo de Inauco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de comunicaciones Stratix 5800 — red PRP redundante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y módulos de E/S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de las remotas 7A / 7B — suministro, montaje y cableado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 de entradas/salidas: 330 señales (175 AI · 65 AO · 38 DI · 32 DO)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con Inauco para FAT / SAT / iFAT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641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 — adecuación del SCADA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Además de los controladores, el SCADA debe adecuarse / reconfigurarse para completar la provisión conjunta de PCS y SCADA: nuevas pantallas para ESD/F&amp;G/PSS de Shelter 7, matriz de causa-efecto (C&amp;E) y tags de la Remota 7 y de los equipos paquete. (Nota del equipo de proyecto — a confirmar alcance con Inauco.)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Ampliación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Ampliación 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Incorporación de controladores y gabinetes de E/S en CPF 2 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52120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A LA RED DE CONTROL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2120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212080" cy="30175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1325880"/>
            <a:ext cx="5212080" cy="301752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52120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Switches LAN-A / LAN-B redundantes  ·  Conexión a anillo PRP existente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2120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ELEMENTOS NUEVOS — HARDWARE Y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74920"/>
            <a:ext cx="521208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5303520"/>
            <a:ext cx="112471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CPF2-PCS-SC-07a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5724144"/>
            <a:ext cx="1124712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2 columnas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3736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2224" y="5303520"/>
            <a:ext cx="112471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CPF2-PCS-SC-07b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2224" y="5724144"/>
            <a:ext cx="1124712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1 columna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01752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72384" y="5303520"/>
            <a:ext cx="112471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Stratix 5800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384" y="5724144"/>
            <a:ext cx="1124712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Switch redundante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768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52544" y="5303520"/>
            <a:ext cx="112471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Red PRP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5724144"/>
            <a:ext cx="1124712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IEC 62439-3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960120"/>
            <a:ext cx="608076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DETALLE DE TABLEROS — SHELTER REMOTA 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1234440"/>
            <a:ext cx="608076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52160" y="1371600"/>
            <a:ext cx="2926080" cy="2926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25312" y="1389888"/>
            <a:ext cx="2779776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REMOTA 7A  ·  NUEVA</a:t>
            </a:r>
          </a:p>
        </p:txBody>
      </p:sp>
      <p:pic>
        <p:nvPicPr>
          <p:cNvPr id="39" name="Picture 38" descr="slide5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2926080" cy="224028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852160" y="1691640"/>
            <a:ext cx="2926080" cy="2240280"/>
          </a:xfrm>
          <a:prstGeom prst="rect">
            <a:avLst/>
          </a:prstGeom>
          <a:noFill/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1371600"/>
            <a:ext cx="2926080" cy="2926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79992" y="1389888"/>
            <a:ext cx="2779776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REMOTA 7B  ·  NUEVA</a:t>
            </a:r>
          </a:p>
        </p:txBody>
      </p:sp>
      <p:pic>
        <p:nvPicPr>
          <p:cNvPr id="43" name="Picture 42" descr="slide5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691640"/>
            <a:ext cx="2926080" cy="224028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9006840" y="1691640"/>
            <a:ext cx="2926080" cy="2240280"/>
          </a:xfrm>
          <a:prstGeom prst="rect">
            <a:avLst/>
          </a:prstGeom>
          <a:noFill/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852160" y="4069080"/>
            <a:ext cx="6080760" cy="1097280"/>
          </a:xfrm>
          <a:prstGeom prst="rect">
            <a:avLst/>
          </a:prstGeom>
          <a:solidFill>
            <a:srgbClr val="FAE3E3"/>
          </a:solidFill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852160" y="4069080"/>
            <a:ext cx="137160" cy="10972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80760" y="4123944"/>
            <a:ext cx="5760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▸  PUNTO CLAVE DE LA AMPLIACIÓN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4379976"/>
            <a:ext cx="5760720" cy="731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Se adicionan DOS NUEVAS REMOTAS (7A y 7B) con sus gabinetes, switches y cableado. Los CONTROLADORES ControlLogix existentes en el Shelter 6 se reinstalarán en uno de los tableros de las nuevas remotas — posiblemente en la REMOTA 7B (a evaluar). Ambas se integran al anillo PRP existente vía los switches LAN-A / LAN-B.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5257800"/>
            <a:ext cx="6080760" cy="320040"/>
          </a:xfrm>
          <a:prstGeom prst="rect">
            <a:avLst/>
          </a:prstGeom>
          <a:solidFill>
            <a:srgbClr val="DCF1E2"/>
          </a:solidFill>
          <a:ln w="1270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852160" y="5257800"/>
            <a:ext cx="137160" cy="3200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80760" y="5303520"/>
            <a:ext cx="576072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A64B"/>
                </a:solidFill>
                <a:latin typeface="Calibri"/>
              </a:rPr>
              <a:t>●  CONTROLADORES EXISTENTES — se reubican desde Shelter 6 (a evaluar)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5669280"/>
            <a:ext cx="608076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HARDWARE NUEVO EN REMOTAS 7A Y 7B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5943600"/>
            <a:ext cx="608076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870448" y="6035040"/>
            <a:ext cx="73152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89320" y="6016752"/>
            <a:ext cx="219456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Chasis 1756-A13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6016752"/>
            <a:ext cx="3749039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EN2TP + MVI56E-MNETCR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70448" y="6236208"/>
            <a:ext cx="73152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89320" y="6217920"/>
            <a:ext cx="219456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Módulos HART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6217920"/>
            <a:ext cx="3749039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IF16H / OF8H · IB32 / OB32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Comunicaciones 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Comunicaciones OT — Dispositivos a integrar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Diagrama en bloques: ACAL-00102-PL-O-0001 Rev A</a:t>
            </a:r>
          </a:p>
        </p:txBody>
      </p:sp>
      <p:pic>
        <p:nvPicPr>
          <p:cNvPr id="12" name="Picture 11" descr="slide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98418" cy="457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097280"/>
            <a:ext cx="576072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DISPOSITIVOS A NIVEL CONTROLADOR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76072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64592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Generación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01168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Vínculo Modbus / nativo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8" y="164592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Aire — Nitrógeno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01168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65176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3 Compresores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01752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Comm. dedicada por unidad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99448" y="265176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Compresores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01752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365760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Horno de Hot Oil (EAP-94201B)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02336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9448" y="365760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Calentadores del KOD (SKZZ-93110)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402336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27648" y="466344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Bombas FlowServe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502920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Protocolo nativo + FactoryTalk (opc.)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440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99448" y="4663440"/>
            <a:ext cx="260604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 ABB — 2 salas eléctricas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5029200"/>
            <a:ext cx="26060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5760720"/>
            <a:ext cx="5760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81928" y="5815584"/>
            <a:ext cx="5541264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Infraestructura FO: patch panels 6/12/24 hilos · Switches ETH/FO · Cableado Cat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FOCO ESPECIAL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— ampliación y provisión contractual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187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y software HIMA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HIMA Planar4 (existente) — hardware y software provistos por PPSA (Pluspetrol)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— ESD / PSS / USS (Shelter 7), marcados como Provisión PP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de un sistema YA INSTALADO, no un sistema nuevo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CONTRACTUAL AESA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ESD / F&amp;G (1) + PSS 07A (1) + PSS 07B (1) — único alcance contractual de AESA respecto de HIMA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Montaje, conexionado e integración en campo de los tableros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con HIMA para FAT / SAT / iFAT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641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 — reajuste de hardware y software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Según lo informado por el equipo de proyecto, la re-adecuación del proyecto no incorporó en su alcance original el reajuste de hardware y software de HIMA. Como consecuencia, AESA debe reajustar el hardware y software del sistema para la ampliación. (Nota de alcance del equipo de proyecto — a validar contractualmente contra el pliego vigente.)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SIS — HIMA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SIS HIMA — Ampliación sobre arquitectura 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ACAL-100-PL-K-551 Rev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68580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ARQUITECTURA SIS HIMA — VISTA GENERAL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68580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40233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1325880"/>
            <a:ext cx="6858000" cy="402336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52618" y="2651760"/>
            <a:ext cx="474562" cy="1728216"/>
          </a:xfrm>
          <a:prstGeom prst="rect">
            <a:avLst/>
          </a:prstGeom>
          <a:noFill/>
          <a:ln w="381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55340" y="2266552"/>
            <a:ext cx="2377440" cy="27432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8492" y="2284840"/>
            <a:ext cx="2286000" cy="23774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 dirty="0">
                <a:solidFill>
                  <a:srgbClr val="FFFFFF"/>
                </a:solidFill>
                <a:latin typeface="Calibri"/>
              </a:rPr>
              <a:t>▸  ZONA DE AMPLIACIÓN — SHELTER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685800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AMPLIACIÓN SHELTER 7 (HIMA):  se instalan los TABLEROS DE I/O para ESD/F&amp;G y PSS, conectados a las redes de los controladores HIMA correspondientes. La plataforma HIMA Planar4 actual se mantiene sin cambios.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960120"/>
            <a:ext cx="443484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REDES AFECTADAS POR LA AMPLIACIÓN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234440"/>
            <a:ext cx="443484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41732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19" y="1453896"/>
            <a:ext cx="4251960" cy="23774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Redes HIMA — ESD / F&amp;G / PSS / USS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74650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98079" y="174650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62671" y="1783080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controladores HIMA Planar4 (sin cambios)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24028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98079" y="224028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1" y="2276856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Nuevo: tableros I/O ESD/F&amp;G + I/O PSS en Shelter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88036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19" y="2916936"/>
            <a:ext cx="4251960" cy="23774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Red OPC ↔ SCADA 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20954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98079" y="320954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62671" y="3246120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vínculo OPC con plataforma HIMA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370332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98079" y="370332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62671" y="3739896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Nuevos tags Shelter 7 (ESD, F&amp;G, PSS, USS)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434340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19" y="4379976"/>
            <a:ext cx="4251960" cy="23774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SCADA SIS — Pantallas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67258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98079" y="467258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62671" y="4709160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pantallas operativas CPF 1 / 1.5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516636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498079" y="516636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62671" y="5202936"/>
            <a:ext cx="420624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Nuevas pantallas ESD/F&amp;G/PSS Shelter 7, matriz C&amp;E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5669280"/>
            <a:ext cx="4434840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89519" y="5715000"/>
            <a:ext cx="425196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850" b="1">
                <a:solidFill>
                  <a:srgbClr val="2E75B6"/>
                </a:solidFill>
                <a:latin typeface="Calibri"/>
              </a:rPr>
              <a:t>TABLEROS NUEVOS EN SHELTER 7 (HIMA)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19" y="5897880"/>
            <a:ext cx="425196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I/O ESD/F&amp;G  ·  I/O PSS  (entrega 01/07/2026)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9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Criterios de integración y resumen de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Redundancia, elementos clave y documentación de 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749039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CRITERIOS DE INTEGRACIÓN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3749039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1591056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SIS HIMA ↔ SCADA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28800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OPC con HIMA Planar4 (ESD/F&amp;G/PSS/USS)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76272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17627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2212848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Redes HIMA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450592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ModuleBus a controladores SIS (existentes)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98064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798064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2834640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SCADA–PMS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072384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Enlace directo punto a punto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9856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419856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3456432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PMS–SCADA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694176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41648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041648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078224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Red IEC 61850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315968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Anillo redundante para IEDs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66344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4700016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PROFINET CPF2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937760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Redundante para UMCs y variadores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85232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28523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" y="5321808"/>
            <a:ext cx="3520439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PCS PRP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559552"/>
            <a:ext cx="352043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Parallel Redundancy Protocol IEC 62439-3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1051560"/>
            <a:ext cx="3749039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ELEMENTOS NUEVOS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371600"/>
            <a:ext cx="3749039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43400" y="155448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43400" y="155448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07992" y="1591056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1865376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Remotas 7A y 7B (CPF2-PCS-SC-07a/b)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2267712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43400" y="2267712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07992" y="2304288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SIS HIMA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7992" y="2578608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Shelter 7: I/O ESD/F&amp;G + I/O PSS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2980944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43400" y="2980944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07992" y="3017520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Comms 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07992" y="3291840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CPF-COM-07 / CPF-COM-SE3 / CPF-COM-SE4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3694176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43400" y="3694176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07992" y="3730752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7992" y="4005072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Comms redundante + SE #3 y SE #4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43400" y="4407408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43400" y="4407408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07992" y="4443984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7992" y="4718304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integral en planta Inauco (Neuquén)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43400" y="512064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343400" y="512064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07992" y="5157216"/>
            <a:ext cx="3520439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07992" y="5431536"/>
            <a:ext cx="3520439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SIS con apoyo HIMA (simulación)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1051560"/>
            <a:ext cx="365760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DOCUMENTOS DE REFERENCIA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1371600"/>
            <a:ext cx="3657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229600" y="155448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66760" y="1591056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ACAL-100-PL-K-100 Rev 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1865376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PCS (Rockwell)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2267712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366760" y="2304288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ACAL-100-PL-K-551 Rev 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66760" y="2578608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SIS (HIMA)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2980944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66760" y="3017520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ACAL-00102-PL-O-0001 Rev 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3291840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Comunicaciones OT — bloques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3694176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66760" y="3730752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ACAL-00102-LS-K-0001-0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66760" y="4005072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Lista de señales (I/O)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29600" y="4407408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366760" y="4443984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66760" y="4718304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Oferta técnica Inauco — alcance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512064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366760" y="5157216"/>
            <a:ext cx="3474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Anexo III F4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66760" y="5431536"/>
            <a:ext cx="3474720" cy="329184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SCADA ELE/PMS ABB — integración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5989320"/>
            <a:ext cx="11365992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000" b="0">
                <a:solidFill>
                  <a:srgbClr val="E8EFF7"/>
                </a:solidFill>
                <a:latin typeface="Calibri"/>
              </a:rPr>
              <a:t>Presentación elaborada sobre base de documentación de Pluspetrol, AESA, Inauco, HIMA y ABB — Mayo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VISTA POR PROVISIÓN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Cronograma integrado — convergencia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5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65960" y="2267712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1965960" y="3767328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1965960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3180969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4395978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0"/>
          <p:cNvSpPr/>
          <p:nvPr/>
        </p:nvSpPr>
        <p:spPr>
          <a:xfrm>
            <a:off x="5610987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6825996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2"/>
          <p:cNvSpPr/>
          <p:nvPr/>
        </p:nvSpPr>
        <p:spPr>
          <a:xfrm>
            <a:off x="8041005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3"/>
          <p:cNvSpPr/>
          <p:nvPr/>
        </p:nvSpPr>
        <p:spPr>
          <a:xfrm>
            <a:off x="9256014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4"/>
          <p:cNvSpPr/>
          <p:nvPr/>
        </p:nvSpPr>
        <p:spPr>
          <a:xfrm>
            <a:off x="10471023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5"/>
          <p:cNvSpPr/>
          <p:nvPr/>
        </p:nvSpPr>
        <p:spPr>
          <a:xfrm>
            <a:off x="11686032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 rot="19500000">
            <a:off x="167335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May'26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237096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8"/>
          <p:cNvSpPr/>
          <p:nvPr/>
        </p:nvSpPr>
        <p:spPr>
          <a:xfrm rot="19500000">
            <a:off x="207835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Jun'26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775966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0"/>
          <p:cNvSpPr/>
          <p:nvPr/>
        </p:nvSpPr>
        <p:spPr>
          <a:xfrm rot="19500000">
            <a:off x="248335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Jul'26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 rot="19500000">
            <a:off x="288836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Ago'26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58597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3"/>
          <p:cNvSpPr/>
          <p:nvPr/>
        </p:nvSpPr>
        <p:spPr>
          <a:xfrm rot="19500000">
            <a:off x="329336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Sep'26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3990975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5"/>
          <p:cNvSpPr/>
          <p:nvPr/>
        </p:nvSpPr>
        <p:spPr>
          <a:xfrm rot="19500000">
            <a:off x="369836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Oct'26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 rot="19500000">
            <a:off x="410337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Nov'26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480098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8"/>
          <p:cNvSpPr/>
          <p:nvPr/>
        </p:nvSpPr>
        <p:spPr>
          <a:xfrm rot="19500000">
            <a:off x="450837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Dic'26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5205984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0"/>
          <p:cNvSpPr/>
          <p:nvPr/>
        </p:nvSpPr>
        <p:spPr>
          <a:xfrm rot="19500000">
            <a:off x="491337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Ene'27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 rot="19500000">
            <a:off x="531837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Feb'27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601599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3"/>
          <p:cNvSpPr/>
          <p:nvPr/>
        </p:nvSpPr>
        <p:spPr>
          <a:xfrm rot="19500000">
            <a:off x="572338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Mar'27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42099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5"/>
          <p:cNvSpPr/>
          <p:nvPr/>
        </p:nvSpPr>
        <p:spPr>
          <a:xfrm rot="19500000">
            <a:off x="612838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Abr'27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 rot="19500000">
            <a:off x="653338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May'27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7230999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8"/>
          <p:cNvSpPr/>
          <p:nvPr/>
        </p:nvSpPr>
        <p:spPr>
          <a:xfrm rot="19500000">
            <a:off x="693839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Jun'27</a:t>
            </a:r>
            <a:endParaRPr lang="en-US" sz="680" dirty="0"/>
          </a:p>
        </p:txBody>
      </p:sp>
      <p:sp>
        <p:nvSpPr>
          <p:cNvPr id="42" name="Shape 39"/>
          <p:cNvSpPr/>
          <p:nvPr/>
        </p:nvSpPr>
        <p:spPr>
          <a:xfrm>
            <a:off x="763600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0"/>
          <p:cNvSpPr/>
          <p:nvPr/>
        </p:nvSpPr>
        <p:spPr>
          <a:xfrm rot="19500000">
            <a:off x="734339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Jul'27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 rot="19500000">
            <a:off x="774839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Ago'27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8446008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6" name="Text 43"/>
          <p:cNvSpPr/>
          <p:nvPr/>
        </p:nvSpPr>
        <p:spPr>
          <a:xfrm rot="19500000">
            <a:off x="815340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Sep'27</a:t>
            </a:r>
            <a:endParaRPr lang="en-US" sz="680" dirty="0"/>
          </a:p>
        </p:txBody>
      </p:sp>
      <p:sp>
        <p:nvSpPr>
          <p:cNvPr id="47" name="Shape 44"/>
          <p:cNvSpPr/>
          <p:nvPr/>
        </p:nvSpPr>
        <p:spPr>
          <a:xfrm>
            <a:off x="885101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5"/>
          <p:cNvSpPr/>
          <p:nvPr/>
        </p:nvSpPr>
        <p:spPr>
          <a:xfrm rot="19500000">
            <a:off x="855840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Oct'27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 rot="19500000">
            <a:off x="896340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Nov'27</a:t>
            </a:r>
            <a:endParaRPr lang="en-US" sz="680" dirty="0"/>
          </a:p>
        </p:txBody>
      </p:sp>
      <p:sp>
        <p:nvSpPr>
          <p:cNvPr id="50" name="Shape 47"/>
          <p:cNvSpPr/>
          <p:nvPr/>
        </p:nvSpPr>
        <p:spPr>
          <a:xfrm>
            <a:off x="9661017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Text 48"/>
          <p:cNvSpPr/>
          <p:nvPr/>
        </p:nvSpPr>
        <p:spPr>
          <a:xfrm rot="19500000">
            <a:off x="936840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Dic'27</a:t>
            </a:r>
            <a:endParaRPr lang="en-US" sz="680" dirty="0"/>
          </a:p>
        </p:txBody>
      </p:sp>
      <p:sp>
        <p:nvSpPr>
          <p:cNvPr id="52" name="Shape 49"/>
          <p:cNvSpPr/>
          <p:nvPr/>
        </p:nvSpPr>
        <p:spPr>
          <a:xfrm>
            <a:off x="1006602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3" name="Text 50"/>
          <p:cNvSpPr/>
          <p:nvPr/>
        </p:nvSpPr>
        <p:spPr>
          <a:xfrm rot="19500000">
            <a:off x="977341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Ene'28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 rot="19500000">
            <a:off x="1017841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Feb'28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457200" y="15179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57200" y="226771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57200" y="30175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457200" y="37673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457200" y="451713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/ EPC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2816466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1" name="Shape 58"/>
          <p:cNvSpPr/>
          <p:nvPr/>
        </p:nvSpPr>
        <p:spPr>
          <a:xfrm>
            <a:off x="4760481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2" name="Shape 59"/>
          <p:cNvSpPr/>
          <p:nvPr/>
        </p:nvSpPr>
        <p:spPr>
          <a:xfrm>
            <a:off x="6704495" y="1723644"/>
            <a:ext cx="729005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3" name="Shape 60"/>
          <p:cNvSpPr/>
          <p:nvPr/>
        </p:nvSpPr>
        <p:spPr>
          <a:xfrm>
            <a:off x="7328344" y="1741932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4" name="Text 61"/>
          <p:cNvSpPr/>
          <p:nvPr/>
        </p:nvSpPr>
        <p:spPr>
          <a:xfrm>
            <a:off x="6427661" y="19705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73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730" dirty="0"/>
          </a:p>
        </p:txBody>
      </p:sp>
      <p:sp>
        <p:nvSpPr>
          <p:cNvPr id="65" name="Shape 62"/>
          <p:cNvSpPr/>
          <p:nvPr/>
        </p:nvSpPr>
        <p:spPr>
          <a:xfrm>
            <a:off x="2816466" y="2473452"/>
            <a:ext cx="2673020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6" name="Shape 63"/>
          <p:cNvSpPr/>
          <p:nvPr/>
        </p:nvSpPr>
        <p:spPr>
          <a:xfrm>
            <a:off x="5489486" y="2473452"/>
            <a:ext cx="1215009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7" name="Shape 64"/>
          <p:cNvSpPr/>
          <p:nvPr/>
        </p:nvSpPr>
        <p:spPr>
          <a:xfrm>
            <a:off x="6599339" y="2491740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8" name="Text 65"/>
          <p:cNvSpPr/>
          <p:nvPr/>
        </p:nvSpPr>
        <p:spPr>
          <a:xfrm>
            <a:off x="5698655" y="27203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73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3059468" y="3223260"/>
            <a:ext cx="328052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0" name="Shape 67"/>
          <p:cNvSpPr/>
          <p:nvPr/>
        </p:nvSpPr>
        <p:spPr>
          <a:xfrm>
            <a:off x="6704495" y="3223260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1" name="Shape 68"/>
          <p:cNvSpPr/>
          <p:nvPr/>
        </p:nvSpPr>
        <p:spPr>
          <a:xfrm>
            <a:off x="7190499" y="3223260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1565C0">
              <a:alpha val="5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2" name="Shape 69"/>
          <p:cNvSpPr/>
          <p:nvPr/>
        </p:nvSpPr>
        <p:spPr>
          <a:xfrm>
            <a:off x="7085343" y="3241548"/>
            <a:ext cx="210312" cy="210312"/>
          </a:xfrm>
          <a:prstGeom prst="diamond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3" name="Text 70"/>
          <p:cNvSpPr/>
          <p:nvPr/>
        </p:nvSpPr>
        <p:spPr>
          <a:xfrm>
            <a:off x="6184659" y="34701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</a:t>
            </a:r>
            <a:endParaRPr lang="en-US" sz="73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730" dirty="0"/>
          </a:p>
        </p:txBody>
      </p:sp>
      <p:sp>
        <p:nvSpPr>
          <p:cNvPr id="74" name="Shape 71"/>
          <p:cNvSpPr/>
          <p:nvPr/>
        </p:nvSpPr>
        <p:spPr>
          <a:xfrm>
            <a:off x="3059468" y="3973068"/>
            <a:ext cx="2308517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5" name="Shape 72"/>
          <p:cNvSpPr/>
          <p:nvPr/>
        </p:nvSpPr>
        <p:spPr>
          <a:xfrm>
            <a:off x="5262829" y="3991356"/>
            <a:ext cx="210312" cy="210312"/>
          </a:xfrm>
          <a:prstGeom prst="diamond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6" name="Text 73"/>
          <p:cNvSpPr/>
          <p:nvPr/>
        </p:nvSpPr>
        <p:spPr>
          <a:xfrm>
            <a:off x="4362145" y="42199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</a:t>
            </a:r>
            <a:endParaRPr lang="en-US" sz="73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730" dirty="0"/>
          </a:p>
        </p:txBody>
      </p:sp>
      <p:sp>
        <p:nvSpPr>
          <p:cNvPr id="77" name="Shape 74"/>
          <p:cNvSpPr/>
          <p:nvPr/>
        </p:nvSpPr>
        <p:spPr>
          <a:xfrm>
            <a:off x="5367985" y="3973068"/>
            <a:ext cx="607504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8" name="Shape 75"/>
          <p:cNvSpPr/>
          <p:nvPr/>
        </p:nvSpPr>
        <p:spPr>
          <a:xfrm>
            <a:off x="6704495" y="3973068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9" name="Shape 76"/>
          <p:cNvSpPr/>
          <p:nvPr/>
        </p:nvSpPr>
        <p:spPr>
          <a:xfrm>
            <a:off x="7190499" y="3973068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0" name="Shape 77"/>
          <p:cNvSpPr/>
          <p:nvPr/>
        </p:nvSpPr>
        <p:spPr>
          <a:xfrm>
            <a:off x="7190499" y="4722876"/>
            <a:ext cx="4009530" cy="246888"/>
          </a:xfrm>
          <a:prstGeom prst="roundRect">
            <a:avLst>
              <a:gd name="adj" fmla="val 14815"/>
            </a:avLst>
          </a:prstGeom>
          <a:solidFill>
            <a:srgbClr val="2E7D32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1" name="Shape 78"/>
          <p:cNvSpPr/>
          <p:nvPr/>
        </p:nvSpPr>
        <p:spPr>
          <a:xfrm>
            <a:off x="8057350" y="4741164"/>
            <a:ext cx="210312" cy="21031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2" name="Shape 79"/>
          <p:cNvSpPr/>
          <p:nvPr/>
        </p:nvSpPr>
        <p:spPr>
          <a:xfrm>
            <a:off x="11020406" y="4727448"/>
            <a:ext cx="237744" cy="237744"/>
          </a:xfrm>
          <a:prstGeom prst="star5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3" name="Text 80"/>
          <p:cNvSpPr/>
          <p:nvPr/>
        </p:nvSpPr>
        <p:spPr>
          <a:xfrm>
            <a:off x="10087718" y="49834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76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760" dirty="0"/>
          </a:p>
        </p:txBody>
      </p:sp>
      <p:sp>
        <p:nvSpPr>
          <p:cNvPr id="84" name="Text 81"/>
          <p:cNvSpPr/>
          <p:nvPr/>
        </p:nvSpPr>
        <p:spPr>
          <a:xfrm>
            <a:off x="6973786" y="4169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 — Integración total</a:t>
            </a:r>
            <a:endParaRPr lang="en-US" sz="78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 14-Jul-27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7433501" y="1847088"/>
            <a:ext cx="729005" cy="2971800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6" name="Shape 83"/>
          <p:cNvSpPr/>
          <p:nvPr/>
        </p:nvSpPr>
        <p:spPr>
          <a:xfrm>
            <a:off x="6704495" y="2596896"/>
            <a:ext cx="1458011" cy="2221992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7" name="Shape 84"/>
          <p:cNvSpPr/>
          <p:nvPr/>
        </p:nvSpPr>
        <p:spPr>
          <a:xfrm>
            <a:off x="7190499" y="3346704"/>
            <a:ext cx="972007" cy="1472184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8" name="Shape 85"/>
          <p:cNvSpPr/>
          <p:nvPr/>
        </p:nvSpPr>
        <p:spPr>
          <a:xfrm>
            <a:off x="7190499" y="4096512"/>
            <a:ext cx="972007" cy="722376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89" name="Text 86"/>
          <p:cNvSpPr/>
          <p:nvPr/>
        </p:nvSpPr>
        <p:spPr>
          <a:xfrm>
            <a:off x="502920" y="5349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94D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HITOS PRINCIPALES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1965960" y="5678424"/>
            <a:ext cx="9720072" cy="0"/>
          </a:xfrm>
          <a:prstGeom prst="line">
            <a:avLst/>
          </a:prstGeom>
          <a:noFill/>
          <a:ln w="19050">
            <a:solidFill>
              <a:srgbClr val="C7D0D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1" name="Shape 88"/>
          <p:cNvSpPr/>
          <p:nvPr/>
        </p:nvSpPr>
        <p:spPr>
          <a:xfrm>
            <a:off x="5299405" y="5609844"/>
            <a:ext cx="137160" cy="137160"/>
          </a:xfrm>
          <a:prstGeom prst="diamond">
            <a:avLst/>
          </a:prstGeom>
          <a:solidFill>
            <a:srgbClr val="6A1B9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2" name="Text 89"/>
          <p:cNvSpPr/>
          <p:nvPr/>
        </p:nvSpPr>
        <p:spPr>
          <a:xfrm>
            <a:off x="4682185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 HIMA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690" dirty="0"/>
          </a:p>
        </p:txBody>
      </p:sp>
      <p:sp>
        <p:nvSpPr>
          <p:cNvPr id="93" name="Shape 90"/>
          <p:cNvSpPr/>
          <p:nvPr/>
        </p:nvSpPr>
        <p:spPr>
          <a:xfrm>
            <a:off x="6635915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4" name="Text 91"/>
          <p:cNvSpPr/>
          <p:nvPr/>
        </p:nvSpPr>
        <p:spPr>
          <a:xfrm>
            <a:off x="6018695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690" dirty="0"/>
          </a:p>
        </p:txBody>
      </p:sp>
      <p:sp>
        <p:nvSpPr>
          <p:cNvPr id="95" name="Shape 92"/>
          <p:cNvSpPr/>
          <p:nvPr/>
        </p:nvSpPr>
        <p:spPr>
          <a:xfrm>
            <a:off x="7121919" y="5609844"/>
            <a:ext cx="137160" cy="137160"/>
          </a:xfrm>
          <a:prstGeom prst="diamond">
            <a:avLst/>
          </a:prstGeom>
          <a:solidFill>
            <a:srgbClr val="1565C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6" name="Text 93"/>
          <p:cNvSpPr/>
          <p:nvPr/>
        </p:nvSpPr>
        <p:spPr>
          <a:xfrm>
            <a:off x="6504699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 PCS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690" dirty="0"/>
          </a:p>
        </p:txBody>
      </p:sp>
      <p:sp>
        <p:nvSpPr>
          <p:cNvPr id="97" name="Shape 94"/>
          <p:cNvSpPr/>
          <p:nvPr/>
        </p:nvSpPr>
        <p:spPr>
          <a:xfrm>
            <a:off x="7364921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8" name="Text 95"/>
          <p:cNvSpPr/>
          <p:nvPr/>
        </p:nvSpPr>
        <p:spPr>
          <a:xfrm>
            <a:off x="6747701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690" dirty="0"/>
          </a:p>
        </p:txBody>
      </p:sp>
      <p:sp>
        <p:nvSpPr>
          <p:cNvPr id="99" name="Shape 96"/>
          <p:cNvSpPr/>
          <p:nvPr/>
        </p:nvSpPr>
        <p:spPr>
          <a:xfrm>
            <a:off x="8093926" y="5609844"/>
            <a:ext cx="137160" cy="137160"/>
          </a:xfrm>
          <a:prstGeom prst="diamond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0" name="Text 97"/>
          <p:cNvSpPr/>
          <p:nvPr/>
        </p:nvSpPr>
        <p:spPr>
          <a:xfrm>
            <a:off x="7476706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25-Jun→14-Jul-27</a:t>
            </a:r>
            <a:endParaRPr lang="en-US" sz="690" dirty="0"/>
          </a:p>
        </p:txBody>
      </p:sp>
      <p:sp>
        <p:nvSpPr>
          <p:cNvPr id="101" name="Shape 98"/>
          <p:cNvSpPr/>
          <p:nvPr/>
        </p:nvSpPr>
        <p:spPr>
          <a:xfrm>
            <a:off x="11047838" y="5586984"/>
            <a:ext cx="182880" cy="182880"/>
          </a:xfrm>
          <a:prstGeom prst="star5">
            <a:avLst/>
          </a:prstGeom>
          <a:solidFill>
            <a:srgbClr val="C992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2" name="Text 99"/>
          <p:cNvSpPr/>
          <p:nvPr/>
        </p:nvSpPr>
        <p:spPr>
          <a:xfrm>
            <a:off x="10453478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690" dirty="0"/>
          </a:p>
        </p:txBody>
      </p:sp>
      <p:sp>
        <p:nvSpPr>
          <p:cNvPr id="103" name="Shape 100"/>
          <p:cNvSpPr/>
          <p:nvPr/>
        </p:nvSpPr>
        <p:spPr>
          <a:xfrm>
            <a:off x="502920" y="640994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4" name="Text 101"/>
          <p:cNvSpPr/>
          <p:nvPr/>
        </p:nvSpPr>
        <p:spPr>
          <a:xfrm>
            <a:off x="6858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</p:txBody>
      </p:sp>
      <p:sp>
        <p:nvSpPr>
          <p:cNvPr id="105" name="Shape 102"/>
          <p:cNvSpPr/>
          <p:nvPr/>
        </p:nvSpPr>
        <p:spPr>
          <a:xfrm>
            <a:off x="1874520" y="640994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6" name="Text 103"/>
          <p:cNvSpPr/>
          <p:nvPr/>
        </p:nvSpPr>
        <p:spPr>
          <a:xfrm>
            <a:off x="20574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</p:txBody>
      </p:sp>
      <p:sp>
        <p:nvSpPr>
          <p:cNvPr id="107" name="Shape 104"/>
          <p:cNvSpPr/>
          <p:nvPr/>
        </p:nvSpPr>
        <p:spPr>
          <a:xfrm>
            <a:off x="3246120" y="6409944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8" name="Text 105"/>
          <p:cNvSpPr/>
          <p:nvPr/>
        </p:nvSpPr>
        <p:spPr>
          <a:xfrm>
            <a:off x="34290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4617720" y="6409944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0" name="Text 107"/>
          <p:cNvSpPr/>
          <p:nvPr/>
        </p:nvSpPr>
        <p:spPr>
          <a:xfrm>
            <a:off x="48006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</p:txBody>
      </p:sp>
      <p:sp>
        <p:nvSpPr>
          <p:cNvPr id="111" name="Text 108"/>
          <p:cNvSpPr/>
          <p:nvPr/>
        </p:nvSpPr>
        <p:spPr>
          <a:xfrm>
            <a:off x="5943600" y="63825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Fechas según Cronograma Integrado CPF2 Rev2 (06-08-2026), sujetas a OC y freezing points.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96DE5-257A-6B8D-9B99-209D7EDC3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AFE36A-F548-B7B3-4958-CC3CCF199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77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2142</Words>
  <Application>Microsoft Office PowerPoint</Application>
  <PresentationFormat>Panorámica</PresentationFormat>
  <Paragraphs>330</Paragraphs>
  <Slides>12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Helvetica Neue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YPF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STIRPARO, DARIO FERNANDO</dc:creator>
  <cp:lastModifiedBy>STIRPARO, DARIO FERNANDO</cp:lastModifiedBy>
  <cp:revision>1</cp:revision>
  <dcterms:created xsi:type="dcterms:W3CDTF">2026-08-25T17:37:32Z</dcterms:created>
  <dcterms:modified xsi:type="dcterms:W3CDTF">2026-08-25T18:59:43Z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17e3c3-fc9a-4883-86f6-7d1a57bdaad3_Enabled">
    <vt:lpwstr>true</vt:lpwstr>
  </property>
  <property fmtid="{D5CDD505-2E9C-101B-9397-08002B2CF9AE}" pid="3" name="MSIP_Label_6d17e3c3-fc9a-4883-86f6-7d1a57bdaad3_SetDate">
    <vt:lpwstr>2026-08-25T18:59:12Z</vt:lpwstr>
  </property>
  <property fmtid="{D5CDD505-2E9C-101B-9397-08002B2CF9AE}" pid="4" name="MSIP_Label_6d17e3c3-fc9a-4883-86f6-7d1a57bdaad3_Method">
    <vt:lpwstr>Privileged</vt:lpwstr>
  </property>
  <property fmtid="{D5CDD505-2E9C-101B-9397-08002B2CF9AE}" pid="5" name="MSIP_Label_6d17e3c3-fc9a-4883-86f6-7d1a57bdaad3_Name">
    <vt:lpwstr>AESA - Pública</vt:lpwstr>
  </property>
  <property fmtid="{D5CDD505-2E9C-101B-9397-08002B2CF9AE}" pid="6" name="MSIP_Label_6d17e3c3-fc9a-4883-86f6-7d1a57bdaad3_SiteId">
    <vt:lpwstr>038018c3-616c-4b46-ad9b-aa9007f701b5</vt:lpwstr>
  </property>
  <property fmtid="{D5CDD505-2E9C-101B-9397-08002B2CF9AE}" pid="7" name="MSIP_Label_6d17e3c3-fc9a-4883-86f6-7d1a57bdaad3_ActionId">
    <vt:lpwstr>20dfb385-63a1-4541-a387-5905c15aa682</vt:lpwstr>
  </property>
  <property fmtid="{D5CDD505-2E9C-101B-9397-08002B2CF9AE}" pid="8" name="MSIP_Label_6d17e3c3-fc9a-4883-86f6-7d1a57bdaad3_ContentBits">
    <vt:lpwstr>3</vt:lpwstr>
  </property>
  <property fmtid="{D5CDD505-2E9C-101B-9397-08002B2CF9AE}" pid="9" name="MSIP_Label_6d17e3c3-fc9a-4883-86f6-7d1a57bdaad3_Tag">
    <vt:lpwstr>10, 0, 1, 1</vt:lpwstr>
  </property>
  <property fmtid="{D5CDD505-2E9C-101B-9397-08002B2CF9AE}" pid="10" name="ClassificationContentMarkingFooterLocations">
    <vt:lpwstr>Tema de Office:10</vt:lpwstr>
  </property>
  <property fmtid="{D5CDD505-2E9C-101B-9397-08002B2CF9AE}" pid="11" name="ClassificationContentMarkingFooterText">
    <vt:lpwstr>AESA - Pública</vt:lpwstr>
  </property>
  <property fmtid="{D5CDD505-2E9C-101B-9397-08002B2CF9AE}" pid="12" name="ClassificationContentMarkingHeaderLocations">
    <vt:lpwstr>Tema de Office:9</vt:lpwstr>
  </property>
  <property fmtid="{D5CDD505-2E9C-101B-9397-08002B2CF9AE}" pid="13" name="ClassificationContentMarkingHeaderText">
    <vt:lpwstr>AESA - Pública</vt:lpwstr>
  </property>
</Properties>
</file>