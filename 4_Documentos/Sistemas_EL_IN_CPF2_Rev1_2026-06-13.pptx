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00" d="100"/>
          <a:sy n="300" d="100"/>
        </p:scale>
        <p:origin x="-6732" y="-3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IRPARO, DARIO FERNANDO" userId="a2fca38f-528d-4d8c-8de0-0ab98c4e5e45" providerId="ADAL" clId="{B2BBB3D7-9276-4714-8D4B-6E57D3D06075}"/>
    <pc:docChg chg="mod modSld modMainMaster">
      <pc:chgData name="STIRPARO, DARIO FERNANDO" userId="a2fca38f-528d-4d8c-8de0-0ab98c4e5e45" providerId="ADAL" clId="{B2BBB3D7-9276-4714-8D4B-6E57D3D06075}" dt="2026-06-16T14:18:52.603" v="2" actId="1076"/>
      <pc:docMkLst>
        <pc:docMk/>
      </pc:docMkLst>
      <pc:sldChg chg="modSp mod">
        <pc:chgData name="STIRPARO, DARIO FERNANDO" userId="a2fca38f-528d-4d8c-8de0-0ab98c4e5e45" providerId="ADAL" clId="{B2BBB3D7-9276-4714-8D4B-6E57D3D06075}" dt="2026-06-16T14:18:52.603" v="2" actId="1076"/>
        <pc:sldMkLst>
          <pc:docMk/>
          <pc:sldMk cId="0" sldId="264"/>
        </pc:sldMkLst>
        <pc:picChg chg="mod">
          <ac:chgData name="STIRPARO, DARIO FERNANDO" userId="a2fca38f-528d-4d8c-8de0-0ab98c4e5e45" providerId="ADAL" clId="{B2BBB3D7-9276-4714-8D4B-6E57D3D06075}" dt="2026-06-16T14:18:52.603" v="2" actId="1076"/>
          <ac:picMkLst>
            <pc:docMk/>
            <pc:sldMk cId="0" sldId="264"/>
            <ac:picMk id="7" creationId="{00000000-0000-0000-0000-000000000000}"/>
          </ac:picMkLst>
        </pc:picChg>
      </pc:sldChg>
      <pc:sldMasterChg chg="addSp mod">
        <pc:chgData name="STIRPARO, DARIO FERNANDO" userId="a2fca38f-528d-4d8c-8de0-0ab98c4e5e45" providerId="ADAL" clId="{B2BBB3D7-9276-4714-8D4B-6E57D3D06075}" dt="2026-06-16T12:13:49.379" v="0" actId="33475"/>
        <pc:sldMasterMkLst>
          <pc:docMk/>
          <pc:sldMasterMk cId="2209977519" sldId="2147483648"/>
        </pc:sldMasterMkLst>
        <pc:spChg chg="add">
          <ac:chgData name="STIRPARO, DARIO FERNANDO" userId="a2fca38f-528d-4d8c-8de0-0ab98c4e5e45" providerId="ADAL" clId="{B2BBB3D7-9276-4714-8D4B-6E57D3D06075}" dt="2026-06-16T12:13:49.379" v="0" actId="33475"/>
          <ac:spMkLst>
            <pc:docMk/>
            <pc:sldMasterMk cId="2209977519" sldId="2147483648"/>
            <ac:spMk id="9" creationId="{252F2963-3850-335C-2EAA-E7981B6A893A}"/>
          </ac:spMkLst>
        </pc:spChg>
        <pc:spChg chg="add">
          <ac:chgData name="STIRPARO, DARIO FERNANDO" userId="a2fca38f-528d-4d8c-8de0-0ab98c4e5e45" providerId="ADAL" clId="{B2BBB3D7-9276-4714-8D4B-6E57D3D06075}" dt="2026-06-16T12:13:49.379" v="0" actId="33475"/>
          <ac:spMkLst>
            <pc:docMk/>
            <pc:sldMasterMk cId="2209977519" sldId="2147483648"/>
            <ac:spMk id="10" creationId="{2D75552F-74CA-0BAA-2753-DB1092F08216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2F2963-3850-335C-2EAA-E7981B6A89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02988" y="1905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D75552F-74CA-0BAA-2753-DB1092F0821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2988" y="65151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400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600" b="1">
                <a:solidFill>
                  <a:srgbClr val="9DB8D8"/>
                </a:solidFill>
                <a:latin typeface="Calibri"/>
              </a:rPr>
              <a:t>CPF2 LA CALERA II · VACA MUERTA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463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Sistemas de Electricidad e Instrumentación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Alcance por 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500" b="0">
                <a:solidFill>
                  <a:srgbClr val="DCE6F2"/>
                </a:solidFill>
                <a:latin typeface="Calibri"/>
              </a:rPr>
              <a:t>Arquitectura · fechas hito · fechas CRÍTICAS de cumplimiento · flujo de provisiones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500" b="1">
                <a:solidFill>
                  <a:srgbClr val="BF9000"/>
                </a:solidFill>
                <a:latin typeface="Calibri"/>
              </a:rPr>
              <a:t>Objetivo: cumplir RFSU 20-DIC-2027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0">
                <a:solidFill>
                  <a:srgbClr val="9DB8D8"/>
                </a:solidFill>
                <a:latin typeface="Calibri"/>
              </a:rPr>
              <a:t>Rev. 1 · 2026-06-13 · Para revisión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Mapa de sistemas y proveedores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78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0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Provee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Hito clave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Power Management System — gestión de energía, deslastre/DAG (800XA)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PMS 29-ENE-27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PCS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Control de procesos (DCS) + PCS remotas 7A/7B — Sala INS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PCS 19-FEB-27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Supervisión y adquisición de datos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Matriz C&amp;E 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ESD /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Parada de emergencia / sistema instrumentado de seguridad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 (HW) + 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SIS 23-FEB-27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F&amp;G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Fuego y gas — detectores AESA + hardware de sistema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AESA + 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Matriz C&amp;E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PSS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Sistema de seguridad/parada de procesos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Tablero marshalling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Hardware de ESD / F&amp;G / PSS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listo 23-DIC-26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Config / readecuación ESD·F&amp;G·PSS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Modificación de provisión y reconfiguración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PPSA [A DEFINIR]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completo al iFAT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Arquitectura de la ampliación (por sistema)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486400" cy="2926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530352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PCS — Rockwell (Inauco)</a:t>
            </a:r>
          </a:p>
        </p:txBody>
      </p:sp>
      <p:pic>
        <p:nvPicPr>
          <p:cNvPr id="9" name="Picture 8" descr="_a_p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06" y="1655064"/>
            <a:ext cx="2780547" cy="1965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325880"/>
            <a:ext cx="5486400" cy="292608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530352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SIS — HIMA</a:t>
            </a:r>
          </a:p>
        </p:txBody>
      </p:sp>
      <p:pic>
        <p:nvPicPr>
          <p:cNvPr id="12" name="Picture 11" descr="_a_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877" y="1655064"/>
            <a:ext cx="2543925" cy="1965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11480" y="3886200"/>
            <a:ext cx="5486400" cy="2926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904488"/>
            <a:ext cx="530352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PMS — ABB</a:t>
            </a:r>
          </a:p>
        </p:txBody>
      </p:sp>
      <p:pic>
        <p:nvPicPr>
          <p:cNvPr id="15" name="Picture 14" descr="_a_p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626" y="4215384"/>
            <a:ext cx="2780107" cy="19659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63640" y="3886200"/>
            <a:ext cx="5486400" cy="29260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904488"/>
            <a:ext cx="530352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Comunicaciones OT</a:t>
            </a:r>
          </a:p>
        </p:txBody>
      </p:sp>
      <p:pic>
        <p:nvPicPr>
          <p:cNvPr id="18" name="Picture 17" descr="_a_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680" y="4215384"/>
            <a:ext cx="2364319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6327648"/>
            <a:ext cx="113385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Fuente: CPF2_Arquitectura_Ampliacion_Rev3. PCS↔PMS por Modbus TCP/IP; SIS HIMA integrado; comunicaciones OT segregadas.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PMS — Power Management System (ABB)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2651760" cy="53035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PMS-001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2651760" cy="5486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SE#3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517904"/>
            <a:ext cx="2651760" cy="53035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PMS-101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48256"/>
            <a:ext cx="2651760" cy="5486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SE#4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517904"/>
            <a:ext cx="2651760" cy="53035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800XA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048256"/>
            <a:ext cx="2651760" cy="5486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plataforma ABB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40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517904"/>
            <a:ext cx="2651760" cy="53035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048256"/>
            <a:ext cx="2651760" cy="5486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4508945953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7180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• Gestión de energía: deslastre de cargas, DAG, control y monitoreo de SS.EE.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Comunicaciones IEC 61850 / PROFINET / MODBUS TCP-IP (interfaz con PCS).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Ampliación de la red de control PMS SE#3 ↔ SE#4 (fibra óptica).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FAT Maqueta temprana solicitada por el CLIENTE (mitigación de riesgo).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0" y="2971800"/>
          <a:ext cx="448055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PMS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KOM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Maqueta (cliente)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22-25-SEP-26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FAT PMS (tableros+sistema)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29-ENE-27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Integral Shelter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31-MAR-27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Entrega a sitio (con salas)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SAT PMS en sitio (HOLD POINT)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PCS · SCADA · SIS — Inauco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PCS — Sistema de Control de Procesos (DCS) en la Sala INS (Sala 7).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PCS remotas 7A + 7B (tableros).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SCADA — supervisión, adquisición y visualización.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SIS — sistema instrumentado de seguridad (hardware HIMA integrado).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Comunicaciones: integración PCS ↔ PMS (Modbus TCP/IP).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F9000"/>
                </a:solidFill>
                <a:latin typeface="Calibri"/>
              </a:rPr>
              <a:t>• OC pendiente: el planning se ancla en arranque JUL-2026.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Alcance Inauco hasta la ENTREGA; trabajos de campo (SAT/comisionado) los ejecuta AESA.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371600"/>
          <a:ext cx="4480559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9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Inauco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INICIO (OC + Ing. Rev0 + HW)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01-JUL-26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Recepción HW (HIMA + HW)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21-AGO-26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FAT PCS + Comunicaciones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27-ENE→19-FEB-27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FAT SIS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27-ENE→23-FEB-27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Integración PCS↔PMS (Bs.As.)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24-FEB→02-MAR-27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Config post-FAT + entrega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FEB→MAR-27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ESD · F&amp;G · PSS — HIMA (hardware) + PPSA (config)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532120" cy="41148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949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HIMA — Tablero marshalling (hardware)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7030A0"/>
                </a:solidFill>
                <a:latin typeface="Calibri"/>
              </a:rPr>
              <a:t>• Provee el hardware de ESD, F&amp;G y PSS (tablero marshalling).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Lead de provisión: 25 semanas desde julio-2026.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Listo ~23-DIC-2026 → disponible para FAT SIS e iFAT.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Se integra con el SIS de Inauco.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32120" cy="4114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353312"/>
            <a:ext cx="53949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PPSA — Config / readecuación  [A DEFINIR]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• Modificación de la provisión y reconfiguración de ESD, F&amp;G y PSS.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C00000"/>
                </a:solidFill>
                <a:latin typeface="Calibri"/>
              </a:rPr>
              <a:t>• Alcance y fechas A DEFINIR.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Arranca AGO-2026.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Debe confluir y estar COMPLETO (FAT incluido) al momento del iFAT (25-JUN-27).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11338560" cy="10972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ESD/F&amp;G/PSS combina hardware HIMA (marshalling) + integración SIS (Inauco) + detectores F&amp;G (AESA) + configuración/readecuación (PPSA). Todos deben estar operativos para el iFAT.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Fechas hito clave  (críticas resaltadas)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84279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KOM 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INICIO Inauco (OC pendiente)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01-JUL-26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Tablero marshalling HIMA listo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23-DIC-26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FAT PMS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29-ENE-27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PCS / FAT SIS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19-FEB / 23-FEB-27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Integración PCS↔PMS (Bs.As.)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24-FEB→02-MAR-27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ABB + Inauco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Integral 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31-MAR-27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Entrega salas SE#4 / SE#3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FAT ESD/F&amp;G/PSS completo (PPSA)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24-JUN-27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PPSA [A DEFINIR]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★ iFAT (confluencia total + PCS↔PMS en sitio)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25-JUN→14-JUL-27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SAT PMS en sitio (HOLD POINT)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★★★ RFSU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20-DIC-27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Fechas CRÍTICAS de cumplimiento → RFSU DIC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576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80744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OC Inauco (arranque)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65376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JUL-2026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157984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Sin OC no arranca; arrastra todo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325880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06824" y="1380744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FAT PMS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865376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29-ENE-2027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57984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Habilita integración con PCS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25880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9016" y="1380744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FAT PCS / FAT 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6" y="1865376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FEB-2027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2157984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Habilitan integración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615184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670048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Integración PCS↔PMS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154680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02-MAR-2027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47288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Convergencia en fábrica (Bs.As.)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3672" y="2615184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06824" y="2670048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Entrega SE#3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3154680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14-MAY-2027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447288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Ruta crítica · ancla de campo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15184"/>
            <a:ext cx="36576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6" y="2670048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ESD/F&amp;G/PSS completo (PPSA)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9016" y="3154680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al iFAT · A DEFINIR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3447288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Riesgo: alcance/fechas sin definir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904488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959352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★ iFAT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443984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14-JUL-2027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736592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Confluencia total · debe pasar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3904488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6824" y="3959352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SAT PMS (HOLD POINT)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4443984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OCT-DIC-2027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4736592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Ventana fija · NO admite deslizamiento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5864" y="3904488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29016" y="3959352"/>
            <a:ext cx="3511296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Comisionado → RFSU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9016" y="4443984"/>
            <a:ext cx="3511296" cy="310896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19→20-DIC-2027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9016" y="4736592"/>
            <a:ext cx="3511296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Cierre del objetivo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989320"/>
            <a:ext cx="11247120" cy="4114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200" b="1">
                <a:solidFill>
                  <a:srgbClr val="BF9000"/>
                </a:solidFill>
                <a:latin typeface="Calibri"/>
              </a:rPr>
              <a:t>PRUEBAS Y ACEPTACIÓN DE EQUIPOS (FAT · iFAT): deben incluir equipos de PRECOMISIONADO para asegurar la liberación y entrega.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Planning · Diagrama de flujo de provisiones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pic>
        <p:nvPicPr>
          <p:cNvPr id="7" name="Picture 6" descr="_t_Flujo_Provisiones_CPF2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056" y="1327785"/>
            <a:ext cx="685408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Calibri"/>
              </a:rPr>
              <a:t>Carriles por proveedor (ABB·Inauco·HIMA·PPSA·AESA): cuándo ocurre cada actividad y dónde confluyen → iFAT → RFSU.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Planning · Hitos importantes (Gantt PMS + Inauco)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pic>
        <p:nvPicPr>
          <p:cNvPr id="7" name="Picture 6" descr="_t_Planning_PMS_Inauco_CPF2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806" y="1280160"/>
            <a:ext cx="685408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Calibri"/>
              </a:rPr>
              <a:t>Gantt integrado de provisiones con FATs, integración, iFAT y convergencia a comisionado. Detalle en Planning_PMS_Inauco_CPF2.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1289</Words>
  <Application>Microsoft Office PowerPoint</Application>
  <PresentationFormat>Panorámica</PresentationFormat>
  <Paragraphs>221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STIRPARO, DARIO FERNANDO</cp:lastModifiedBy>
  <cp:revision>1</cp:revision>
  <dcterms:created xsi:type="dcterms:W3CDTF">2013-01-27T09:14:16Z</dcterms:created>
  <dcterms:modified xsi:type="dcterms:W3CDTF">2026-06-16T14:19:03Z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17e3c3-fc9a-4883-86f6-7d1a57bdaad3_Enabled">
    <vt:lpwstr>true</vt:lpwstr>
  </property>
  <property fmtid="{D5CDD505-2E9C-101B-9397-08002B2CF9AE}" pid="3" name="MSIP_Label_6d17e3c3-fc9a-4883-86f6-7d1a57bdaad3_SetDate">
    <vt:lpwstr>2026-06-16T12:13:49Z</vt:lpwstr>
  </property>
  <property fmtid="{D5CDD505-2E9C-101B-9397-08002B2CF9AE}" pid="4" name="MSIP_Label_6d17e3c3-fc9a-4883-86f6-7d1a57bdaad3_Method">
    <vt:lpwstr>Privileged</vt:lpwstr>
  </property>
  <property fmtid="{D5CDD505-2E9C-101B-9397-08002B2CF9AE}" pid="5" name="MSIP_Label_6d17e3c3-fc9a-4883-86f6-7d1a57bdaad3_Name">
    <vt:lpwstr>AESA - Pública</vt:lpwstr>
  </property>
  <property fmtid="{D5CDD505-2E9C-101B-9397-08002B2CF9AE}" pid="6" name="MSIP_Label_6d17e3c3-fc9a-4883-86f6-7d1a57bdaad3_SiteId">
    <vt:lpwstr>038018c3-616c-4b46-ad9b-aa9007f701b5</vt:lpwstr>
  </property>
  <property fmtid="{D5CDD505-2E9C-101B-9397-08002B2CF9AE}" pid="7" name="MSIP_Label_6d17e3c3-fc9a-4883-86f6-7d1a57bdaad3_ActionId">
    <vt:lpwstr>192ad612-3769-40a2-8b9d-a128cd3799fd</vt:lpwstr>
  </property>
  <property fmtid="{D5CDD505-2E9C-101B-9397-08002B2CF9AE}" pid="8" name="MSIP_Label_6d17e3c3-fc9a-4883-86f6-7d1a57bdaad3_ContentBits">
    <vt:lpwstr>3</vt:lpwstr>
  </property>
  <property fmtid="{D5CDD505-2E9C-101B-9397-08002B2CF9AE}" pid="9" name="MSIP_Label_6d17e3c3-fc9a-4883-86f6-7d1a57bdaad3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AESA - Pública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AESA - Pública</vt:lpwstr>
  </property>
</Properties>
</file>