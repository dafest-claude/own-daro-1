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IRPARO, DARIO FERNANDO" userId="a2fca38f-528d-4d8c-8de0-0ab98c4e5e45" providerId="ADAL" clId="{B2BBB3D7-9276-4714-8D4B-6E57D3D06075}"/>
    <pc:docChg chg="mod modMainMaster">
      <pc:chgData name="STIRPARO, DARIO FERNANDO" userId="a2fca38f-528d-4d8c-8de0-0ab98c4e5e45" providerId="ADAL" clId="{B2BBB3D7-9276-4714-8D4B-6E57D3D06075}" dt="2026-05-29T12:55:52.100" v="1" actId="33475"/>
      <pc:docMkLst>
        <pc:docMk/>
      </pc:docMkLst>
      <pc:sldMasterChg chg="addSp mod">
        <pc:chgData name="STIRPARO, DARIO FERNANDO" userId="a2fca38f-528d-4d8c-8de0-0ab98c4e5e45" providerId="ADAL" clId="{B2BBB3D7-9276-4714-8D4B-6E57D3D06075}" dt="2026-05-29T12:55:52.091" v="0" actId="33475"/>
        <pc:sldMasterMkLst>
          <pc:docMk/>
          <pc:sldMasterMk cId="2209977519" sldId="2147483648"/>
        </pc:sldMasterMkLst>
        <pc:spChg chg="add">
          <ac:chgData name="STIRPARO, DARIO FERNANDO" userId="a2fca38f-528d-4d8c-8de0-0ab98c4e5e45" providerId="ADAL" clId="{B2BBB3D7-9276-4714-8D4B-6E57D3D06075}" dt="2026-05-29T12:55:52.091" v="0" actId="33475"/>
          <ac:spMkLst>
            <pc:docMk/>
            <pc:sldMasterMk cId="2209977519" sldId="2147483648"/>
            <ac:spMk id="9" creationId="{D94BD1DA-896D-73B7-5299-1381B026B7A2}"/>
          </ac:spMkLst>
        </pc:spChg>
        <pc:spChg chg="add">
          <ac:chgData name="STIRPARO, DARIO FERNANDO" userId="a2fca38f-528d-4d8c-8de0-0ab98c4e5e45" providerId="ADAL" clId="{B2BBB3D7-9276-4714-8D4B-6E57D3D06075}" dt="2026-05-29T12:55:52.091" v="0" actId="33475"/>
          <ac:spMkLst>
            <pc:docMk/>
            <pc:sldMasterMk cId="2209977519" sldId="2147483648"/>
            <ac:spMk id="10" creationId="{EE0F5C9B-8206-D7F0-9E61-2A30C0CE12E8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94BD1DA-896D-73B7-5299-1381B026B7A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02988" y="1905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0F5C9B-8206-D7F0-9E61-2A30C0CE12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2988" y="65151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2011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>
                <a:solidFill>
                  <a:srgbClr val="6E7684"/>
                </a:solidFill>
                <a:latin typeface="Calibri"/>
              </a:rPr>
              <a:t>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2000" b="1">
                <a:solidFill>
                  <a:srgbClr val="123A5E"/>
                </a:solidFill>
                <a:latin typeface="Calibri"/>
              </a:rPr>
              <a:t>ID 129-008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14400"/>
            <a:ext cx="2743200" cy="822960"/>
          </a:xfrm>
          <a:prstGeom prst="rect">
            <a:avLst/>
          </a:prstGeom>
          <a:solidFill>
            <a:srgbClr val="123A5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960120"/>
            <a:ext cx="274320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1">
                <a:solidFill>
                  <a:srgbClr val="E8EFF7"/>
                </a:solidFill>
                <a:latin typeface="Calibri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234440"/>
            <a:ext cx="274320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Pluspetrol — AESA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CPF 2 — LA CALERA · 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Ampliación de Arquitectura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 Control, Seguridad y PMS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6984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800" b="0">
                <a:solidFill>
                  <a:srgbClr val="E8EFF7"/>
                </a:solidFill>
                <a:latin typeface="Calibri"/>
              </a:rPr>
              <a:t>Rockwell PCS  ·  HIMA SIS  ·  ABB PMS  ·  Comunicaciones 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YACIMIENTO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34747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 Calera · Vaca Muerta · Neuquén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120640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OFERTA DE REFERENCIA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376672"/>
            <a:ext cx="34747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20640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FECHA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376672"/>
            <a:ext cx="34747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23 / 05 /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19088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Presentación técnica de arquitectura de ampliación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5544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1000" b="1">
                <a:solidFill>
                  <a:srgbClr val="E8EFF7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2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Objetivo y alcance de la presentación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Sistemas cubiertos y código visual utilizado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56692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ALCANCE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63040"/>
            <a:ext cx="5669280" cy="1371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Presentar la arquitectura actual del yacimiento y la ampliación requerida sobre los sistemas instalados y operativos.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Foco en puntos de integración, redes, y elementos que se incorporan (controladores, remotas, gabinetes y comunicaciones).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6692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SISTEMAS CUBIERTOS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6400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1188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630168"/>
            <a:ext cx="493776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de Control de Procesos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58768"/>
            <a:ext cx="4937760" cy="2194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Rockwell ControlLogix 1756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6400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11480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133088"/>
            <a:ext cx="493776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Instrumentado de 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361688"/>
            <a:ext cx="4937760" cy="2194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HIMA Planar4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6400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61772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4636008"/>
            <a:ext cx="493776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Power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864608"/>
            <a:ext cx="4937760" cy="2194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ABB 800xA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184648"/>
            <a:ext cx="6400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5138928"/>
            <a:ext cx="493776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Comunicaciones 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67528"/>
            <a:ext cx="4937760" cy="2194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Ethernet / FO · PRP · Modbus 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1051560"/>
            <a:ext cx="502920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CÓDIGO VISUAL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1371600"/>
            <a:ext cx="50292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75120" y="1645920"/>
            <a:ext cx="5029200" cy="1371600"/>
          </a:xfrm>
          <a:prstGeom prst="rect">
            <a:avLst/>
          </a:prstGeom>
          <a:solidFill>
            <a:srgbClr val="DCF1E2"/>
          </a:solidFill>
          <a:ln w="317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1783080"/>
            <a:ext cx="46634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2EA64B"/>
                </a:solidFill>
                <a:latin typeface="Calibri"/>
              </a:rPr>
              <a:t>INSTALADO / EXISTENTE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148840"/>
            <a:ext cx="4663440" cy="822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Calibri"/>
              </a:rPr>
              <a:t>Equipos y redes ya operativas en el yacimiento. Se mantienen sin modificación funcional; sirven de base para la integración.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200400"/>
            <a:ext cx="5029200" cy="2103120"/>
          </a:xfrm>
          <a:prstGeom prst="rect">
            <a:avLst/>
          </a:prstGeom>
          <a:solidFill>
            <a:srgbClr val="FAE3E3"/>
          </a:solidFill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3310128"/>
            <a:ext cx="46634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Calibri"/>
              </a:rPr>
              <a:t>AMPLIACIÓN CPF 2 FASE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657600"/>
            <a:ext cx="4663440" cy="777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Elementos NUEVOS a incorporar como parte del alcance Inauco: tableros, controladores, switches, cableado y configuración SCADA.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407408"/>
            <a:ext cx="46634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AMPLIACIÓN DEL SISTEMA DE SEGURIDAD HIMA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63440"/>
            <a:ext cx="466344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También se amplía HIMA a nivel de ESD, F&amp;G, PSS y USS — las tres redes principales de HIMA en CPF La Calera.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5440680"/>
            <a:ext cx="5029200" cy="86868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0" y="5504688"/>
            <a:ext cx="46634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DOCUMENTO BASE  ·  OFT-128-008 Rev 3 — TÉCNICA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852160"/>
            <a:ext cx="46634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Inauco · 23 / 05 / 2026 · Obra ID 129-008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Rockwell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ACAL-100-PL-K-100 Rev 11</a:t>
            </a:r>
          </a:p>
        </p:txBody>
      </p:sp>
      <p:pic>
        <p:nvPicPr>
          <p:cNvPr id="12" name="Picture 11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113027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8321040" cy="50292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9260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REFERENCIAS PCS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9260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40" y="1600200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6840" y="1600200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645920"/>
            <a:ext cx="269748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6 shelters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947672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distribuidas en planta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487168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2487168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1432" y="2532888"/>
            <a:ext cx="269748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ControlLogix 1756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834640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Chasis A13 redundantes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374136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3374136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1432" y="3419856"/>
            <a:ext cx="269748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Comm. EN2TP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721608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Ethernet/IP con PRP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261104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06840" y="4261104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1432" y="4306824"/>
            <a:ext cx="269748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Stratix 5200/5800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4608576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Backbone OT administrado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148072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5148072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71432" y="5193792"/>
            <a:ext cx="269748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Fibra Óptica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5495544"/>
            <a:ext cx="26974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Anillos redundantes entre shelters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Ampliación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Ampliación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Incorporación de controladores y gabinetes de E/S en CPF 2 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A LA RED DE CONTROL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2120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212080" cy="30175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5212080" cy="30175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Switches LAN-A / LAN-B redundantes  ·  Conexión a anillo PRP existente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ELEMENTOS NUEVOS — HARDWARE Y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521208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2 columnas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3736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1 columna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1752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7238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Stratix 5800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Switch redundante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5254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Red PRP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IEC 62439-3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960120"/>
            <a:ext cx="60807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DETALLE DE TABLEROS — SHELTER REMOTA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123444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5216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25312" y="1389888"/>
            <a:ext cx="2779776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7A  ·  NUEVA</a:t>
            </a:r>
          </a:p>
        </p:txBody>
      </p:sp>
      <p:pic>
        <p:nvPicPr>
          <p:cNvPr id="39" name="Picture 38" descr="slide5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2926080" cy="224028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85216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79992" y="1389888"/>
            <a:ext cx="2779776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7B  ·  NUEVA</a:t>
            </a:r>
          </a:p>
        </p:txBody>
      </p:sp>
      <p:pic>
        <p:nvPicPr>
          <p:cNvPr id="43" name="Picture 42" descr="slide5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691640"/>
            <a:ext cx="2926080" cy="224028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00684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52160" y="4069080"/>
            <a:ext cx="6080760" cy="1097280"/>
          </a:xfrm>
          <a:prstGeom prst="rect">
            <a:avLst/>
          </a:prstGeom>
          <a:solidFill>
            <a:srgbClr val="FAE3E3"/>
          </a:solidFill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52160" y="4069080"/>
            <a:ext cx="137160" cy="10972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80760" y="4123944"/>
            <a:ext cx="5760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▸  PUNTO CLAVE DE LA AMPLIACIÓN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379976"/>
            <a:ext cx="57607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Se adicionan DOS NUEVAS REMOTAS (7A y 7B) con sus gabinetes, switches y cableado. Los CONTROLADORES ControlLogix existentes en el Shelter 6 se reinstalarán en uno de los tableros de las nuevas remotas — posiblemente en la REMOTA 7B (a evaluar). Ambas se integran al anillo PRP existente vía los switches LAN-A / LAN-B.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5257800"/>
            <a:ext cx="6080760" cy="320040"/>
          </a:xfrm>
          <a:prstGeom prst="rect">
            <a:avLst/>
          </a:prstGeom>
          <a:solidFill>
            <a:srgbClr val="DCF1E2"/>
          </a:solidFill>
          <a:ln w="1270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852160" y="5257800"/>
            <a:ext cx="137160" cy="3200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0760" y="5303520"/>
            <a:ext cx="576072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●  CONTROLADORES EXISTENTES — se reubican desde Shelter 6 (a evaluar)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5669280"/>
            <a:ext cx="60807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HARDWARE NUEVO EN REMOTAS 7A Y 7B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594360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870448" y="6035040"/>
            <a:ext cx="73152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89320" y="6016752"/>
            <a:ext cx="21945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Chasis 1756-A13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6016752"/>
            <a:ext cx="3749039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EN2TP + MVI56E-MNETCR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0448" y="6236208"/>
            <a:ext cx="73152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89320" y="6217920"/>
            <a:ext cx="21945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Módulos HART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6217920"/>
            <a:ext cx="3749039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IF16H / OF8H · IB32 / OB32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Inventario de señales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Señales a incorporar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Listado de I/O — referencia OFT-128-008 Rev 3 y ACAL-00102-LS-K-0001</a:t>
            </a:r>
          </a:p>
        </p:txBody>
      </p:sp>
      <p:pic>
        <p:nvPicPr>
          <p:cNvPr id="12" name="Picture 11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591161" cy="5074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51560"/>
            <a:ext cx="7040880" cy="50749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1051560"/>
            <a:ext cx="420624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RESUMEN CUANTITATIVO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371600"/>
            <a:ext cx="4206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26679" y="160020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1600200"/>
            <a:ext cx="109728" cy="98755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1655064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PCS-007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8"/>
            <a:ext cx="39319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>
                <a:solidFill>
                  <a:srgbClr val="123A5E"/>
                </a:solidFill>
                <a:latin typeface="Calibri"/>
              </a:rPr>
              <a:t>330 señales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76856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PCS nuevas Remota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69748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269748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2752344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PSS-007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90088"/>
            <a:ext cx="39319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644 señales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74136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Seguridad HIMA Remota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79476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26679" y="379476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3849624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ESD-007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087368"/>
            <a:ext cx="39319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243 señales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71416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Shutdown remota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89204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26679" y="4892040"/>
            <a:ext cx="109728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79" y="4946904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Equipos paquete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84648"/>
            <a:ext cx="39319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≈ 500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568696"/>
            <a:ext cx="39319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10 skids · 50 vars c/u (Modbus)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SIS — HIMA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SIS HIMA — Ampliación sobre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ACAL-100-PL-K-551 Rev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68580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ARQUITECTURA SIS HIMA — VISTA GENERAL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68580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4023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6858000" cy="402336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60320" y="2651760"/>
            <a:ext cx="2377440" cy="1645920"/>
          </a:xfrm>
          <a:prstGeom prst="rect">
            <a:avLst/>
          </a:prstGeom>
          <a:noFill/>
          <a:ln w="381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0" y="2359152"/>
            <a:ext cx="2377440" cy="27432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33472" y="2377440"/>
            <a:ext cx="228600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▸  ZONA DE AMPLIACIÓN — SHELTER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685800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AMPLIACIÓN SHELTER 7 (HIMA):  se instalan los TABLEROS DE I/O para ESD/F&amp;G y PSS, conectados a las redes de los controladores HIMA correspondientes. La plataforma HIMA Planar4 actual se mantiene sin cambios.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960120"/>
            <a:ext cx="44348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REDES AFECTADAS POR LA AMPLIACIÓN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34440"/>
            <a:ext cx="443484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41732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19" y="1453896"/>
            <a:ext cx="425196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Redes HIMA — ESD / F&amp;G / PSS / USS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74650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79" y="174650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62671" y="1783080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controladores HIMA Planar4 (sin cambios)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4028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98079" y="224028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1" y="2276856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Nuevo: tableros I/O ESD/F&amp;G + I/O PSS en Shelter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88036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19" y="2916936"/>
            <a:ext cx="425196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Red OPC ↔ SCADA 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20954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98079" y="320954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62671" y="3246120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vínculo OPC con plataforma HIMA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70332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98079" y="370332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62671" y="3739896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Nuevos tags Shelter 7 (ESD, F&amp;G, PSS, USS)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34340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19" y="4379976"/>
            <a:ext cx="425196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SCADA SIS — Pantallas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67258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98079" y="467258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62671" y="4709160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pantallas operativas CPF 1 / 1.5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516636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98079" y="516636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62671" y="5202936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Nuevas pantallas ESD/F&amp;G/PSS Shelter 7, matriz C&amp;E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5669280"/>
            <a:ext cx="4434840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19" y="5715000"/>
            <a:ext cx="42519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1">
                <a:solidFill>
                  <a:srgbClr val="2E75B6"/>
                </a:solidFill>
                <a:latin typeface="Calibri"/>
              </a:rPr>
              <a:t>TABLEROS NUEVOS EN SHELTER 7 (HIMA)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5897880"/>
            <a:ext cx="42519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I/O ESD/F&amp;G  ·  I/O PSS  (entrega 01/07/2026)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PMS — 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PMS ABB — Existente vs.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Arquitectura SCADA ELE / PMS — Anexo III Expansión CPF2-F4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56235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100" b="1">
                <a:solidFill>
                  <a:srgbClr val="2EA64B"/>
                </a:solidFill>
                <a:latin typeface="Calibri"/>
              </a:rPr>
              <a:t>ARQUITECTURA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80160"/>
            <a:ext cx="5623560" cy="36576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1005840"/>
            <a:ext cx="56235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100" b="1">
                <a:solidFill>
                  <a:srgbClr val="C81E1E"/>
                </a:solidFill>
                <a:latin typeface="Calibri"/>
              </a:rPr>
              <a:t>AMPLIACIÓN CPF 2 — SE3 + SE4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280160"/>
            <a:ext cx="562356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23560" cy="39767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1417320"/>
            <a:ext cx="5623560" cy="4206240"/>
          </a:xfrm>
          <a:prstGeom prst="rect">
            <a:avLst/>
          </a:prstGeom>
          <a:noFill/>
          <a:ln w="190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623560" cy="39767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99632" y="1417320"/>
            <a:ext cx="5623560" cy="4206240"/>
          </a:xfrm>
          <a:prstGeom prst="rect">
            <a:avLst/>
          </a:prstGeom>
          <a:noFill/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365992" cy="6858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11556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PCS ↔ PMS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Modbus TCP redundante  ·  Red IEC 61850 anillo redundante  ·  PROFINET CPF2 para UMC y variadores  ·  ModuleBus redundante  ·  Pruebas integración: 5 días en Bs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Comunicaciones 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Comunicaciones OT — Dispositivos a integrar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Diagrama en bloques: ACAL-00102-PL-O-0001 Rev A</a:t>
            </a:r>
          </a:p>
        </p:txBody>
      </p:sp>
      <p:pic>
        <p:nvPicPr>
          <p:cNvPr id="12" name="Picture 11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98418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097280"/>
            <a:ext cx="57607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DISPOSITIVOS A NIVEL CONTROLADOR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76072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Generación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Vínculo Modbus / nativo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164592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Aire — Nitrógeno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01168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65176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3 Compresores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01752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Comm. dedicada por unidad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99448" y="265176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Compresores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01752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365760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Horno de Hot Oil (EAP-94201B)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02336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9448" y="365760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Calentadores del KOD (SKZZ-93110)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02336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466344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Bombas FlowServe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02920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Protocolo nativo + FactoryTalk (opc.)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440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99448" y="466344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 ABB — 2 salas eléctricas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502920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760720"/>
            <a:ext cx="5760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81928" y="5815584"/>
            <a:ext cx="5541264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Infraestructura FO: patch panels 6/12/24 hilos · Switches ETH/FO · Cableado Cat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Criterios de integración y resumen de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Redundancia, elementos clave y documentación de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749039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CRITERIOS 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3749039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1591056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SIS HIMA ↔ SCADA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28800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OPC con HIMA Planar4 (ESD/F&amp;G/PSS/USS)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17627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2212848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Redes HIMA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450592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ModuleBus a controladores SIS (existentes)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98064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798064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2834640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SCADA–PMS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072384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Enlace directo punto a punto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419856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3456432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PMS–SCADA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694176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041648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078224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Red IEC 61850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315968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Anillo redundante para IEDs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66344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700016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PROFINET CPF2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937760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Redundante para UMCs y variadores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85232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28523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5321808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PCS PRP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559552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Parallel Redundancy Protocol IEC 62439-3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1051560"/>
            <a:ext cx="3749039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ELEMENTOS NUEVOS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371600"/>
            <a:ext cx="3749039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43400" y="155448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43400" y="155448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07992" y="1591056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1865376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7A y 7B (CPF2-PCS-SC-07a/b)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2267712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43400" y="2267712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07992" y="2304288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SIS HIMA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2578608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Shelter 7: I/O ESD/F&amp;G + I/O PSS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2980944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43400" y="2980944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07992" y="3017520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Comms 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07992" y="3291840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CPF-COM-07 / CPF-COM-SE3 / CPF-COM-SE4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3694176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43400" y="3694176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07992" y="3730752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992" y="4005072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Comms redundante + SE #3 y SE #4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4407408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43400" y="4407408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07992" y="4443984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992" y="4718304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integral en planta Inauco (Neuquén)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43400" y="512064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343400" y="512064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07992" y="5157216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07992" y="5431536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SIS con apoyo HIMA (simulación)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DOCUMENTOS DE REFERENCIA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1371600"/>
            <a:ext cx="3657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229600" y="155448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66760" y="1591056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ACAL-100-PL-K-100 Rev 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1865376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PCS (Rockwell)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2267712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66760" y="2304288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ACAL-100-PL-K-551 Rev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6760" y="2578608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SIS (HIMA)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2980944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66760" y="3017520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ACAL-00102-PL-O-0001 Rev 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3291840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Comunicaciones OT — bloques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3694176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ACAL-00102-LS-K-0001-0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66760" y="4005072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Lista de señales (I/O)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4407408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66760" y="4443984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66760" y="4718304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Oferta técnica Inauco — alcance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512064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66760" y="5157216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Anexo III F4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66760" y="5431536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SCADA ELE/PMS ABB — integración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5989320"/>
            <a:ext cx="11365992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0">
                <a:solidFill>
                  <a:srgbClr val="E8EFF7"/>
                </a:solidFill>
                <a:latin typeface="Calibri"/>
              </a:rPr>
              <a:t>Presentación elaborada sobre base de documentación de Pluspetrol, AESA, Inauco, HIMA y ABB —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1273</Words>
  <Application>Microsoft Office PowerPoint</Application>
  <PresentationFormat>Panorámica</PresentationFormat>
  <Paragraphs>214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STIRPARO, DARIO FERNANDO</cp:lastModifiedBy>
  <cp:revision>1</cp:revision>
  <dcterms:created xsi:type="dcterms:W3CDTF">2013-01-27T09:14:16Z</dcterms:created>
  <dcterms:modified xsi:type="dcterms:W3CDTF">2026-05-29T12:55:52Z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17e3c3-fc9a-4883-86f6-7d1a57bdaad3_Enabled">
    <vt:lpwstr>true</vt:lpwstr>
  </property>
  <property fmtid="{D5CDD505-2E9C-101B-9397-08002B2CF9AE}" pid="3" name="MSIP_Label_6d17e3c3-fc9a-4883-86f6-7d1a57bdaad3_SetDate">
    <vt:lpwstr>2026-05-29T12:55:51Z</vt:lpwstr>
  </property>
  <property fmtid="{D5CDD505-2E9C-101B-9397-08002B2CF9AE}" pid="4" name="MSIP_Label_6d17e3c3-fc9a-4883-86f6-7d1a57bdaad3_Method">
    <vt:lpwstr>Privileged</vt:lpwstr>
  </property>
  <property fmtid="{D5CDD505-2E9C-101B-9397-08002B2CF9AE}" pid="5" name="MSIP_Label_6d17e3c3-fc9a-4883-86f6-7d1a57bdaad3_Name">
    <vt:lpwstr>AESA - Pública</vt:lpwstr>
  </property>
  <property fmtid="{D5CDD505-2E9C-101B-9397-08002B2CF9AE}" pid="6" name="MSIP_Label_6d17e3c3-fc9a-4883-86f6-7d1a57bdaad3_SiteId">
    <vt:lpwstr>038018c3-616c-4b46-ad9b-aa9007f701b5</vt:lpwstr>
  </property>
  <property fmtid="{D5CDD505-2E9C-101B-9397-08002B2CF9AE}" pid="7" name="MSIP_Label_6d17e3c3-fc9a-4883-86f6-7d1a57bdaad3_ActionId">
    <vt:lpwstr>88d47488-4386-4a20-85da-d8da2b3c857b</vt:lpwstr>
  </property>
  <property fmtid="{D5CDD505-2E9C-101B-9397-08002B2CF9AE}" pid="8" name="MSIP_Label_6d17e3c3-fc9a-4883-86f6-7d1a57bdaad3_ContentBits">
    <vt:lpwstr>3</vt:lpwstr>
  </property>
  <property fmtid="{D5CDD505-2E9C-101B-9397-08002B2CF9AE}" pid="9" name="MSIP_Label_6d17e3c3-fc9a-4883-86f6-7d1a57bdaad3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AESA - Pública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AESA - Pública</vt:lpwstr>
  </property>
</Properties>
</file>