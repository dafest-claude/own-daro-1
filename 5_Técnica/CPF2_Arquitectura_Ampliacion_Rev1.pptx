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37160"/>
            <a:ext cx="12191695" cy="45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309360"/>
            <a:ext cx="12191695" cy="4572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355080"/>
            <a:ext cx="12191695" cy="502920"/>
          </a:xfrm>
          <a:prstGeom prst="rect">
            <a:avLst/>
          </a:prstGeom>
          <a:solidFill>
            <a:srgbClr val="222A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914400"/>
            <a:ext cx="2011680" cy="8229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960120"/>
            <a:ext cx="2011680" cy="36576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ctr"/>
            <a:r>
              <a:rPr sz="1000" b="1">
                <a:solidFill>
                  <a:srgbClr val="6E7684"/>
                </a:solidFill>
                <a:latin typeface="Calibri"/>
              </a:rPr>
              <a:t>PROYECTO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280160"/>
            <a:ext cx="2011680" cy="45720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ctr"/>
            <a:r>
              <a:rPr sz="2000" b="1">
                <a:solidFill>
                  <a:srgbClr val="123A5E"/>
                </a:solidFill>
                <a:latin typeface="Calibri"/>
              </a:rPr>
              <a:t>ID 129-008</a:t>
            </a:r>
          </a:p>
        </p:txBody>
      </p:sp>
      <p:sp>
        <p:nvSpPr>
          <p:cNvPr id="10" name="Rectangle 9"/>
          <p:cNvSpPr/>
          <p:nvPr/>
        </p:nvSpPr>
        <p:spPr>
          <a:xfrm>
            <a:off x="8686800" y="914400"/>
            <a:ext cx="2743200" cy="822960"/>
          </a:xfrm>
          <a:prstGeom prst="rect">
            <a:avLst/>
          </a:prstGeom>
          <a:solidFill>
            <a:srgbClr val="123A5E"/>
          </a:solidFill>
          <a:ln w="19050"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0" y="960120"/>
            <a:ext cx="2743200" cy="32004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ctr"/>
            <a:r>
              <a:rPr sz="1000" b="1">
                <a:solidFill>
                  <a:srgbClr val="E8EFF7"/>
                </a:solidFill>
                <a:latin typeface="Calibri"/>
              </a:rPr>
              <a:t>CLIENTE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0" y="1234440"/>
            <a:ext cx="2743200" cy="50292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Pluspetrol — AESA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2286000"/>
            <a:ext cx="10698480" cy="45720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2000" b="1">
                <a:solidFill>
                  <a:srgbClr val="2E75B6"/>
                </a:solidFill>
                <a:latin typeface="Calibri"/>
              </a:rPr>
              <a:t>CPF 2 — LA CALERA · FASE 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2743200"/>
            <a:ext cx="10698480" cy="109728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4200" b="1">
                <a:solidFill>
                  <a:srgbClr val="FFFFFF"/>
                </a:solidFill>
                <a:latin typeface="Calibri"/>
              </a:rPr>
              <a:t>Ampliación de Arquitectura</a:t>
            </a:r>
          </a:p>
          <a:p>
            <a:pPr algn="l"/>
            <a:r>
              <a:rPr sz="4200" b="1">
                <a:solidFill>
                  <a:srgbClr val="FFFFFF"/>
                </a:solidFill>
                <a:latin typeface="Calibri"/>
              </a:rPr>
              <a:t>de Control, Seguridad y PMS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31520" y="4114800"/>
            <a:ext cx="2286000" cy="36576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4251960"/>
            <a:ext cx="10698480" cy="41148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800" b="0">
                <a:solidFill>
                  <a:srgbClr val="E8EFF7"/>
                </a:solidFill>
                <a:latin typeface="Calibri"/>
              </a:rPr>
              <a:t>Rockwell PCS  ·  HIMA SIS  ·  ABB PMS  ·  Comunicaciones OT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5120640"/>
            <a:ext cx="3474720" cy="27432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900" b="1">
                <a:solidFill>
                  <a:srgbClr val="2E75B6"/>
                </a:solidFill>
                <a:latin typeface="Calibri"/>
              </a:rPr>
              <a:t>YACIMIENTO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5376672"/>
            <a:ext cx="3474720" cy="36576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La Calera · Vaca Muerta · Neuquén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80559" y="5120640"/>
            <a:ext cx="3474720" cy="27432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900" b="1">
                <a:solidFill>
                  <a:srgbClr val="2E75B6"/>
                </a:solidFill>
                <a:latin typeface="Calibri"/>
              </a:rPr>
              <a:t>OFERTA DE REFERENCIA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80559" y="5376672"/>
            <a:ext cx="3474720" cy="36576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OFT-128-008 Rev 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0" y="5120640"/>
            <a:ext cx="3474720" cy="27432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900" b="1">
                <a:solidFill>
                  <a:srgbClr val="2E75B6"/>
                </a:solidFill>
                <a:latin typeface="Calibri"/>
              </a:rPr>
              <a:t>FECHA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0" y="5376672"/>
            <a:ext cx="3474720" cy="36576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23 / 05 / 2026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760" y="6419088"/>
            <a:ext cx="7315200" cy="32004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000" b="0">
                <a:solidFill>
                  <a:srgbClr val="E8EFF7"/>
                </a:solidFill>
                <a:latin typeface="Calibri"/>
              </a:rPr>
              <a:t>Presentación técnica de arquitectura de ampliación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362895" y="6419088"/>
            <a:ext cx="1554480" cy="32004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r"/>
            <a:r>
              <a:rPr sz="1000" b="1">
                <a:solidFill>
                  <a:srgbClr val="E8EFF7"/>
                </a:solidFill>
                <a:latin typeface="Calibri"/>
              </a:rPr>
              <a:t>1 / 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2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77240"/>
            <a:ext cx="12191695" cy="4572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E8EF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6583680"/>
            <a:ext cx="7315200" cy="22860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900" b="0">
                <a:solidFill>
                  <a:srgbClr val="6E7684"/>
                </a:solidFill>
                <a:latin typeface="Calibri"/>
              </a:rPr>
              <a:t>CPF2 La Calera Fase 2 — Ampliación de Arquitectura PCS / SIS / PMS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83680"/>
            <a:ext cx="3200400" cy="22860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r"/>
            <a:r>
              <a:rPr sz="900" b="1">
                <a:solidFill>
                  <a:srgbClr val="2E75B6"/>
                </a:solidFill>
                <a:latin typeface="Calibri"/>
              </a:rPr>
              <a:t>Introducción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94415" y="6583680"/>
            <a:ext cx="822960" cy="22860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r"/>
            <a:r>
              <a:rPr sz="900" b="1">
                <a:solidFill>
                  <a:srgbClr val="123A5E"/>
                </a:solidFill>
                <a:latin typeface="Calibri"/>
              </a:rPr>
              <a:t>2 / 9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91440"/>
            <a:ext cx="777240" cy="594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4320" y="91440"/>
            <a:ext cx="777240" cy="59436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2400" b="1">
                <a:solidFill>
                  <a:srgbClr val="123A5E"/>
                </a:solidFill>
                <a:latin typeface="Calibri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45720"/>
            <a:ext cx="10698480" cy="45720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</a:rPr>
              <a:t>Objetivo y alcance de la presentación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8720" y="457200"/>
            <a:ext cx="10698480" cy="27432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100" b="0">
                <a:solidFill>
                  <a:srgbClr val="E8EFF7"/>
                </a:solidFill>
                <a:latin typeface="Calibri"/>
              </a:rPr>
              <a:t>Sistemas cubiertos y código visual utilizado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1051560"/>
            <a:ext cx="5669280" cy="32004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100" b="1">
                <a:solidFill>
                  <a:srgbClr val="2E75B6"/>
                </a:solidFill>
                <a:latin typeface="Calibri"/>
              </a:rPr>
              <a:t>ALCANCE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1371600"/>
            <a:ext cx="5669280" cy="36576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1463040"/>
            <a:ext cx="5669280" cy="137160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300" b="0">
                <a:solidFill>
                  <a:srgbClr val="222A35"/>
                </a:solidFill>
                <a:latin typeface="Calibri"/>
              </a:rPr>
              <a:t>Presentar la arquitectura actual del yacimiento y la ampliación requerida sobre los sistemas instalados y operativos.</a:t>
            </a:r>
          </a:p>
          <a:p>
            <a:pPr algn="l"/>
            <a:r>
              <a:rPr sz="1300" b="0">
                <a:solidFill>
                  <a:srgbClr val="222A35"/>
                </a:solidFill>
                <a:latin typeface="Calibri"/>
              </a:rPr>
              <a:t>Foco en puntos de integración, redes, y elementos que se incorporan (controladores, remotas, gabinetes y comunicaciones).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3108960"/>
            <a:ext cx="5669280" cy="32004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100" b="1">
                <a:solidFill>
                  <a:srgbClr val="2E75B6"/>
                </a:solidFill>
                <a:latin typeface="Calibri"/>
              </a:rPr>
              <a:t>SISTEMAS CUBIERTOS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3429000"/>
            <a:ext cx="5669280" cy="36576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57200" y="3611880"/>
            <a:ext cx="640080" cy="438912"/>
          </a:xfrm>
          <a:prstGeom prst="rect">
            <a:avLst/>
          </a:prstGeom>
          <a:solidFill>
            <a:srgbClr val="12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" y="3675888"/>
            <a:ext cx="640080" cy="32004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PCS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097280" y="3611880"/>
            <a:ext cx="5029200" cy="438912"/>
          </a:xfrm>
          <a:prstGeom prst="rect">
            <a:avLst/>
          </a:prstGeom>
          <a:solidFill>
            <a:srgbClr val="E8EA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188720" y="3630168"/>
            <a:ext cx="4937760" cy="256032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150" b="1">
                <a:solidFill>
                  <a:srgbClr val="123A5E"/>
                </a:solidFill>
                <a:latin typeface="Calibri"/>
              </a:rPr>
              <a:t>Sistema de Control de Procesos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88720" y="3858768"/>
            <a:ext cx="4937760" cy="219456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000" b="0">
                <a:solidFill>
                  <a:srgbClr val="222A35"/>
                </a:solidFill>
                <a:latin typeface="Calibri"/>
              </a:rPr>
              <a:t>Rockwell ControlLogix 1756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4114800"/>
            <a:ext cx="640080" cy="438912"/>
          </a:xfrm>
          <a:prstGeom prst="rect">
            <a:avLst/>
          </a:prstGeom>
          <a:solidFill>
            <a:srgbClr val="12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7200" y="4178808"/>
            <a:ext cx="640080" cy="32004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SIS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097280" y="4114800"/>
            <a:ext cx="5029200" cy="438912"/>
          </a:xfrm>
          <a:prstGeom prst="rect">
            <a:avLst/>
          </a:prstGeom>
          <a:solidFill>
            <a:srgbClr val="E8EA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88720" y="4133088"/>
            <a:ext cx="4937760" cy="256032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150" b="1">
                <a:solidFill>
                  <a:srgbClr val="123A5E"/>
                </a:solidFill>
                <a:latin typeface="Calibri"/>
              </a:rPr>
              <a:t>Sistema Instrumentado de Seguridad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88720" y="4361688"/>
            <a:ext cx="4937760" cy="219456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000" b="0">
                <a:solidFill>
                  <a:srgbClr val="222A35"/>
                </a:solidFill>
                <a:latin typeface="Calibri"/>
              </a:rPr>
              <a:t>HIMA Planar4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7200" y="4617720"/>
            <a:ext cx="640080" cy="438912"/>
          </a:xfrm>
          <a:prstGeom prst="rect">
            <a:avLst/>
          </a:prstGeom>
          <a:solidFill>
            <a:srgbClr val="12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57200" y="4681728"/>
            <a:ext cx="640080" cy="32004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PMS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097280" y="4617720"/>
            <a:ext cx="5029200" cy="438912"/>
          </a:xfrm>
          <a:prstGeom prst="rect">
            <a:avLst/>
          </a:prstGeom>
          <a:solidFill>
            <a:srgbClr val="E8EA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188720" y="4636008"/>
            <a:ext cx="4937760" cy="256032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150" b="1">
                <a:solidFill>
                  <a:srgbClr val="123A5E"/>
                </a:solidFill>
                <a:latin typeface="Calibri"/>
              </a:rPr>
              <a:t>Power Management System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88720" y="4864608"/>
            <a:ext cx="4937760" cy="219456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000" b="0">
                <a:solidFill>
                  <a:srgbClr val="222A35"/>
                </a:solidFill>
                <a:latin typeface="Calibri"/>
              </a:rPr>
              <a:t>ABB 800xA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57200" y="5120640"/>
            <a:ext cx="640080" cy="438912"/>
          </a:xfrm>
          <a:prstGeom prst="rect">
            <a:avLst/>
          </a:prstGeom>
          <a:solidFill>
            <a:srgbClr val="12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57200" y="5184648"/>
            <a:ext cx="640080" cy="32004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OT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097280" y="5120640"/>
            <a:ext cx="5029200" cy="438912"/>
          </a:xfrm>
          <a:prstGeom prst="rect">
            <a:avLst/>
          </a:prstGeom>
          <a:solidFill>
            <a:srgbClr val="E8EA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188720" y="5138928"/>
            <a:ext cx="4937760" cy="256032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150" b="1">
                <a:solidFill>
                  <a:srgbClr val="123A5E"/>
                </a:solidFill>
                <a:latin typeface="Calibri"/>
              </a:rPr>
              <a:t>Comunicaciones OT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88720" y="5367528"/>
            <a:ext cx="4937760" cy="219456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000" b="0">
                <a:solidFill>
                  <a:srgbClr val="222A35"/>
                </a:solidFill>
                <a:latin typeface="Calibri"/>
              </a:rPr>
              <a:t>Ethernet / FO · PRP · Modbus TCP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675120" y="1051560"/>
            <a:ext cx="5029200" cy="32004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100" b="1">
                <a:solidFill>
                  <a:srgbClr val="2E75B6"/>
                </a:solidFill>
                <a:latin typeface="Calibri"/>
              </a:rPr>
              <a:t>CÓDIGO VISUAL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675120" y="1371600"/>
            <a:ext cx="5029200" cy="36576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6675120" y="1645920"/>
            <a:ext cx="5029200" cy="1371600"/>
          </a:xfrm>
          <a:prstGeom prst="rect">
            <a:avLst/>
          </a:prstGeom>
          <a:solidFill>
            <a:srgbClr val="DCF1E2"/>
          </a:solidFill>
          <a:ln w="31750">
            <a:solidFill>
              <a:srgbClr val="2EA6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858000" y="1783080"/>
            <a:ext cx="4663440" cy="36576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400" b="1">
                <a:solidFill>
                  <a:srgbClr val="2EA64B"/>
                </a:solidFill>
                <a:latin typeface="Calibri"/>
              </a:rPr>
              <a:t>INSTALADO / EXISTENTE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858000" y="2148840"/>
            <a:ext cx="4663440" cy="82296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100" b="0">
                <a:solidFill>
                  <a:srgbClr val="222A35"/>
                </a:solidFill>
                <a:latin typeface="Calibri"/>
              </a:rPr>
              <a:t>Equipos y redes ya operativas en el yacimiento. Se mantienen sin modificación funcional; sirven de base para la integración.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675120" y="3200400"/>
            <a:ext cx="5029200" cy="1371600"/>
          </a:xfrm>
          <a:prstGeom prst="rect">
            <a:avLst/>
          </a:prstGeom>
          <a:solidFill>
            <a:srgbClr val="FAE3E3"/>
          </a:solidFill>
          <a:ln w="31750">
            <a:solidFill>
              <a:srgbClr val="C81E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858000" y="3337560"/>
            <a:ext cx="4663440" cy="36576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400" b="1">
                <a:solidFill>
                  <a:srgbClr val="C81E1E"/>
                </a:solidFill>
                <a:latin typeface="Calibri"/>
              </a:rPr>
              <a:t>AMPLIACIÓN CPF 2 FASE 2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858000" y="3703320"/>
            <a:ext cx="4663440" cy="82296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100" b="0">
                <a:solidFill>
                  <a:srgbClr val="222A35"/>
                </a:solidFill>
                <a:latin typeface="Calibri"/>
              </a:rPr>
              <a:t>Elementos NUEVOS a incorporar como parte del alcance Inauco: tableros, controladores, switches, cableado y configuración SCADA.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675120" y="4800600"/>
            <a:ext cx="5029200" cy="1325880"/>
          </a:xfrm>
          <a:prstGeom prst="rect">
            <a:avLst/>
          </a:prstGeom>
          <a:solidFill>
            <a:srgbClr val="12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858000" y="4937760"/>
            <a:ext cx="4663440" cy="36576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000" b="1">
                <a:solidFill>
                  <a:srgbClr val="2E75B6"/>
                </a:solidFill>
                <a:latin typeface="Calibri"/>
              </a:rPr>
              <a:t>DOCUMENTO BASE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858000" y="5257800"/>
            <a:ext cx="4663440" cy="36576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OFT-128-008 Rev 3 — TÉCNICA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858000" y="5577840"/>
            <a:ext cx="4663440" cy="45720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000" b="0">
                <a:solidFill>
                  <a:srgbClr val="E8EFF7"/>
                </a:solidFill>
                <a:latin typeface="Calibri"/>
              </a:rPr>
              <a:t>Inauco · 23 / 05 / 2026</a:t>
            </a:r>
          </a:p>
          <a:p>
            <a:pPr algn="l"/>
            <a:r>
              <a:rPr sz="1000" b="0">
                <a:solidFill>
                  <a:srgbClr val="E8EFF7"/>
                </a:solidFill>
                <a:latin typeface="Calibri"/>
              </a:rPr>
              <a:t>Obra ID 129-008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2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77240"/>
            <a:ext cx="12191695" cy="4572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E8EF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6583680"/>
            <a:ext cx="7315200" cy="22860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900" b="0">
                <a:solidFill>
                  <a:srgbClr val="6E7684"/>
                </a:solidFill>
                <a:latin typeface="Calibri"/>
              </a:rPr>
              <a:t>CPF2 La Calera Fase 2 — Ampliación de Arquitectura PCS / SIS / PMS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83680"/>
            <a:ext cx="3200400" cy="22860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r"/>
            <a:r>
              <a:rPr sz="900" b="1">
                <a:solidFill>
                  <a:srgbClr val="2E75B6"/>
                </a:solidFill>
                <a:latin typeface="Calibri"/>
              </a:rPr>
              <a:t>Sistema PCS — Rockwell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94415" y="6583680"/>
            <a:ext cx="822960" cy="22860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r"/>
            <a:r>
              <a:rPr sz="900" b="1">
                <a:solidFill>
                  <a:srgbClr val="123A5E"/>
                </a:solidFill>
                <a:latin typeface="Calibri"/>
              </a:rPr>
              <a:t>3 / 9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91440"/>
            <a:ext cx="777240" cy="594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4320" y="91440"/>
            <a:ext cx="777240" cy="59436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2400" b="1">
                <a:solidFill>
                  <a:srgbClr val="123A5E"/>
                </a:solidFill>
                <a:latin typeface="Calibri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45720"/>
            <a:ext cx="10698480" cy="45720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</a:rPr>
              <a:t>PCS Rockwell — Arquitectura existente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8720" y="457200"/>
            <a:ext cx="10698480" cy="27432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100" b="0">
                <a:solidFill>
                  <a:srgbClr val="E8EFF7"/>
                </a:solidFill>
                <a:latin typeface="Calibri"/>
              </a:rPr>
              <a:t>Documento de referencia: ACAL-100-PL-K-100 Rev 11</a:t>
            </a:r>
          </a:p>
        </p:txBody>
      </p:sp>
      <p:pic>
        <p:nvPicPr>
          <p:cNvPr id="12" name="Picture 11" descr="slide3_img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97280"/>
            <a:ext cx="7113027" cy="5029200"/>
          </a:xfrm>
          <a:prstGeom prst="rect">
            <a:avLst/>
          </a:prstGeom>
        </p:spPr>
      </p:pic>
      <p:sp>
        <p:nvSpPr>
          <p:cNvPr id="13" name="Rectangle 12"/>
          <p:cNvSpPr/>
          <p:nvPr/>
        </p:nvSpPr>
        <p:spPr>
          <a:xfrm>
            <a:off x="457200" y="1097280"/>
            <a:ext cx="8321040" cy="5029200"/>
          </a:xfrm>
          <a:prstGeom prst="rect">
            <a:avLst/>
          </a:prstGeom>
          <a:noFill/>
          <a:ln w="12700">
            <a:solidFill>
              <a:srgbClr val="E8EA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06840" y="1097280"/>
            <a:ext cx="2926080" cy="32004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100" b="1">
                <a:solidFill>
                  <a:srgbClr val="2E75B6"/>
                </a:solidFill>
                <a:latin typeface="Calibri"/>
              </a:rPr>
              <a:t>REFERENCIAS PCS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006840" y="1417320"/>
            <a:ext cx="2926080" cy="36576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9006840" y="1600200"/>
            <a:ext cx="2926080" cy="777240"/>
          </a:xfrm>
          <a:prstGeom prst="rect">
            <a:avLst/>
          </a:prstGeom>
          <a:solidFill>
            <a:srgbClr val="E8EA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9006840" y="1600200"/>
            <a:ext cx="73152" cy="777240"/>
          </a:xfrm>
          <a:prstGeom prst="rect">
            <a:avLst/>
          </a:prstGeom>
          <a:solidFill>
            <a:srgbClr val="2EA6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71432" y="1645920"/>
            <a:ext cx="2697480" cy="292608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100" b="1">
                <a:solidFill>
                  <a:srgbClr val="123A5E"/>
                </a:solidFill>
                <a:latin typeface="Calibri"/>
              </a:rPr>
              <a:t>6 shelters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71432" y="1947672"/>
            <a:ext cx="2697480" cy="41148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950" b="0">
                <a:solidFill>
                  <a:srgbClr val="222A35"/>
                </a:solidFill>
                <a:latin typeface="Calibri"/>
              </a:rPr>
              <a:t>Remotas distribuidas en planta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006840" y="2487168"/>
            <a:ext cx="2926080" cy="777240"/>
          </a:xfrm>
          <a:prstGeom prst="rect">
            <a:avLst/>
          </a:prstGeom>
          <a:solidFill>
            <a:srgbClr val="E8EA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006840" y="2487168"/>
            <a:ext cx="73152" cy="777240"/>
          </a:xfrm>
          <a:prstGeom prst="rect">
            <a:avLst/>
          </a:prstGeom>
          <a:solidFill>
            <a:srgbClr val="2EA6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71432" y="2532888"/>
            <a:ext cx="2697480" cy="292608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100" b="1">
                <a:solidFill>
                  <a:srgbClr val="123A5E"/>
                </a:solidFill>
                <a:latin typeface="Calibri"/>
              </a:rPr>
              <a:t>ControlLogix 1756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71432" y="2834640"/>
            <a:ext cx="2697480" cy="41148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950" b="0">
                <a:solidFill>
                  <a:srgbClr val="222A35"/>
                </a:solidFill>
                <a:latin typeface="Calibri"/>
              </a:rPr>
              <a:t>Chasis A13 redundantes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006840" y="3374136"/>
            <a:ext cx="2926080" cy="777240"/>
          </a:xfrm>
          <a:prstGeom prst="rect">
            <a:avLst/>
          </a:prstGeom>
          <a:solidFill>
            <a:srgbClr val="E8EA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9006840" y="3374136"/>
            <a:ext cx="73152" cy="777240"/>
          </a:xfrm>
          <a:prstGeom prst="rect">
            <a:avLst/>
          </a:prstGeom>
          <a:solidFill>
            <a:srgbClr val="2EA6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171432" y="3419856"/>
            <a:ext cx="2697480" cy="292608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100" b="1">
                <a:solidFill>
                  <a:srgbClr val="123A5E"/>
                </a:solidFill>
                <a:latin typeface="Calibri"/>
              </a:rPr>
              <a:t>Comm. EN2TP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71432" y="3721608"/>
            <a:ext cx="2697480" cy="41148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950" b="0">
                <a:solidFill>
                  <a:srgbClr val="222A35"/>
                </a:solidFill>
                <a:latin typeface="Calibri"/>
              </a:rPr>
              <a:t>Ethernet/IP con PRP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006840" y="4261104"/>
            <a:ext cx="2926080" cy="777240"/>
          </a:xfrm>
          <a:prstGeom prst="rect">
            <a:avLst/>
          </a:prstGeom>
          <a:solidFill>
            <a:srgbClr val="E8EA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9006840" y="4261104"/>
            <a:ext cx="73152" cy="777240"/>
          </a:xfrm>
          <a:prstGeom prst="rect">
            <a:avLst/>
          </a:prstGeom>
          <a:solidFill>
            <a:srgbClr val="2EA6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171432" y="4306824"/>
            <a:ext cx="2697480" cy="292608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100" b="1">
                <a:solidFill>
                  <a:srgbClr val="123A5E"/>
                </a:solidFill>
                <a:latin typeface="Calibri"/>
              </a:rPr>
              <a:t>Stratix 5200/5800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71432" y="4608576"/>
            <a:ext cx="2697480" cy="41148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950" b="0">
                <a:solidFill>
                  <a:srgbClr val="222A35"/>
                </a:solidFill>
                <a:latin typeface="Calibri"/>
              </a:rPr>
              <a:t>Backbone OT administrado</a:t>
            </a:r>
          </a:p>
        </p:txBody>
      </p:sp>
      <p:sp>
        <p:nvSpPr>
          <p:cNvPr id="32" name="Rectangle 31"/>
          <p:cNvSpPr/>
          <p:nvPr/>
        </p:nvSpPr>
        <p:spPr>
          <a:xfrm>
            <a:off x="9006840" y="5148072"/>
            <a:ext cx="2926080" cy="777240"/>
          </a:xfrm>
          <a:prstGeom prst="rect">
            <a:avLst/>
          </a:prstGeom>
          <a:solidFill>
            <a:srgbClr val="E8EA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9006840" y="5148072"/>
            <a:ext cx="73152" cy="777240"/>
          </a:xfrm>
          <a:prstGeom prst="rect">
            <a:avLst/>
          </a:prstGeom>
          <a:solidFill>
            <a:srgbClr val="2EA6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171432" y="5193792"/>
            <a:ext cx="2697480" cy="292608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100" b="1">
                <a:solidFill>
                  <a:srgbClr val="123A5E"/>
                </a:solidFill>
                <a:latin typeface="Calibri"/>
              </a:rPr>
              <a:t>Fibra Óptica MM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171432" y="5495544"/>
            <a:ext cx="2697480" cy="41148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950" b="0">
                <a:solidFill>
                  <a:srgbClr val="222A35"/>
                </a:solidFill>
                <a:latin typeface="Calibri"/>
              </a:rPr>
              <a:t>Anillos redundantes entre shelters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2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77240"/>
            <a:ext cx="12191695" cy="4572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E8EF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6583680"/>
            <a:ext cx="7315200" cy="22860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900" b="0">
                <a:solidFill>
                  <a:srgbClr val="6E7684"/>
                </a:solidFill>
                <a:latin typeface="Calibri"/>
              </a:rPr>
              <a:t>CPF2 La Calera Fase 2 — Ampliación de Arquitectura PCS / SIS / PMS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83680"/>
            <a:ext cx="3200400" cy="22860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r"/>
            <a:r>
              <a:rPr sz="900" b="1">
                <a:solidFill>
                  <a:srgbClr val="2E75B6"/>
                </a:solidFill>
                <a:latin typeface="Calibri"/>
              </a:rPr>
              <a:t>Sistema PCS — Ampliación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94415" y="6583680"/>
            <a:ext cx="822960" cy="22860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r"/>
            <a:r>
              <a:rPr sz="900" b="1">
                <a:solidFill>
                  <a:srgbClr val="123A5E"/>
                </a:solidFill>
                <a:latin typeface="Calibri"/>
              </a:rPr>
              <a:t>4 / 9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91440"/>
            <a:ext cx="777240" cy="594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4320" y="91440"/>
            <a:ext cx="777240" cy="59436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2400" b="1">
                <a:solidFill>
                  <a:srgbClr val="123A5E"/>
                </a:solidFill>
                <a:latin typeface="Calibri"/>
              </a:rPr>
              <a:t>03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45720"/>
            <a:ext cx="10698480" cy="45720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</a:rPr>
              <a:t>PCS Rockwell — Ampliación propuesta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8720" y="457200"/>
            <a:ext cx="10698480" cy="27432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100" b="0">
                <a:solidFill>
                  <a:srgbClr val="E8EFF7"/>
                </a:solidFill>
                <a:latin typeface="Calibri"/>
              </a:rPr>
              <a:t>Incorporación de controladores y gabinetes de E/S para CPF 2 Fase 2</a:t>
            </a:r>
          </a:p>
        </p:txBody>
      </p:sp>
      <p:pic>
        <p:nvPicPr>
          <p:cNvPr id="12" name="Picture 11" descr="slide5_img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97280"/>
            <a:ext cx="7113617" cy="5029200"/>
          </a:xfrm>
          <a:prstGeom prst="rect">
            <a:avLst/>
          </a:prstGeom>
        </p:spPr>
      </p:pic>
      <p:sp>
        <p:nvSpPr>
          <p:cNvPr id="13" name="Rectangle 12"/>
          <p:cNvSpPr/>
          <p:nvPr/>
        </p:nvSpPr>
        <p:spPr>
          <a:xfrm>
            <a:off x="457200" y="1097280"/>
            <a:ext cx="8321040" cy="5029200"/>
          </a:xfrm>
          <a:prstGeom prst="rect">
            <a:avLst/>
          </a:prstGeom>
          <a:noFill/>
          <a:ln w="12700">
            <a:solidFill>
              <a:srgbClr val="E8EA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06840" y="1097280"/>
            <a:ext cx="2926080" cy="32004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100" b="1">
                <a:solidFill>
                  <a:srgbClr val="C81E1E"/>
                </a:solidFill>
                <a:latin typeface="Calibri"/>
              </a:rPr>
              <a:t>ELEMENTOS NUEVOS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006840" y="1417320"/>
            <a:ext cx="2926080" cy="36576"/>
          </a:xfrm>
          <a:prstGeom prst="rect">
            <a:avLst/>
          </a:prstGeom>
          <a:solidFill>
            <a:srgbClr val="C8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9006840" y="1600200"/>
            <a:ext cx="2926080" cy="777240"/>
          </a:xfrm>
          <a:prstGeom prst="rect">
            <a:avLst/>
          </a:prstGeom>
          <a:solidFill>
            <a:srgbClr val="FAE3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9006840" y="1600200"/>
            <a:ext cx="73152" cy="777240"/>
          </a:xfrm>
          <a:prstGeom prst="rect">
            <a:avLst/>
          </a:prstGeom>
          <a:solidFill>
            <a:srgbClr val="C8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71432" y="1645920"/>
            <a:ext cx="2697480" cy="292608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100" b="1">
                <a:solidFill>
                  <a:srgbClr val="C81E1E"/>
                </a:solidFill>
                <a:latin typeface="Calibri"/>
              </a:rPr>
              <a:t>CPF2-PCS-SC-07a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71432" y="1947672"/>
            <a:ext cx="2697480" cy="41148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950" b="0">
                <a:solidFill>
                  <a:srgbClr val="222A35"/>
                </a:solidFill>
                <a:latin typeface="Calibri"/>
              </a:rPr>
              <a:t>Gabinete procesos + marshalling (2 col)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006840" y="2487168"/>
            <a:ext cx="2926080" cy="777240"/>
          </a:xfrm>
          <a:prstGeom prst="rect">
            <a:avLst/>
          </a:prstGeom>
          <a:solidFill>
            <a:srgbClr val="FAE3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006840" y="2487168"/>
            <a:ext cx="73152" cy="777240"/>
          </a:xfrm>
          <a:prstGeom prst="rect">
            <a:avLst/>
          </a:prstGeom>
          <a:solidFill>
            <a:srgbClr val="C8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71432" y="2532888"/>
            <a:ext cx="2697480" cy="292608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100" b="1">
                <a:solidFill>
                  <a:srgbClr val="C81E1E"/>
                </a:solidFill>
                <a:latin typeface="Calibri"/>
              </a:rPr>
              <a:t>CPF2-PCS-SC-07b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71432" y="2834640"/>
            <a:ext cx="2697480" cy="41148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950" b="0">
                <a:solidFill>
                  <a:srgbClr val="222A35"/>
                </a:solidFill>
                <a:latin typeface="Calibri"/>
              </a:rPr>
              <a:t>Gabinete procesos + marshalling (1 col)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006840" y="3374136"/>
            <a:ext cx="2926080" cy="777240"/>
          </a:xfrm>
          <a:prstGeom prst="rect">
            <a:avLst/>
          </a:prstGeom>
          <a:solidFill>
            <a:srgbClr val="FAE3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9006840" y="3374136"/>
            <a:ext cx="73152" cy="777240"/>
          </a:xfrm>
          <a:prstGeom prst="rect">
            <a:avLst/>
          </a:prstGeom>
          <a:solidFill>
            <a:srgbClr val="C8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171432" y="3419856"/>
            <a:ext cx="2697480" cy="292608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100" b="1">
                <a:solidFill>
                  <a:srgbClr val="C81E1E"/>
                </a:solidFill>
                <a:latin typeface="Calibri"/>
              </a:rPr>
              <a:t>Switch redundante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71432" y="3721608"/>
            <a:ext cx="2697480" cy="41148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950" b="0">
                <a:solidFill>
                  <a:srgbClr val="222A35"/>
                </a:solidFill>
                <a:latin typeface="Calibri"/>
              </a:rPr>
              <a:t>Stratix 5800 MMS10A + MMX8SA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006840" y="4261104"/>
            <a:ext cx="2926080" cy="777240"/>
          </a:xfrm>
          <a:prstGeom prst="rect">
            <a:avLst/>
          </a:prstGeom>
          <a:solidFill>
            <a:srgbClr val="FAE3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9006840" y="4261104"/>
            <a:ext cx="73152" cy="777240"/>
          </a:xfrm>
          <a:prstGeom prst="rect">
            <a:avLst/>
          </a:prstGeom>
          <a:solidFill>
            <a:srgbClr val="C8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171432" y="4306824"/>
            <a:ext cx="2697480" cy="292608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100" b="1">
                <a:solidFill>
                  <a:srgbClr val="C81E1E"/>
                </a:solidFill>
                <a:latin typeface="Calibri"/>
              </a:rPr>
              <a:t>Red PRP integrada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71432" y="4608576"/>
            <a:ext cx="2697480" cy="41148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950" b="0">
                <a:solidFill>
                  <a:srgbClr val="222A35"/>
                </a:solidFill>
                <a:latin typeface="Calibri"/>
              </a:rPr>
              <a:t>Parallel Redundancy Protocol IEC 62439-3</a:t>
            </a:r>
          </a:p>
        </p:txBody>
      </p:sp>
      <p:sp>
        <p:nvSpPr>
          <p:cNvPr id="32" name="Rectangle 31"/>
          <p:cNvSpPr/>
          <p:nvPr/>
        </p:nvSpPr>
        <p:spPr>
          <a:xfrm>
            <a:off x="9006840" y="5148072"/>
            <a:ext cx="2926080" cy="777240"/>
          </a:xfrm>
          <a:prstGeom prst="rect">
            <a:avLst/>
          </a:prstGeom>
          <a:solidFill>
            <a:srgbClr val="FAE3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9006840" y="5148072"/>
            <a:ext cx="73152" cy="777240"/>
          </a:xfrm>
          <a:prstGeom prst="rect">
            <a:avLst/>
          </a:prstGeom>
          <a:solidFill>
            <a:srgbClr val="C8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171432" y="5193792"/>
            <a:ext cx="2697480" cy="292608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100" b="1">
                <a:solidFill>
                  <a:srgbClr val="C81E1E"/>
                </a:solidFill>
                <a:latin typeface="Calibri"/>
              </a:rPr>
              <a:t>Tarjeta Modbus TCP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171432" y="5495544"/>
            <a:ext cx="2697480" cy="41148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950" b="0">
                <a:solidFill>
                  <a:srgbClr val="222A35"/>
                </a:solidFill>
                <a:latin typeface="Calibri"/>
              </a:rPr>
              <a:t>1756-MVI56E-MNETCR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2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77240"/>
            <a:ext cx="12191695" cy="4572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E8EF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6583680"/>
            <a:ext cx="7315200" cy="22860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900" b="0">
                <a:solidFill>
                  <a:srgbClr val="6E7684"/>
                </a:solidFill>
                <a:latin typeface="Calibri"/>
              </a:rPr>
              <a:t>CPF2 La Calera Fase 2 — Ampliación de Arquitectura PCS / SIS / PMS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83680"/>
            <a:ext cx="3200400" cy="22860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r"/>
            <a:r>
              <a:rPr sz="900" b="1">
                <a:solidFill>
                  <a:srgbClr val="2E75B6"/>
                </a:solidFill>
                <a:latin typeface="Calibri"/>
              </a:rPr>
              <a:t>Inventario de señales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94415" y="6583680"/>
            <a:ext cx="822960" cy="22860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r"/>
            <a:r>
              <a:rPr sz="900" b="1">
                <a:solidFill>
                  <a:srgbClr val="123A5E"/>
                </a:solidFill>
                <a:latin typeface="Calibri"/>
              </a:rPr>
              <a:t>5 / 9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91440"/>
            <a:ext cx="777240" cy="594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4320" y="91440"/>
            <a:ext cx="777240" cy="59436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2400" b="1">
                <a:solidFill>
                  <a:srgbClr val="123A5E"/>
                </a:solidFill>
                <a:latin typeface="Calibri"/>
              </a:rPr>
              <a:t>04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45720"/>
            <a:ext cx="10698480" cy="45720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</a:rPr>
              <a:t>Señales a incorporar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8720" y="457200"/>
            <a:ext cx="10698480" cy="27432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100" b="0">
                <a:solidFill>
                  <a:srgbClr val="E8EFF7"/>
                </a:solidFill>
                <a:latin typeface="Calibri"/>
              </a:rPr>
              <a:t>Listado de I/O — referencia OFT-128-008 Rev 3 y ACAL-00102-LS-K-0001</a:t>
            </a:r>
          </a:p>
        </p:txBody>
      </p:sp>
      <p:pic>
        <p:nvPicPr>
          <p:cNvPr id="12" name="Picture 11" descr="slide6_img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51560"/>
            <a:ext cx="3591161" cy="5074920"/>
          </a:xfrm>
          <a:prstGeom prst="rect">
            <a:avLst/>
          </a:prstGeom>
        </p:spPr>
      </p:pic>
      <p:sp>
        <p:nvSpPr>
          <p:cNvPr id="13" name="Rectangle 12"/>
          <p:cNvSpPr/>
          <p:nvPr/>
        </p:nvSpPr>
        <p:spPr>
          <a:xfrm>
            <a:off x="457200" y="1051560"/>
            <a:ext cx="7040880" cy="5074920"/>
          </a:xfrm>
          <a:prstGeom prst="rect">
            <a:avLst/>
          </a:prstGeom>
          <a:noFill/>
          <a:ln w="12700">
            <a:solidFill>
              <a:srgbClr val="E8EA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26679" y="1051560"/>
            <a:ext cx="4206240" cy="32004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100" b="1">
                <a:solidFill>
                  <a:srgbClr val="2E75B6"/>
                </a:solidFill>
                <a:latin typeface="Calibri"/>
              </a:rPr>
              <a:t>RESUMEN CUANTITATIVO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726679" y="1371600"/>
            <a:ext cx="4206240" cy="36576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726679" y="1600200"/>
            <a:ext cx="4206240" cy="987552"/>
          </a:xfrm>
          <a:prstGeom prst="rect">
            <a:avLst/>
          </a:prstGeom>
          <a:solidFill>
            <a:srgbClr val="E8EA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726679" y="1600200"/>
            <a:ext cx="109728" cy="987552"/>
          </a:xfrm>
          <a:prstGeom prst="rect">
            <a:avLst/>
          </a:prstGeom>
          <a:solidFill>
            <a:srgbClr val="12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955279" y="1655064"/>
            <a:ext cx="3931920" cy="27432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000" b="1">
                <a:solidFill>
                  <a:srgbClr val="6E7684"/>
                </a:solidFill>
                <a:latin typeface="Calibri"/>
              </a:rPr>
              <a:t>PCS-007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955279" y="1892808"/>
            <a:ext cx="3931920" cy="41148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2000" b="1">
                <a:solidFill>
                  <a:srgbClr val="123A5E"/>
                </a:solidFill>
                <a:latin typeface="Calibri"/>
              </a:rPr>
              <a:t>330 señales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955279" y="2276856"/>
            <a:ext cx="3931920" cy="27432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000" b="0">
                <a:solidFill>
                  <a:srgbClr val="222A35"/>
                </a:solidFill>
                <a:latin typeface="Calibri"/>
              </a:rPr>
              <a:t>PCS nuevas Remota 7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726679" y="2697480"/>
            <a:ext cx="4206240" cy="987552"/>
          </a:xfrm>
          <a:prstGeom prst="rect">
            <a:avLst/>
          </a:prstGeom>
          <a:solidFill>
            <a:srgbClr val="E8EA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726679" y="2697480"/>
            <a:ext cx="109728" cy="987552"/>
          </a:xfrm>
          <a:prstGeom prst="rect">
            <a:avLst/>
          </a:prstGeom>
          <a:solidFill>
            <a:srgbClr val="C8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955279" y="2752344"/>
            <a:ext cx="3931920" cy="27432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000" b="1">
                <a:solidFill>
                  <a:srgbClr val="6E7684"/>
                </a:solidFill>
                <a:latin typeface="Calibri"/>
              </a:rPr>
              <a:t>PSS-007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955279" y="2990088"/>
            <a:ext cx="3931920" cy="41148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2000" b="1">
                <a:solidFill>
                  <a:srgbClr val="C81E1E"/>
                </a:solidFill>
                <a:latin typeface="Calibri"/>
              </a:rPr>
              <a:t>644 señales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955279" y="3374136"/>
            <a:ext cx="3931920" cy="27432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000" b="0">
                <a:solidFill>
                  <a:srgbClr val="222A35"/>
                </a:solidFill>
                <a:latin typeface="Calibri"/>
              </a:rPr>
              <a:t>Seguridad HIMA Remota 7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726679" y="3794760"/>
            <a:ext cx="4206240" cy="987552"/>
          </a:xfrm>
          <a:prstGeom prst="rect">
            <a:avLst/>
          </a:prstGeom>
          <a:solidFill>
            <a:srgbClr val="E8EA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726679" y="3794760"/>
            <a:ext cx="109728" cy="987552"/>
          </a:xfrm>
          <a:prstGeom prst="rect">
            <a:avLst/>
          </a:prstGeom>
          <a:solidFill>
            <a:srgbClr val="C8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955279" y="3849624"/>
            <a:ext cx="3931920" cy="27432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000" b="1">
                <a:solidFill>
                  <a:srgbClr val="6E7684"/>
                </a:solidFill>
                <a:latin typeface="Calibri"/>
              </a:rPr>
              <a:t>ESD-007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955279" y="4087368"/>
            <a:ext cx="3931920" cy="41148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2000" b="1">
                <a:solidFill>
                  <a:srgbClr val="C81E1E"/>
                </a:solidFill>
                <a:latin typeface="Calibri"/>
              </a:rPr>
              <a:t>243 señales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955279" y="4471416"/>
            <a:ext cx="3931920" cy="27432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000" b="0">
                <a:solidFill>
                  <a:srgbClr val="222A35"/>
                </a:solidFill>
                <a:latin typeface="Calibri"/>
              </a:rPr>
              <a:t>Shutdown remota 7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726679" y="4892040"/>
            <a:ext cx="4206240" cy="987552"/>
          </a:xfrm>
          <a:prstGeom prst="rect">
            <a:avLst/>
          </a:prstGeom>
          <a:solidFill>
            <a:srgbClr val="E8EA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726679" y="4892040"/>
            <a:ext cx="109728" cy="987552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955279" y="4946904"/>
            <a:ext cx="3931920" cy="27432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000" b="1">
                <a:solidFill>
                  <a:srgbClr val="6E7684"/>
                </a:solidFill>
                <a:latin typeface="Calibri"/>
              </a:rPr>
              <a:t>Equipos paquete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955279" y="5184648"/>
            <a:ext cx="3931920" cy="41148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2000" b="1">
                <a:solidFill>
                  <a:srgbClr val="2E75B6"/>
                </a:solidFill>
                <a:latin typeface="Calibri"/>
              </a:rPr>
              <a:t>≈ 500 pts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955279" y="5568696"/>
            <a:ext cx="3931920" cy="27432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000" b="0">
                <a:solidFill>
                  <a:srgbClr val="222A35"/>
                </a:solidFill>
                <a:latin typeface="Calibri"/>
              </a:rPr>
              <a:t>10 skids · 50 vars c/u (Modbus)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2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77240"/>
            <a:ext cx="12191695" cy="4572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E8EF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6583680"/>
            <a:ext cx="7315200" cy="22860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900" b="0">
                <a:solidFill>
                  <a:srgbClr val="6E7684"/>
                </a:solidFill>
                <a:latin typeface="Calibri"/>
              </a:rPr>
              <a:t>CPF2 La Calera Fase 2 — Ampliación de Arquitectura PCS / SIS / PMS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83680"/>
            <a:ext cx="3200400" cy="22860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r"/>
            <a:r>
              <a:rPr sz="900" b="1">
                <a:solidFill>
                  <a:srgbClr val="2E75B6"/>
                </a:solidFill>
                <a:latin typeface="Calibri"/>
              </a:rPr>
              <a:t>Sistema SIS — HIMA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94415" y="6583680"/>
            <a:ext cx="822960" cy="22860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r"/>
            <a:r>
              <a:rPr sz="900" b="1">
                <a:solidFill>
                  <a:srgbClr val="123A5E"/>
                </a:solidFill>
                <a:latin typeface="Calibri"/>
              </a:rPr>
              <a:t>6 / 9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91440"/>
            <a:ext cx="777240" cy="594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4320" y="91440"/>
            <a:ext cx="777240" cy="59436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2400" b="1">
                <a:solidFill>
                  <a:srgbClr val="123A5E"/>
                </a:solidFill>
                <a:latin typeface="Calibri"/>
              </a:rPr>
              <a:t>05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45720"/>
            <a:ext cx="10698480" cy="45720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</a:rPr>
              <a:t>SIS HIMA — Arquitectura de Seguridad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8720" y="457200"/>
            <a:ext cx="10698480" cy="27432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100" b="0">
                <a:solidFill>
                  <a:srgbClr val="E8EFF7"/>
                </a:solidFill>
                <a:latin typeface="Calibri"/>
              </a:rPr>
              <a:t>Documento de referencia: ACAL-100-PL-K-551 Rev A</a:t>
            </a:r>
          </a:p>
        </p:txBody>
      </p:sp>
      <p:pic>
        <p:nvPicPr>
          <p:cNvPr id="12" name="Picture 11" descr="slide7_img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97280"/>
            <a:ext cx="6507718" cy="5029200"/>
          </a:xfrm>
          <a:prstGeom prst="rect">
            <a:avLst/>
          </a:prstGeom>
        </p:spPr>
      </p:pic>
      <p:sp>
        <p:nvSpPr>
          <p:cNvPr id="13" name="Rectangle 12"/>
          <p:cNvSpPr/>
          <p:nvPr/>
        </p:nvSpPr>
        <p:spPr>
          <a:xfrm>
            <a:off x="457200" y="1097280"/>
            <a:ext cx="8321040" cy="5029200"/>
          </a:xfrm>
          <a:prstGeom prst="rect">
            <a:avLst/>
          </a:prstGeom>
          <a:noFill/>
          <a:ln w="12700">
            <a:solidFill>
              <a:srgbClr val="E8EA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06840" y="1097280"/>
            <a:ext cx="2926080" cy="27432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000" b="1">
                <a:solidFill>
                  <a:srgbClr val="2EA64B"/>
                </a:solidFill>
                <a:latin typeface="Calibri"/>
              </a:rPr>
              <a:t>EXISTENTE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006840" y="1371600"/>
            <a:ext cx="2926080" cy="27432"/>
          </a:xfrm>
          <a:prstGeom prst="rect">
            <a:avLst/>
          </a:prstGeom>
          <a:solidFill>
            <a:srgbClr val="2EA6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9006840" y="1481328"/>
            <a:ext cx="2926080" cy="640080"/>
          </a:xfrm>
          <a:prstGeom prst="rect">
            <a:avLst/>
          </a:prstGeom>
          <a:solidFill>
            <a:srgbClr val="DCF1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9006840" y="1481328"/>
            <a:ext cx="54864" cy="640080"/>
          </a:xfrm>
          <a:prstGeom prst="rect">
            <a:avLst/>
          </a:prstGeom>
          <a:solidFill>
            <a:srgbClr val="2EA6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0" y="1517904"/>
            <a:ext cx="2743200" cy="256032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000" b="1">
                <a:solidFill>
                  <a:srgbClr val="2EA64B"/>
                </a:solidFill>
                <a:latin typeface="Calibri"/>
              </a:rPr>
              <a:t>PSS / ESD / USS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0" y="1755648"/>
            <a:ext cx="2743200" cy="36576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900" b="0">
                <a:solidFill>
                  <a:srgbClr val="222A35"/>
                </a:solidFill>
                <a:latin typeface="Calibri"/>
              </a:rPr>
              <a:t>Plataforma HIMA Planar4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006840" y="2212848"/>
            <a:ext cx="2926080" cy="640080"/>
          </a:xfrm>
          <a:prstGeom prst="rect">
            <a:avLst/>
          </a:prstGeom>
          <a:solidFill>
            <a:srgbClr val="DCF1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006840" y="2212848"/>
            <a:ext cx="54864" cy="640080"/>
          </a:xfrm>
          <a:prstGeom prst="rect">
            <a:avLst/>
          </a:prstGeom>
          <a:solidFill>
            <a:srgbClr val="2EA6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44000" y="2249424"/>
            <a:ext cx="2743200" cy="256032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000" b="1">
                <a:solidFill>
                  <a:srgbClr val="2EA64B"/>
                </a:solidFill>
                <a:latin typeface="Calibri"/>
              </a:rPr>
              <a:t>Red OPC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0" y="2487168"/>
            <a:ext cx="2743200" cy="36576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900" b="0">
                <a:solidFill>
                  <a:srgbClr val="222A35"/>
                </a:solidFill>
                <a:latin typeface="Calibri"/>
              </a:rPr>
              <a:t>Vínculo con SCADA INS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006840" y="2944368"/>
            <a:ext cx="2926080" cy="640080"/>
          </a:xfrm>
          <a:prstGeom prst="rect">
            <a:avLst/>
          </a:prstGeom>
          <a:solidFill>
            <a:srgbClr val="DCF1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9006840" y="2944368"/>
            <a:ext cx="54864" cy="640080"/>
          </a:xfrm>
          <a:prstGeom prst="rect">
            <a:avLst/>
          </a:prstGeom>
          <a:solidFill>
            <a:srgbClr val="2EA6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144000" y="2980944"/>
            <a:ext cx="2743200" cy="256032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000" b="1">
                <a:solidFill>
                  <a:srgbClr val="2EA64B"/>
                </a:solidFill>
                <a:latin typeface="Calibri"/>
              </a:rPr>
              <a:t>ASM redundante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44000" y="3218688"/>
            <a:ext cx="2743200" cy="36576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900" b="0">
                <a:solidFill>
                  <a:srgbClr val="222A35"/>
                </a:solidFill>
                <a:latin typeface="Calibri"/>
              </a:rPr>
              <a:t>Application Service Module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006840" y="3767328"/>
            <a:ext cx="2926080" cy="27432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000" b="1">
                <a:solidFill>
                  <a:srgbClr val="C81E1E"/>
                </a:solidFill>
                <a:latin typeface="Calibri"/>
              </a:rPr>
              <a:t>AMPLIACIÓN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006840" y="4041648"/>
            <a:ext cx="2926080" cy="27432"/>
          </a:xfrm>
          <a:prstGeom prst="rect">
            <a:avLst/>
          </a:prstGeom>
          <a:solidFill>
            <a:srgbClr val="C8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9006840" y="4178808"/>
            <a:ext cx="2926080" cy="640080"/>
          </a:xfrm>
          <a:prstGeom prst="rect">
            <a:avLst/>
          </a:prstGeom>
          <a:solidFill>
            <a:srgbClr val="FAE3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9006840" y="4178808"/>
            <a:ext cx="54864" cy="640080"/>
          </a:xfrm>
          <a:prstGeom prst="rect">
            <a:avLst/>
          </a:prstGeom>
          <a:solidFill>
            <a:srgbClr val="C8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144000" y="4215384"/>
            <a:ext cx="2743200" cy="256032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000" b="1">
                <a:solidFill>
                  <a:srgbClr val="C81E1E"/>
                </a:solidFill>
                <a:latin typeface="Calibri"/>
              </a:rPr>
              <a:t>Remota 7 PSS/ESD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44000" y="4453128"/>
            <a:ext cx="2743200" cy="36576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900" b="0">
                <a:solidFill>
                  <a:srgbClr val="222A35"/>
                </a:solidFill>
                <a:latin typeface="Calibri"/>
              </a:rPr>
              <a:t>Nuevos controladores HIMA</a:t>
            </a:r>
          </a:p>
        </p:txBody>
      </p:sp>
      <p:sp>
        <p:nvSpPr>
          <p:cNvPr id="34" name="Rectangle 33"/>
          <p:cNvSpPr/>
          <p:nvPr/>
        </p:nvSpPr>
        <p:spPr>
          <a:xfrm>
            <a:off x="9006840" y="4910328"/>
            <a:ext cx="2926080" cy="640080"/>
          </a:xfrm>
          <a:prstGeom prst="rect">
            <a:avLst/>
          </a:prstGeom>
          <a:solidFill>
            <a:srgbClr val="FAE3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9006840" y="4910328"/>
            <a:ext cx="54864" cy="640080"/>
          </a:xfrm>
          <a:prstGeom prst="rect">
            <a:avLst/>
          </a:prstGeom>
          <a:solidFill>
            <a:srgbClr val="C8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144000" y="4946904"/>
            <a:ext cx="2743200" cy="256032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000" b="1">
                <a:solidFill>
                  <a:srgbClr val="C81E1E"/>
                </a:solidFill>
                <a:latin typeface="Calibri"/>
              </a:rPr>
              <a:t>Pantallas SCADA SIS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144000" y="5184648"/>
            <a:ext cx="2743200" cy="36576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900" b="0">
                <a:solidFill>
                  <a:srgbClr val="222A35"/>
                </a:solidFill>
                <a:latin typeface="Calibri"/>
              </a:rPr>
              <a:t>Estado PLC, alarmas, matriz C&amp;E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2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77240"/>
            <a:ext cx="12191695" cy="4572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E8EF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6583680"/>
            <a:ext cx="7315200" cy="22860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900" b="0">
                <a:solidFill>
                  <a:srgbClr val="6E7684"/>
                </a:solidFill>
                <a:latin typeface="Calibri"/>
              </a:rPr>
              <a:t>CPF2 La Calera Fase 2 — Ampliación de Arquitectura PCS / SIS / PMS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83680"/>
            <a:ext cx="3200400" cy="22860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r"/>
            <a:r>
              <a:rPr sz="900" b="1">
                <a:solidFill>
                  <a:srgbClr val="2E75B6"/>
                </a:solidFill>
                <a:latin typeface="Calibri"/>
              </a:rPr>
              <a:t>Sistema PMS — ABB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94415" y="6583680"/>
            <a:ext cx="822960" cy="22860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r"/>
            <a:r>
              <a:rPr sz="900" b="1">
                <a:solidFill>
                  <a:srgbClr val="123A5E"/>
                </a:solidFill>
                <a:latin typeface="Calibri"/>
              </a:rPr>
              <a:t>7 / 9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91440"/>
            <a:ext cx="777240" cy="594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4320" y="91440"/>
            <a:ext cx="777240" cy="59436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2400" b="1">
                <a:solidFill>
                  <a:srgbClr val="123A5E"/>
                </a:solidFill>
                <a:latin typeface="Calibri"/>
              </a:rPr>
              <a:t>06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45720"/>
            <a:ext cx="10698480" cy="45720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</a:rPr>
              <a:t>PMS ABB — Existente vs. Ampliación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8720" y="457200"/>
            <a:ext cx="10698480" cy="27432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100" b="0">
                <a:solidFill>
                  <a:srgbClr val="E8EFF7"/>
                </a:solidFill>
                <a:latin typeface="Calibri"/>
              </a:rPr>
              <a:t>Arquitectura SCADA ELE / PMS — Anexo III Expansión CPF2-F4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1005840"/>
            <a:ext cx="5623560" cy="27432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ctr"/>
            <a:r>
              <a:rPr sz="1100" b="1">
                <a:solidFill>
                  <a:srgbClr val="2EA64B"/>
                </a:solidFill>
                <a:latin typeface="Calibri"/>
              </a:rPr>
              <a:t>ARQUITECTURA EXISTENTE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1280160"/>
            <a:ext cx="5623560" cy="36576"/>
          </a:xfrm>
          <a:prstGeom prst="rect">
            <a:avLst/>
          </a:prstGeom>
          <a:solidFill>
            <a:srgbClr val="2EA6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199632" y="1005840"/>
            <a:ext cx="5623560" cy="27432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ctr"/>
            <a:r>
              <a:rPr sz="1100" b="1">
                <a:solidFill>
                  <a:srgbClr val="C81E1E"/>
                </a:solidFill>
                <a:latin typeface="Calibri"/>
              </a:rPr>
              <a:t>AMPLIACIÓN CPF 2 — SE3 + SE4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99632" y="1280160"/>
            <a:ext cx="5623560" cy="36576"/>
          </a:xfrm>
          <a:prstGeom prst="rect">
            <a:avLst/>
          </a:prstGeom>
          <a:solidFill>
            <a:srgbClr val="C8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slide8_img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417320"/>
            <a:ext cx="5623560" cy="3976714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>
          <a:xfrm>
            <a:off x="457200" y="1417320"/>
            <a:ext cx="5623560" cy="4206240"/>
          </a:xfrm>
          <a:prstGeom prst="rect">
            <a:avLst/>
          </a:prstGeom>
          <a:noFill/>
          <a:ln w="19050">
            <a:solidFill>
              <a:srgbClr val="2EA6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slide8_img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9632" y="1417320"/>
            <a:ext cx="5623560" cy="3976714"/>
          </a:xfrm>
          <a:prstGeom prst="rect">
            <a:avLst/>
          </a:prstGeom>
        </p:spPr>
      </p:pic>
      <p:sp>
        <p:nvSpPr>
          <p:cNvPr id="19" name="Rectangle 18"/>
          <p:cNvSpPr/>
          <p:nvPr/>
        </p:nvSpPr>
        <p:spPr>
          <a:xfrm>
            <a:off x="6199632" y="1417320"/>
            <a:ext cx="5623560" cy="4206240"/>
          </a:xfrm>
          <a:prstGeom prst="rect">
            <a:avLst/>
          </a:prstGeom>
          <a:noFill/>
          <a:ln w="19050">
            <a:solidFill>
              <a:srgbClr val="C81E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57200" y="5760720"/>
            <a:ext cx="11365992" cy="685800"/>
          </a:xfrm>
          <a:prstGeom prst="rect">
            <a:avLst/>
          </a:prstGeom>
          <a:solidFill>
            <a:srgbClr val="E8EF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57200" y="5760720"/>
            <a:ext cx="109728" cy="6858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5806440"/>
            <a:ext cx="11155680" cy="27432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000" b="1">
                <a:solidFill>
                  <a:srgbClr val="2E75B6"/>
                </a:solidFill>
                <a:latin typeface="Calibri"/>
              </a:rPr>
              <a:t>INTEGRACIÓN PCS ↔ PMS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6053328"/>
            <a:ext cx="11155680" cy="36576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050" b="0">
                <a:solidFill>
                  <a:srgbClr val="222A35"/>
                </a:solidFill>
                <a:latin typeface="Calibri"/>
              </a:rPr>
              <a:t>Modbus TCP redundante  ·  Red IEC 61850 anillo redundante  ·  PROFINET CPF2 para UMC y variadores  ·  ModuleBus redundante  ·  Pruebas integración: 5 días en Bs As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2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77240"/>
            <a:ext cx="12191695" cy="4572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E8EF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6583680"/>
            <a:ext cx="7315200" cy="22860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900" b="0">
                <a:solidFill>
                  <a:srgbClr val="6E7684"/>
                </a:solidFill>
                <a:latin typeface="Calibri"/>
              </a:rPr>
              <a:t>CPF2 La Calera Fase 2 — Ampliación de Arquitectura PCS / SIS / PMS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83680"/>
            <a:ext cx="3200400" cy="22860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r"/>
            <a:r>
              <a:rPr sz="900" b="1">
                <a:solidFill>
                  <a:srgbClr val="2E75B6"/>
                </a:solidFill>
                <a:latin typeface="Calibri"/>
              </a:rPr>
              <a:t>Comunicaciones OT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94415" y="6583680"/>
            <a:ext cx="822960" cy="22860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r"/>
            <a:r>
              <a:rPr sz="900" b="1">
                <a:solidFill>
                  <a:srgbClr val="123A5E"/>
                </a:solidFill>
                <a:latin typeface="Calibri"/>
              </a:rPr>
              <a:t>8 / 9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91440"/>
            <a:ext cx="777240" cy="594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4320" y="91440"/>
            <a:ext cx="777240" cy="59436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2400" b="1">
                <a:solidFill>
                  <a:srgbClr val="123A5E"/>
                </a:solidFill>
                <a:latin typeface="Calibri"/>
              </a:rPr>
              <a:t>07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45720"/>
            <a:ext cx="10698480" cy="45720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</a:rPr>
              <a:t>Comunicaciones OT — Dispositivos a integrar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8720" y="457200"/>
            <a:ext cx="10698480" cy="27432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100" b="0">
                <a:solidFill>
                  <a:srgbClr val="E8EFF7"/>
                </a:solidFill>
                <a:latin typeface="Calibri"/>
              </a:rPr>
              <a:t>Diagrama en bloques: ACAL-00102-PL-O-0001 Rev A</a:t>
            </a:r>
          </a:p>
        </p:txBody>
      </p:sp>
      <p:pic>
        <p:nvPicPr>
          <p:cNvPr id="12" name="Picture 11" descr="slide9_img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97280"/>
            <a:ext cx="5498418" cy="4572000"/>
          </a:xfrm>
          <a:prstGeom prst="rect">
            <a:avLst/>
          </a:prstGeom>
        </p:spPr>
      </p:pic>
      <p:sp>
        <p:nvSpPr>
          <p:cNvPr id="13" name="Rectangle 12"/>
          <p:cNvSpPr/>
          <p:nvPr/>
        </p:nvSpPr>
        <p:spPr>
          <a:xfrm>
            <a:off x="457200" y="1097280"/>
            <a:ext cx="5486400" cy="4572000"/>
          </a:xfrm>
          <a:prstGeom prst="rect">
            <a:avLst/>
          </a:prstGeom>
          <a:noFill/>
          <a:ln w="12700">
            <a:solidFill>
              <a:srgbClr val="E8EA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172200" y="1097280"/>
            <a:ext cx="5760720" cy="32004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100" b="1">
                <a:solidFill>
                  <a:srgbClr val="C81E1E"/>
                </a:solidFill>
                <a:latin typeface="Calibri"/>
              </a:rPr>
              <a:t>DISPOSITIVOS A NIVEL CONTROLADOR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72200" y="1417320"/>
            <a:ext cx="5760720" cy="36576"/>
          </a:xfrm>
          <a:prstGeom prst="rect">
            <a:avLst/>
          </a:prstGeom>
          <a:solidFill>
            <a:srgbClr val="C8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72200" y="1600200"/>
            <a:ext cx="2788920" cy="868680"/>
          </a:xfrm>
          <a:prstGeom prst="rect">
            <a:avLst/>
          </a:prstGeom>
          <a:solidFill>
            <a:srgbClr val="FAE3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172200" y="1600200"/>
            <a:ext cx="64008" cy="868680"/>
          </a:xfrm>
          <a:prstGeom prst="rect">
            <a:avLst/>
          </a:prstGeom>
          <a:solidFill>
            <a:srgbClr val="C8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27648" y="1645920"/>
            <a:ext cx="2606040" cy="36576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100" b="1">
                <a:solidFill>
                  <a:srgbClr val="C81E1E"/>
                </a:solidFill>
                <a:latin typeface="Calibri"/>
              </a:rPr>
              <a:t>Skid Gas Comb. Generación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27648" y="2011680"/>
            <a:ext cx="2606040" cy="41148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950" b="0">
                <a:solidFill>
                  <a:srgbClr val="222A35"/>
                </a:solidFill>
                <a:latin typeface="Calibri"/>
              </a:rPr>
              <a:t>Vínculo Modbus / nativo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144000" y="1600200"/>
            <a:ext cx="2788920" cy="868680"/>
          </a:xfrm>
          <a:prstGeom prst="rect">
            <a:avLst/>
          </a:prstGeom>
          <a:solidFill>
            <a:srgbClr val="FAE3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144000" y="1600200"/>
            <a:ext cx="64008" cy="868680"/>
          </a:xfrm>
          <a:prstGeom prst="rect">
            <a:avLst/>
          </a:prstGeom>
          <a:solidFill>
            <a:srgbClr val="C8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299448" y="1645920"/>
            <a:ext cx="2606040" cy="36576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100" b="1">
                <a:solidFill>
                  <a:srgbClr val="C81E1E"/>
                </a:solidFill>
                <a:latin typeface="Calibri"/>
              </a:rPr>
              <a:t>Skid Aire — Nitrógeno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99448" y="2011680"/>
            <a:ext cx="2606040" cy="41148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950" b="0">
                <a:solidFill>
                  <a:srgbClr val="222A35"/>
                </a:solidFill>
                <a:latin typeface="Calibri"/>
              </a:rPr>
              <a:t>Modbus TCP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172200" y="2606040"/>
            <a:ext cx="2788920" cy="868680"/>
          </a:xfrm>
          <a:prstGeom prst="rect">
            <a:avLst/>
          </a:prstGeom>
          <a:solidFill>
            <a:srgbClr val="FAE3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172200" y="2606040"/>
            <a:ext cx="64008" cy="868680"/>
          </a:xfrm>
          <a:prstGeom prst="rect">
            <a:avLst/>
          </a:prstGeom>
          <a:solidFill>
            <a:srgbClr val="C8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27648" y="2651760"/>
            <a:ext cx="2606040" cy="36576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100" b="1">
                <a:solidFill>
                  <a:srgbClr val="C81E1E"/>
                </a:solidFill>
                <a:latin typeface="Calibri"/>
              </a:rPr>
              <a:t>3 Compresores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27648" y="3017520"/>
            <a:ext cx="2606040" cy="41148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950" b="0">
                <a:solidFill>
                  <a:srgbClr val="222A35"/>
                </a:solidFill>
                <a:latin typeface="Calibri"/>
              </a:rPr>
              <a:t>Comm. dedicada por unidad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144000" y="2606040"/>
            <a:ext cx="2788920" cy="868680"/>
          </a:xfrm>
          <a:prstGeom prst="rect">
            <a:avLst/>
          </a:prstGeom>
          <a:solidFill>
            <a:srgbClr val="FAE3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9144000" y="2606040"/>
            <a:ext cx="64008" cy="868680"/>
          </a:xfrm>
          <a:prstGeom prst="rect">
            <a:avLst/>
          </a:prstGeom>
          <a:solidFill>
            <a:srgbClr val="C8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299448" y="2651760"/>
            <a:ext cx="2606040" cy="36576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100" b="1">
                <a:solidFill>
                  <a:srgbClr val="C81E1E"/>
                </a:solidFill>
                <a:latin typeface="Calibri"/>
              </a:rPr>
              <a:t>Skid Gas Comb. Compresores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299448" y="3017520"/>
            <a:ext cx="2606040" cy="41148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950" b="0">
                <a:solidFill>
                  <a:srgbClr val="222A35"/>
                </a:solidFill>
                <a:latin typeface="Calibri"/>
              </a:rPr>
              <a:t>Modbus TCP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172200" y="3611880"/>
            <a:ext cx="2788920" cy="868680"/>
          </a:xfrm>
          <a:prstGeom prst="rect">
            <a:avLst/>
          </a:prstGeom>
          <a:solidFill>
            <a:srgbClr val="FAE3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172200" y="3611880"/>
            <a:ext cx="64008" cy="868680"/>
          </a:xfrm>
          <a:prstGeom prst="rect">
            <a:avLst/>
          </a:prstGeom>
          <a:solidFill>
            <a:srgbClr val="C8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327648" y="3657600"/>
            <a:ext cx="2606040" cy="36576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100" b="1">
                <a:solidFill>
                  <a:srgbClr val="C81E1E"/>
                </a:solidFill>
                <a:latin typeface="Calibri"/>
              </a:rPr>
              <a:t>Horno de Hot Oil (EAP-94201B)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327648" y="4023360"/>
            <a:ext cx="2606040" cy="41148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950" b="0">
                <a:solidFill>
                  <a:srgbClr val="222A35"/>
                </a:solidFill>
                <a:latin typeface="Calibri"/>
              </a:rPr>
              <a:t>Modbus TCP</a:t>
            </a:r>
          </a:p>
        </p:txBody>
      </p:sp>
      <p:sp>
        <p:nvSpPr>
          <p:cNvPr id="36" name="Rectangle 35"/>
          <p:cNvSpPr/>
          <p:nvPr/>
        </p:nvSpPr>
        <p:spPr>
          <a:xfrm>
            <a:off x="9144000" y="3611880"/>
            <a:ext cx="2788920" cy="868680"/>
          </a:xfrm>
          <a:prstGeom prst="rect">
            <a:avLst/>
          </a:prstGeom>
          <a:solidFill>
            <a:srgbClr val="FAE3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9144000" y="3611880"/>
            <a:ext cx="64008" cy="868680"/>
          </a:xfrm>
          <a:prstGeom prst="rect">
            <a:avLst/>
          </a:prstGeom>
          <a:solidFill>
            <a:srgbClr val="C8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299448" y="3657600"/>
            <a:ext cx="2606040" cy="36576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100" b="1">
                <a:solidFill>
                  <a:srgbClr val="C81E1E"/>
                </a:solidFill>
                <a:latin typeface="Calibri"/>
              </a:rPr>
              <a:t>Calentadores del KOD (SKZZ-93110)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299448" y="4023360"/>
            <a:ext cx="2606040" cy="41148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950" b="0">
                <a:solidFill>
                  <a:srgbClr val="222A35"/>
                </a:solidFill>
                <a:latin typeface="Calibri"/>
              </a:rPr>
              <a:t>Modbus TCP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172200" y="4617720"/>
            <a:ext cx="2788920" cy="868680"/>
          </a:xfrm>
          <a:prstGeom prst="rect">
            <a:avLst/>
          </a:prstGeom>
          <a:solidFill>
            <a:srgbClr val="FAE3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6172200" y="4617720"/>
            <a:ext cx="64008" cy="868680"/>
          </a:xfrm>
          <a:prstGeom prst="rect">
            <a:avLst/>
          </a:prstGeom>
          <a:solidFill>
            <a:srgbClr val="C8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327648" y="4663440"/>
            <a:ext cx="2606040" cy="36576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100" b="1">
                <a:solidFill>
                  <a:srgbClr val="C81E1E"/>
                </a:solidFill>
                <a:latin typeface="Calibri"/>
              </a:rPr>
              <a:t>Bombas FlowServe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327648" y="5029200"/>
            <a:ext cx="2606040" cy="41148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950" b="0">
                <a:solidFill>
                  <a:srgbClr val="222A35"/>
                </a:solidFill>
                <a:latin typeface="Calibri"/>
              </a:rPr>
              <a:t>Protocolo nativo + FactoryTalk (opc.)</a:t>
            </a:r>
          </a:p>
        </p:txBody>
      </p:sp>
      <p:sp>
        <p:nvSpPr>
          <p:cNvPr id="44" name="Rectangle 43"/>
          <p:cNvSpPr/>
          <p:nvPr/>
        </p:nvSpPr>
        <p:spPr>
          <a:xfrm>
            <a:off x="9144000" y="4617720"/>
            <a:ext cx="2788920" cy="868680"/>
          </a:xfrm>
          <a:prstGeom prst="rect">
            <a:avLst/>
          </a:prstGeom>
          <a:solidFill>
            <a:srgbClr val="FAE3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9144000" y="4617720"/>
            <a:ext cx="64008" cy="868680"/>
          </a:xfrm>
          <a:prstGeom prst="rect">
            <a:avLst/>
          </a:prstGeom>
          <a:solidFill>
            <a:srgbClr val="C8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9299448" y="4663440"/>
            <a:ext cx="2606040" cy="36576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100" b="1">
                <a:solidFill>
                  <a:srgbClr val="C81E1E"/>
                </a:solidFill>
                <a:latin typeface="Calibri"/>
              </a:rPr>
              <a:t>PMS ABB — 2 salas eléctricas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299448" y="5029200"/>
            <a:ext cx="2606040" cy="41148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950" b="0">
                <a:solidFill>
                  <a:srgbClr val="222A35"/>
                </a:solidFill>
                <a:latin typeface="Calibri"/>
              </a:rPr>
              <a:t>Modbus TCP redundante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172200" y="5760720"/>
            <a:ext cx="5760720" cy="384048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281928" y="5815584"/>
            <a:ext cx="5541264" cy="292608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Calibri"/>
              </a:rPr>
              <a:t>Infraestructura FO: patch panels 6/12/24 hilos · Switches ETH/FO · Cableado Cat 6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2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77240"/>
            <a:ext cx="12191695" cy="4572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E8EF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6583680"/>
            <a:ext cx="7315200" cy="22860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900" b="0">
                <a:solidFill>
                  <a:srgbClr val="6E7684"/>
                </a:solidFill>
                <a:latin typeface="Calibri"/>
              </a:rPr>
              <a:t>CPF2 La Calera Fase 2 — Ampliación de Arquitectura PCS / SIS / PMS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83680"/>
            <a:ext cx="3200400" cy="22860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r"/>
            <a:r>
              <a:rPr sz="900" b="1">
                <a:solidFill>
                  <a:srgbClr val="2E75B6"/>
                </a:solidFill>
                <a:latin typeface="Calibri"/>
              </a:rPr>
              <a:t>Cierre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94415" y="6583680"/>
            <a:ext cx="822960" cy="22860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r"/>
            <a:r>
              <a:rPr sz="900" b="1">
                <a:solidFill>
                  <a:srgbClr val="123A5E"/>
                </a:solidFill>
                <a:latin typeface="Calibri"/>
              </a:rPr>
              <a:t>9 / 9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91440"/>
            <a:ext cx="777240" cy="594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4320" y="91440"/>
            <a:ext cx="777240" cy="59436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2400" b="1">
                <a:solidFill>
                  <a:srgbClr val="123A5E"/>
                </a:solidFill>
                <a:latin typeface="Calibri"/>
              </a:rPr>
              <a:t>08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45720"/>
            <a:ext cx="10698480" cy="45720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</a:rPr>
              <a:t>Criterios de integración y resumen de ampliación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8720" y="457200"/>
            <a:ext cx="10698480" cy="27432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100" b="0">
                <a:solidFill>
                  <a:srgbClr val="E8EFF7"/>
                </a:solidFill>
                <a:latin typeface="Calibri"/>
              </a:rPr>
              <a:t>Redundancia, elementos clave y documentación de referencia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1051560"/>
            <a:ext cx="3749039" cy="32004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100" b="1">
                <a:solidFill>
                  <a:srgbClr val="2E75B6"/>
                </a:solidFill>
                <a:latin typeface="Calibri"/>
              </a:rPr>
              <a:t>CRITERIOS DE INTEGRACIÓN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1371600"/>
            <a:ext cx="3749039" cy="36576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7200" y="1554480"/>
            <a:ext cx="3749039" cy="658368"/>
          </a:xfrm>
          <a:prstGeom prst="rect">
            <a:avLst/>
          </a:prstGeom>
          <a:solidFill>
            <a:srgbClr val="E8EA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57200" y="1554480"/>
            <a:ext cx="64008" cy="658368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1792" y="1591056"/>
            <a:ext cx="3520439" cy="27432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100" b="1">
                <a:solidFill>
                  <a:srgbClr val="123A5E"/>
                </a:solidFill>
                <a:latin typeface="Calibri"/>
              </a:rPr>
              <a:t>SCADA–PMS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792" y="1865376"/>
            <a:ext cx="3520439" cy="329184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950" b="0">
                <a:solidFill>
                  <a:srgbClr val="222A35"/>
                </a:solidFill>
                <a:latin typeface="Calibri"/>
              </a:rPr>
              <a:t>Enlace directo punto a punto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2267712"/>
            <a:ext cx="3749039" cy="658368"/>
          </a:xfrm>
          <a:prstGeom prst="rect">
            <a:avLst/>
          </a:prstGeom>
          <a:solidFill>
            <a:srgbClr val="E8EA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57200" y="2267712"/>
            <a:ext cx="64008" cy="658368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1792" y="2304288"/>
            <a:ext cx="3520439" cy="27432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100" b="1">
                <a:solidFill>
                  <a:srgbClr val="123A5E"/>
                </a:solidFill>
                <a:latin typeface="Calibri"/>
              </a:rPr>
              <a:t>PMS–SCADA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1792" y="2578608"/>
            <a:ext cx="3520439" cy="329184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950" b="0">
                <a:solidFill>
                  <a:srgbClr val="222A35"/>
                </a:solidFill>
                <a:latin typeface="Calibri"/>
              </a:rPr>
              <a:t>Modbus TCP redundante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2980944"/>
            <a:ext cx="3749039" cy="658368"/>
          </a:xfrm>
          <a:prstGeom prst="rect">
            <a:avLst/>
          </a:prstGeom>
          <a:solidFill>
            <a:srgbClr val="E8EA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57200" y="2980944"/>
            <a:ext cx="64008" cy="658368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21792" y="3017520"/>
            <a:ext cx="3520439" cy="27432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100" b="1">
                <a:solidFill>
                  <a:srgbClr val="123A5E"/>
                </a:solidFill>
                <a:latin typeface="Calibri"/>
              </a:rPr>
              <a:t>Red IEC 61850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1792" y="3291840"/>
            <a:ext cx="3520439" cy="329184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950" b="0">
                <a:solidFill>
                  <a:srgbClr val="222A35"/>
                </a:solidFill>
                <a:latin typeface="Calibri"/>
              </a:rPr>
              <a:t>Anillo redundante para IEDs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57200" y="3694176"/>
            <a:ext cx="3749039" cy="658368"/>
          </a:xfrm>
          <a:prstGeom prst="rect">
            <a:avLst/>
          </a:prstGeom>
          <a:solidFill>
            <a:srgbClr val="E8EA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57200" y="3694176"/>
            <a:ext cx="64008" cy="658368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21792" y="3730752"/>
            <a:ext cx="3520439" cy="27432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100" b="1">
                <a:solidFill>
                  <a:srgbClr val="123A5E"/>
                </a:solidFill>
                <a:latin typeface="Calibri"/>
              </a:rPr>
              <a:t>PROFINET CPF2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1792" y="4005072"/>
            <a:ext cx="3520439" cy="329184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950" b="0">
                <a:solidFill>
                  <a:srgbClr val="222A35"/>
                </a:solidFill>
                <a:latin typeface="Calibri"/>
              </a:rPr>
              <a:t>Redundante para UMCs y variadores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57200" y="4407408"/>
            <a:ext cx="3749039" cy="658368"/>
          </a:xfrm>
          <a:prstGeom prst="rect">
            <a:avLst/>
          </a:prstGeom>
          <a:solidFill>
            <a:srgbClr val="E8EA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57200" y="4407408"/>
            <a:ext cx="64008" cy="658368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21792" y="4443984"/>
            <a:ext cx="3520439" cy="27432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100" b="1">
                <a:solidFill>
                  <a:srgbClr val="123A5E"/>
                </a:solidFill>
                <a:latin typeface="Calibri"/>
              </a:rPr>
              <a:t>ModuleBus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21792" y="4718304"/>
            <a:ext cx="3520439" cy="329184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950" b="0">
                <a:solidFill>
                  <a:srgbClr val="222A35"/>
                </a:solidFill>
                <a:latin typeface="Calibri"/>
              </a:rPr>
              <a:t>Redundante a controladores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57200" y="5120640"/>
            <a:ext cx="3749039" cy="658368"/>
          </a:xfrm>
          <a:prstGeom prst="rect">
            <a:avLst/>
          </a:prstGeom>
          <a:solidFill>
            <a:srgbClr val="E8EA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457200" y="5120640"/>
            <a:ext cx="64008" cy="658368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21792" y="5157216"/>
            <a:ext cx="3520439" cy="27432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100" b="1">
                <a:solidFill>
                  <a:srgbClr val="123A5E"/>
                </a:solidFill>
                <a:latin typeface="Calibri"/>
              </a:rPr>
              <a:t>PCS PRP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21792" y="5431536"/>
            <a:ext cx="3520439" cy="329184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950" b="0">
                <a:solidFill>
                  <a:srgbClr val="222A35"/>
                </a:solidFill>
                <a:latin typeface="Calibri"/>
              </a:rPr>
              <a:t>Parallel Redundancy Protocol IEC 62439-3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343400" y="1051560"/>
            <a:ext cx="3749039" cy="32004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100" b="1">
                <a:solidFill>
                  <a:srgbClr val="C81E1E"/>
                </a:solidFill>
                <a:latin typeface="Calibri"/>
              </a:rPr>
              <a:t>ELEMENTOS NUEVOS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343400" y="1371600"/>
            <a:ext cx="3749039" cy="36576"/>
          </a:xfrm>
          <a:prstGeom prst="rect">
            <a:avLst/>
          </a:prstGeom>
          <a:solidFill>
            <a:srgbClr val="C8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4343400" y="1554480"/>
            <a:ext cx="3749039" cy="658368"/>
          </a:xfrm>
          <a:prstGeom prst="rect">
            <a:avLst/>
          </a:prstGeom>
          <a:solidFill>
            <a:srgbClr val="FAE3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4343400" y="1554480"/>
            <a:ext cx="64008" cy="658368"/>
          </a:xfrm>
          <a:prstGeom prst="rect">
            <a:avLst/>
          </a:prstGeom>
          <a:solidFill>
            <a:srgbClr val="C8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507992" y="1591056"/>
            <a:ext cx="3520439" cy="27432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100" b="1">
                <a:solidFill>
                  <a:srgbClr val="C81E1E"/>
                </a:solidFill>
                <a:latin typeface="Calibri"/>
              </a:rPr>
              <a:t>PCS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507992" y="1865376"/>
            <a:ext cx="3520439" cy="329184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950" b="0">
                <a:solidFill>
                  <a:srgbClr val="222A35"/>
                </a:solidFill>
                <a:latin typeface="Calibri"/>
              </a:rPr>
              <a:t>CPF2-PCS-SC-07a / CPF2-PCS-SC-07b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343400" y="2267712"/>
            <a:ext cx="3749039" cy="658368"/>
          </a:xfrm>
          <a:prstGeom prst="rect">
            <a:avLst/>
          </a:prstGeom>
          <a:solidFill>
            <a:srgbClr val="FAE3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4343400" y="2267712"/>
            <a:ext cx="64008" cy="658368"/>
          </a:xfrm>
          <a:prstGeom prst="rect">
            <a:avLst/>
          </a:prstGeom>
          <a:solidFill>
            <a:srgbClr val="C8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507992" y="2304288"/>
            <a:ext cx="3520439" cy="27432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100" b="1">
                <a:solidFill>
                  <a:srgbClr val="C81E1E"/>
                </a:solidFill>
                <a:latin typeface="Calibri"/>
              </a:rPr>
              <a:t>Comms OT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507992" y="2578608"/>
            <a:ext cx="3520439" cy="329184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950" b="0">
                <a:solidFill>
                  <a:srgbClr val="222A35"/>
                </a:solidFill>
                <a:latin typeface="Calibri"/>
              </a:rPr>
              <a:t>CPF-COM-07 / CPF-COM-SE3 / CPF-COM-SE4</a:t>
            </a:r>
          </a:p>
        </p:txBody>
      </p:sp>
      <p:sp>
        <p:nvSpPr>
          <p:cNvPr id="48" name="Rectangle 47"/>
          <p:cNvSpPr/>
          <p:nvPr/>
        </p:nvSpPr>
        <p:spPr>
          <a:xfrm>
            <a:off x="4343400" y="2980944"/>
            <a:ext cx="3749039" cy="658368"/>
          </a:xfrm>
          <a:prstGeom prst="rect">
            <a:avLst/>
          </a:prstGeom>
          <a:solidFill>
            <a:srgbClr val="FAE3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4343400" y="2980944"/>
            <a:ext cx="64008" cy="658368"/>
          </a:xfrm>
          <a:prstGeom prst="rect">
            <a:avLst/>
          </a:prstGeom>
          <a:solidFill>
            <a:srgbClr val="C8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4507992" y="3017520"/>
            <a:ext cx="3520439" cy="27432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100" b="1">
                <a:solidFill>
                  <a:srgbClr val="C81E1E"/>
                </a:solidFill>
                <a:latin typeface="Calibri"/>
              </a:rPr>
              <a:t>PMS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507992" y="3291840"/>
            <a:ext cx="3520439" cy="329184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950" b="0">
                <a:solidFill>
                  <a:srgbClr val="222A35"/>
                </a:solidFill>
                <a:latin typeface="Calibri"/>
              </a:rPr>
              <a:t>Comunicaciones PMS redundante</a:t>
            </a:r>
          </a:p>
        </p:txBody>
      </p:sp>
      <p:sp>
        <p:nvSpPr>
          <p:cNvPr id="52" name="Rectangle 51"/>
          <p:cNvSpPr/>
          <p:nvPr/>
        </p:nvSpPr>
        <p:spPr>
          <a:xfrm>
            <a:off x="4343400" y="3694176"/>
            <a:ext cx="3749039" cy="658368"/>
          </a:xfrm>
          <a:prstGeom prst="rect">
            <a:avLst/>
          </a:prstGeom>
          <a:solidFill>
            <a:srgbClr val="FAE3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4343400" y="3694176"/>
            <a:ext cx="64008" cy="658368"/>
          </a:xfrm>
          <a:prstGeom prst="rect">
            <a:avLst/>
          </a:prstGeom>
          <a:solidFill>
            <a:srgbClr val="C8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4507992" y="3730752"/>
            <a:ext cx="3520439" cy="27432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100" b="1">
                <a:solidFill>
                  <a:srgbClr val="C81E1E"/>
                </a:solidFill>
                <a:latin typeface="Calibri"/>
              </a:rPr>
              <a:t>PMS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507992" y="4005072"/>
            <a:ext cx="3520439" cy="329184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950" b="0">
                <a:solidFill>
                  <a:srgbClr val="222A35"/>
                </a:solidFill>
                <a:latin typeface="Calibri"/>
              </a:rPr>
              <a:t>Extensión a SE #3 y SE #4 (controladores red.)</a:t>
            </a:r>
          </a:p>
        </p:txBody>
      </p:sp>
      <p:sp>
        <p:nvSpPr>
          <p:cNvPr id="56" name="Rectangle 55"/>
          <p:cNvSpPr/>
          <p:nvPr/>
        </p:nvSpPr>
        <p:spPr>
          <a:xfrm>
            <a:off x="4343400" y="4407408"/>
            <a:ext cx="3749039" cy="658368"/>
          </a:xfrm>
          <a:prstGeom prst="rect">
            <a:avLst/>
          </a:prstGeom>
          <a:solidFill>
            <a:srgbClr val="FAE3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4343400" y="4407408"/>
            <a:ext cx="64008" cy="658368"/>
          </a:xfrm>
          <a:prstGeom prst="rect">
            <a:avLst/>
          </a:prstGeom>
          <a:solidFill>
            <a:srgbClr val="C8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4507992" y="4443984"/>
            <a:ext cx="3520439" cy="27432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100" b="1">
                <a:solidFill>
                  <a:srgbClr val="C81E1E"/>
                </a:solidFill>
                <a:latin typeface="Calibri"/>
              </a:rPr>
              <a:t>Ensayos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507992" y="4718304"/>
            <a:ext cx="3520439" cy="329184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950" b="0">
                <a:solidFill>
                  <a:srgbClr val="222A35"/>
                </a:solidFill>
                <a:latin typeface="Calibri"/>
              </a:rPr>
              <a:t>FAT integral en planta Inauco (Neuquén)</a:t>
            </a:r>
          </a:p>
        </p:txBody>
      </p:sp>
      <p:sp>
        <p:nvSpPr>
          <p:cNvPr id="60" name="Rectangle 59"/>
          <p:cNvSpPr/>
          <p:nvPr/>
        </p:nvSpPr>
        <p:spPr>
          <a:xfrm>
            <a:off x="4343400" y="5120640"/>
            <a:ext cx="3749039" cy="658368"/>
          </a:xfrm>
          <a:prstGeom prst="rect">
            <a:avLst/>
          </a:prstGeom>
          <a:solidFill>
            <a:srgbClr val="FAE3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4343400" y="5120640"/>
            <a:ext cx="64008" cy="658368"/>
          </a:xfrm>
          <a:prstGeom prst="rect">
            <a:avLst/>
          </a:prstGeom>
          <a:solidFill>
            <a:srgbClr val="C8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4507992" y="5157216"/>
            <a:ext cx="3520439" cy="27432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100" b="1">
                <a:solidFill>
                  <a:srgbClr val="C81E1E"/>
                </a:solidFill>
                <a:latin typeface="Calibri"/>
              </a:rPr>
              <a:t>Ensayos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4507992" y="5431536"/>
            <a:ext cx="3520439" cy="329184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950" b="0">
                <a:solidFill>
                  <a:srgbClr val="222A35"/>
                </a:solidFill>
                <a:latin typeface="Calibri"/>
              </a:rPr>
              <a:t>FAT SIS con apoyo HIMA (simulación)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8229600" y="1051560"/>
            <a:ext cx="3657600" cy="32004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100" b="1">
                <a:solidFill>
                  <a:srgbClr val="2E75B6"/>
                </a:solidFill>
                <a:latin typeface="Calibri"/>
              </a:rPr>
              <a:t>DOCUMENTOS DE REFERENCIA</a:t>
            </a:r>
          </a:p>
        </p:txBody>
      </p:sp>
      <p:sp>
        <p:nvSpPr>
          <p:cNvPr id="65" name="Rectangle 64"/>
          <p:cNvSpPr/>
          <p:nvPr/>
        </p:nvSpPr>
        <p:spPr>
          <a:xfrm>
            <a:off x="8229600" y="1371600"/>
            <a:ext cx="3657600" cy="36576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8229600" y="1554480"/>
            <a:ext cx="3657600" cy="658368"/>
          </a:xfrm>
          <a:prstGeom prst="rect">
            <a:avLst/>
          </a:prstGeom>
          <a:solidFill>
            <a:srgbClr val="12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8366760" y="1591056"/>
            <a:ext cx="3474720" cy="27432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Calibri"/>
              </a:rPr>
              <a:t>ACAL-100-PL-K-100 Rev 11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8366760" y="1865376"/>
            <a:ext cx="3474720" cy="329184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900" b="0">
                <a:solidFill>
                  <a:srgbClr val="E8EFF7"/>
                </a:solidFill>
                <a:latin typeface="Calibri"/>
              </a:rPr>
              <a:t>Arquitectura PCS (Rockwell)</a:t>
            </a:r>
          </a:p>
        </p:txBody>
      </p:sp>
      <p:sp>
        <p:nvSpPr>
          <p:cNvPr id="69" name="Rectangle 68"/>
          <p:cNvSpPr/>
          <p:nvPr/>
        </p:nvSpPr>
        <p:spPr>
          <a:xfrm>
            <a:off x="8229600" y="2267712"/>
            <a:ext cx="3657600" cy="658368"/>
          </a:xfrm>
          <a:prstGeom prst="rect">
            <a:avLst/>
          </a:prstGeom>
          <a:solidFill>
            <a:srgbClr val="12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8366760" y="2304288"/>
            <a:ext cx="3474720" cy="27432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Calibri"/>
              </a:rPr>
              <a:t>ACAL-100-PL-K-551 Rev A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8366760" y="2578608"/>
            <a:ext cx="3474720" cy="329184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900" b="0">
                <a:solidFill>
                  <a:srgbClr val="E8EFF7"/>
                </a:solidFill>
                <a:latin typeface="Calibri"/>
              </a:rPr>
              <a:t>Arquitectura SIS (HIMA)</a:t>
            </a:r>
          </a:p>
        </p:txBody>
      </p:sp>
      <p:sp>
        <p:nvSpPr>
          <p:cNvPr id="72" name="Rectangle 71"/>
          <p:cNvSpPr/>
          <p:nvPr/>
        </p:nvSpPr>
        <p:spPr>
          <a:xfrm>
            <a:off x="8229600" y="2980944"/>
            <a:ext cx="3657600" cy="658368"/>
          </a:xfrm>
          <a:prstGeom prst="rect">
            <a:avLst/>
          </a:prstGeom>
          <a:solidFill>
            <a:srgbClr val="12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8366760" y="3017520"/>
            <a:ext cx="3474720" cy="27432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Calibri"/>
              </a:rPr>
              <a:t>ACAL-00102-PL-O-0001 Rev A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8366760" y="3291840"/>
            <a:ext cx="3474720" cy="329184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900" b="0">
                <a:solidFill>
                  <a:srgbClr val="E8EFF7"/>
                </a:solidFill>
                <a:latin typeface="Calibri"/>
              </a:rPr>
              <a:t>Comunicaciones OT — bloques</a:t>
            </a:r>
          </a:p>
        </p:txBody>
      </p:sp>
      <p:sp>
        <p:nvSpPr>
          <p:cNvPr id="75" name="Rectangle 74"/>
          <p:cNvSpPr/>
          <p:nvPr/>
        </p:nvSpPr>
        <p:spPr>
          <a:xfrm>
            <a:off x="8229600" y="3694176"/>
            <a:ext cx="3657600" cy="658368"/>
          </a:xfrm>
          <a:prstGeom prst="rect">
            <a:avLst/>
          </a:prstGeom>
          <a:solidFill>
            <a:srgbClr val="12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8366760" y="3730752"/>
            <a:ext cx="3474720" cy="27432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Calibri"/>
              </a:rPr>
              <a:t>ACAL-00102-LS-K-0001-0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8366760" y="4005072"/>
            <a:ext cx="3474720" cy="329184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900" b="0">
                <a:solidFill>
                  <a:srgbClr val="E8EFF7"/>
                </a:solidFill>
                <a:latin typeface="Calibri"/>
              </a:rPr>
              <a:t>Lista de señales (I/O)</a:t>
            </a:r>
          </a:p>
        </p:txBody>
      </p:sp>
      <p:sp>
        <p:nvSpPr>
          <p:cNvPr id="78" name="Rectangle 77"/>
          <p:cNvSpPr/>
          <p:nvPr/>
        </p:nvSpPr>
        <p:spPr>
          <a:xfrm>
            <a:off x="8229600" y="4407408"/>
            <a:ext cx="3657600" cy="658368"/>
          </a:xfrm>
          <a:prstGeom prst="rect">
            <a:avLst/>
          </a:prstGeom>
          <a:solidFill>
            <a:srgbClr val="12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8366760" y="4443984"/>
            <a:ext cx="3474720" cy="27432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Calibri"/>
              </a:rPr>
              <a:t>OFT-128-008 Rev 3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8366760" y="4718304"/>
            <a:ext cx="3474720" cy="329184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900" b="0">
                <a:solidFill>
                  <a:srgbClr val="E8EFF7"/>
                </a:solidFill>
                <a:latin typeface="Calibri"/>
              </a:rPr>
              <a:t>Oferta técnica Inauco — alcance</a:t>
            </a:r>
          </a:p>
        </p:txBody>
      </p:sp>
      <p:sp>
        <p:nvSpPr>
          <p:cNvPr id="81" name="Rectangle 80"/>
          <p:cNvSpPr/>
          <p:nvPr/>
        </p:nvSpPr>
        <p:spPr>
          <a:xfrm>
            <a:off x="8229600" y="5120640"/>
            <a:ext cx="3657600" cy="658368"/>
          </a:xfrm>
          <a:prstGeom prst="rect">
            <a:avLst/>
          </a:prstGeom>
          <a:solidFill>
            <a:srgbClr val="12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8366760" y="5157216"/>
            <a:ext cx="3474720" cy="27432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Calibri"/>
              </a:rPr>
              <a:t>Anexo III F4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8366760" y="5431536"/>
            <a:ext cx="3474720" cy="329184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900" b="0">
                <a:solidFill>
                  <a:srgbClr val="E8EFF7"/>
                </a:solidFill>
                <a:latin typeface="Calibri"/>
              </a:rPr>
              <a:t>SCADA ELE/PMS ABB — integración</a:t>
            </a:r>
          </a:p>
        </p:txBody>
      </p:sp>
      <p:sp>
        <p:nvSpPr>
          <p:cNvPr id="84" name="Rectangle 83"/>
          <p:cNvSpPr/>
          <p:nvPr/>
        </p:nvSpPr>
        <p:spPr>
          <a:xfrm>
            <a:off x="457200" y="5989320"/>
            <a:ext cx="11365992" cy="457200"/>
          </a:xfrm>
          <a:prstGeom prst="rect">
            <a:avLst/>
          </a:prstGeom>
          <a:solidFill>
            <a:srgbClr val="222A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640080" y="6053328"/>
            <a:ext cx="10972800" cy="36576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ctr"/>
            <a:r>
              <a:rPr sz="1000" b="0">
                <a:solidFill>
                  <a:srgbClr val="E8EFF7"/>
                </a:solidFill>
                <a:latin typeface="Calibri"/>
              </a:rPr>
              <a:t>Presentación elaborada sobre base de documentación de Pluspetrol, AESA, Inauco, HIMA y ABB — Mayo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