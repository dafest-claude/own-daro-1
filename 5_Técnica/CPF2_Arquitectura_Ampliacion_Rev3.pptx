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91695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914400"/>
            <a:ext cx="20116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20116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6E7684"/>
                </a:solidFill>
                <a:latin typeface="Calibri"/>
              </a:rPr>
              <a:t>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20116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2000" b="1">
                <a:solidFill>
                  <a:srgbClr val="123A5E"/>
                </a:solidFill>
                <a:latin typeface="Calibri"/>
              </a:rPr>
              <a:t>ID 129-008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914400"/>
            <a:ext cx="2743200" cy="822960"/>
          </a:xfrm>
          <a:prstGeom prst="rect">
            <a:avLst/>
          </a:prstGeom>
          <a:solidFill>
            <a:srgbClr val="123A5E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960120"/>
            <a:ext cx="27432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E8EFF7"/>
                </a:solidFill>
                <a:latin typeface="Calibri"/>
              </a:rPr>
              <a:t>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234440"/>
            <a:ext cx="274320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Pluspetrol — AESA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Calibri"/>
              </a:rPr>
              <a:t>CPF 2 — LA CALERA · 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Ampliación de Arquitectura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de Control, Seguridad y PMS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2286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10698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0">
                <a:solidFill>
                  <a:srgbClr val="E8EFF7"/>
                </a:solidFill>
                <a:latin typeface="Calibri"/>
              </a:rPr>
              <a:t>Rockwell PCS  ·  HIMA SIS  ·  ABB PMS  ·  Comunicaciones 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Calibri"/>
              </a:rPr>
              <a:t>YACIMIENTO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76672"/>
            <a:ext cx="3474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 Calera · Vaca Muerta · Neuquén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5120640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Calibri"/>
              </a:rPr>
              <a:t>OFERTA DE REFERENCIA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5376672"/>
            <a:ext cx="3474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OFT-128-008 Rev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120640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2E75B6"/>
                </a:solidFill>
                <a:latin typeface="Calibri"/>
              </a:rPr>
              <a:t>FECHA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376672"/>
            <a:ext cx="3474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23 / 05 /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19088"/>
            <a:ext cx="73152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8EFF7"/>
                </a:solidFill>
                <a:latin typeface="Calibri"/>
              </a:rPr>
              <a:t>Presentación técnica de arquitectura de ampliación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419088"/>
            <a:ext cx="15544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000" b="1">
                <a:solidFill>
                  <a:srgbClr val="E8EFF7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Introducción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2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Objetivo y alcance de la presentación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Sistemas cubiertos y código visual utilizado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56692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ALCANCE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566928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463040"/>
            <a:ext cx="5669280" cy="1371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222A35"/>
                </a:solidFill>
                <a:latin typeface="Calibri"/>
              </a:rPr>
              <a:t>Presentar la arquitectura actual del yacimiento y la ampliación requerida sobre los sistemas instalados y operativos.</a:t>
            </a:r>
          </a:p>
          <a:p>
            <a:pPr algn="l"/>
            <a:r>
              <a:rPr sz="1300" b="0">
                <a:solidFill>
                  <a:srgbClr val="222A35"/>
                </a:solidFill>
                <a:latin typeface="Calibri"/>
              </a:rPr>
              <a:t>Foco en puntos de integración, redes, y elementos que se incorporan (controladores, remotas, gabinetes y comunicaciones).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56692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SISTEMAS CUBIERTOS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29000"/>
            <a:ext cx="566928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8"/>
            <a:ext cx="640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61188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630168"/>
            <a:ext cx="49377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Sistema de Control de Procesos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58768"/>
            <a:ext cx="49377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Rockwell ControlLogix 1756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1480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178808"/>
            <a:ext cx="640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11480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133088"/>
            <a:ext cx="49377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Sistema Instrumentado de Seguridad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361688"/>
            <a:ext cx="49377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HIMA Planar4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81728"/>
            <a:ext cx="640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461772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636008"/>
            <a:ext cx="49377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Power Management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864608"/>
            <a:ext cx="49377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ABB 800xA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120640"/>
            <a:ext cx="640080" cy="43891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184648"/>
            <a:ext cx="640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5120640"/>
            <a:ext cx="5029200" cy="43891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138928"/>
            <a:ext cx="493776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23A5E"/>
                </a:solidFill>
                <a:latin typeface="Calibri"/>
              </a:rPr>
              <a:t>Comunicaciones 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367528"/>
            <a:ext cx="4937760" cy="219456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Ethernet / FO · PRP · Modbus TCP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1051560"/>
            <a:ext cx="50292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CÓDIGO VISUAL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1371600"/>
            <a:ext cx="50292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75120" y="1645920"/>
            <a:ext cx="5029200" cy="1371600"/>
          </a:xfrm>
          <a:prstGeom prst="rect">
            <a:avLst/>
          </a:prstGeom>
          <a:solidFill>
            <a:srgbClr val="DCF1E2"/>
          </a:solidFill>
          <a:ln w="31750">
            <a:solidFill>
              <a:srgbClr val="2E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1783080"/>
            <a:ext cx="46634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2EA64B"/>
                </a:solidFill>
                <a:latin typeface="Calibri"/>
              </a:rPr>
              <a:t>INSTALADO / EXISTENTE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2148840"/>
            <a:ext cx="4663440" cy="8229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222A35"/>
                </a:solidFill>
                <a:latin typeface="Calibri"/>
              </a:rPr>
              <a:t>Equipos y redes ya operativas en el yacimiento. Se mantienen sin modificación funcional; sirven de base para la integración.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200400"/>
            <a:ext cx="5029200" cy="2103120"/>
          </a:xfrm>
          <a:prstGeom prst="rect">
            <a:avLst/>
          </a:prstGeom>
          <a:solidFill>
            <a:srgbClr val="FAE3E3"/>
          </a:solidFill>
          <a:ln w="317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310128"/>
            <a:ext cx="46634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C81E1E"/>
                </a:solidFill>
                <a:latin typeface="Calibri"/>
              </a:rPr>
              <a:t>AMPLIACIÓN CPF 2 FASE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657600"/>
            <a:ext cx="4663440" cy="7772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222A35"/>
                </a:solidFill>
                <a:latin typeface="Calibri"/>
              </a:rPr>
              <a:t>Elementos NUEVOS a incorporar como parte del alcance Inauco: tableros, controladores, switches, cableado y configuración SCADA.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407408"/>
            <a:ext cx="46634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AMPLIACIÓN DEL SISTEMA DE SEGURIDAD HIMA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663440"/>
            <a:ext cx="4663440" cy="640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222A35"/>
                </a:solidFill>
                <a:latin typeface="Calibri"/>
              </a:rPr>
              <a:t>También se amplía HIMA a nivel de ESD, F&amp;G, PSS y USS — las tres redes principales de HIMA en CPF La Calera.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5440680"/>
            <a:ext cx="5029200" cy="86868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5504688"/>
            <a:ext cx="46634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DOCUMENTO BASE  ·  OFT-128-008 Rev 3 — TÉCNICA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852160"/>
            <a:ext cx="466344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8EFF7"/>
                </a:solidFill>
                <a:latin typeface="Calibri"/>
              </a:rPr>
              <a:t>Inauco · 23 / 05 / 2026 · Obra ID 129-008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PCS — Rockwell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3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PCS Rockwell — Arquitectura existente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Documento de referencia: ACAL-100-PL-K-100 Rev 11</a:t>
            </a:r>
          </a:p>
        </p:txBody>
      </p:sp>
      <p:pic>
        <p:nvPicPr>
          <p:cNvPr id="12" name="Picture 11" descr="slide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113027" cy="5029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1097280"/>
            <a:ext cx="8321040" cy="502920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097280"/>
            <a:ext cx="292608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REFERENCIAS PCS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417320"/>
            <a:ext cx="292608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1600200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06840" y="1600200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1645920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6 shelters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1947672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Remotas distribuidas en planta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487168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2487168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2532888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ControlLogix 1756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834640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Chasis A13 redundantes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3374136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3374136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3419856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Comm. EN2TP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3721608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Ethernet/IP con PRP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4261104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06840" y="4261104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2" y="4306824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Stratix 5200/5800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4608576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Backbone OT administrado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5148072"/>
            <a:ext cx="2926080" cy="777240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06840" y="5148072"/>
            <a:ext cx="73152" cy="7772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1432" y="5193792"/>
            <a:ext cx="2697480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23A5E"/>
                </a:solidFill>
                <a:latin typeface="Calibri"/>
              </a:rPr>
              <a:t>Fibra Óptica MM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2" y="5495544"/>
            <a:ext cx="269748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Anillos redundantes entre shelters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PCS — Ampliación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4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PCS Rockwell — Ampliación propuesta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Incorporación de controladores y gabinetes de E/S en CPF 2 Fase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960120"/>
            <a:ext cx="5212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INTEGRACIÓN A LA RED DE CONTROL EXISTENTE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21208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5212080" cy="30175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" y="1325880"/>
            <a:ext cx="5212080" cy="301752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8"/>
            <a:ext cx="5212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Switches LAN-A / LAN-B redundantes  ·  Conexión a anillo PRP existente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2120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ELEMENTOS NUEVOS — HARDWARE Y 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74920"/>
            <a:ext cx="5212080" cy="2743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5303520"/>
            <a:ext cx="1124712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CPF2-PCS-SC-07a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5724144"/>
            <a:ext cx="1124712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2 columnas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3736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92224" y="5303520"/>
            <a:ext cx="1124712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CPF2-PCS-SC-07b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92224" y="5724144"/>
            <a:ext cx="1124712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1 columna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1752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72384" y="5303520"/>
            <a:ext cx="1124712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Stratix 5800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2384" y="5724144"/>
            <a:ext cx="1124712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Switch redundante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5193792"/>
            <a:ext cx="1234440" cy="9144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5193792"/>
            <a:ext cx="1234440" cy="54864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52544" y="5303520"/>
            <a:ext cx="1124712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C81E1E"/>
                </a:solidFill>
                <a:latin typeface="Calibri"/>
              </a:rPr>
              <a:t>Red PRP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2544" y="5724144"/>
            <a:ext cx="1124712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222A35"/>
                </a:solidFill>
                <a:latin typeface="Calibri"/>
              </a:rPr>
              <a:t>IEC 62439-3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960120"/>
            <a:ext cx="60807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DETALLE DE TABLEROS — SHELTER REMOTA 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1234440"/>
            <a:ext cx="608076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52160" y="1371600"/>
            <a:ext cx="2926080" cy="29260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25312" y="1389888"/>
            <a:ext cx="2779776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REMOTA 7A  ·  NUEVA</a:t>
            </a:r>
          </a:p>
        </p:txBody>
      </p:sp>
      <p:pic>
        <p:nvPicPr>
          <p:cNvPr id="39" name="Picture 38" descr="slide5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691640"/>
            <a:ext cx="2926080" cy="224028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852160" y="1691640"/>
            <a:ext cx="2926080" cy="2240280"/>
          </a:xfrm>
          <a:prstGeom prst="rect">
            <a:avLst/>
          </a:prstGeom>
          <a:noFill/>
          <a:ln w="317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06840" y="1371600"/>
            <a:ext cx="2926080" cy="29260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79992" y="1389888"/>
            <a:ext cx="2779776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REMOTA 7B  ·  NUEVA</a:t>
            </a:r>
          </a:p>
        </p:txBody>
      </p:sp>
      <p:pic>
        <p:nvPicPr>
          <p:cNvPr id="43" name="Picture 42" descr="slide5_im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691640"/>
            <a:ext cx="2926080" cy="224028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9006840" y="1691640"/>
            <a:ext cx="2926080" cy="2240280"/>
          </a:xfrm>
          <a:prstGeom prst="rect">
            <a:avLst/>
          </a:prstGeom>
          <a:noFill/>
          <a:ln w="317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52160" y="4069080"/>
            <a:ext cx="6080760" cy="1097280"/>
          </a:xfrm>
          <a:prstGeom prst="rect">
            <a:avLst/>
          </a:prstGeom>
          <a:solidFill>
            <a:srgbClr val="FAE3E3"/>
          </a:solidFill>
          <a:ln w="190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52160" y="4069080"/>
            <a:ext cx="137160" cy="10972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0760" y="4123944"/>
            <a:ext cx="5760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▸  PUNTO CLAVE DE LA AMPLIACIÓN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4379976"/>
            <a:ext cx="5760720" cy="7315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Se adicionan DOS NUEVAS REMOTAS (7A y 7B) con sus gabinetes, switches y cableado. Los CONTROLADORES ControlLogix existentes en el Shelter 6 se reinstalarán en uno de los tableros de las nuevas remotas — posiblemente en la REMOTA 7B (a evaluar). Ambas se integran al anillo PRP existente vía los switches LAN-A / LAN-B.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5257800"/>
            <a:ext cx="6080760" cy="320040"/>
          </a:xfrm>
          <a:prstGeom prst="rect">
            <a:avLst/>
          </a:prstGeom>
          <a:solidFill>
            <a:srgbClr val="DCF1E2"/>
          </a:solidFill>
          <a:ln w="12700">
            <a:solidFill>
              <a:srgbClr val="2E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52160" y="5257800"/>
            <a:ext cx="137160" cy="32004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0760" y="5303520"/>
            <a:ext cx="576072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A64B"/>
                </a:solidFill>
                <a:latin typeface="Calibri"/>
              </a:rPr>
              <a:t>●  CONTROLADORES EXISTENTES — se reubican desde Shelter 6 (a evaluar)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52160" y="5669280"/>
            <a:ext cx="60807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HARDWARE NUEVO EN REMOTAS 7A Y 7B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5943600"/>
            <a:ext cx="608076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70448" y="6035040"/>
            <a:ext cx="73152" cy="1828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89320" y="6016752"/>
            <a:ext cx="21945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123A5E"/>
                </a:solidFill>
                <a:latin typeface="Calibri"/>
              </a:rPr>
              <a:t>Chasis 1756-A13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80" y="6016752"/>
            <a:ext cx="3749039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EN2TP + MVI56E-MNETCR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70448" y="6236208"/>
            <a:ext cx="73152" cy="1828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89320" y="6217920"/>
            <a:ext cx="21945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123A5E"/>
                </a:solidFill>
                <a:latin typeface="Calibri"/>
              </a:rPr>
              <a:t>Módulos HART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3880" y="6217920"/>
            <a:ext cx="3749039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IF16H / OF8H · IB32 / OB32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Inventario de señales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5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Señales a incorporar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Listado de I/O — referencia OFT-128-008 Rev 3 y ACAL-00102-LS-K-0001</a:t>
            </a:r>
          </a:p>
        </p:txBody>
      </p:sp>
      <p:pic>
        <p:nvPicPr>
          <p:cNvPr id="12" name="Picture 11" descr="slide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3591161" cy="50749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1051560"/>
            <a:ext cx="7040880" cy="507492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1051560"/>
            <a:ext cx="420624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RESUMEN CUANTITATIVO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1371600"/>
            <a:ext cx="420624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160020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79" y="1600200"/>
            <a:ext cx="109728" cy="987552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1655064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PCS-007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892808"/>
            <a:ext cx="393192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123A5E"/>
                </a:solidFill>
                <a:latin typeface="Calibri"/>
              </a:rPr>
              <a:t>330 señales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27685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PCS nuevas Remota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269748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79" y="2697480"/>
            <a:ext cx="109728" cy="98755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2752344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PSS-007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990088"/>
            <a:ext cx="393192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C81E1E"/>
                </a:solidFill>
                <a:latin typeface="Calibri"/>
              </a:rPr>
              <a:t>644 señales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37413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Seguridad HIMA Remota 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379476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26679" y="3794760"/>
            <a:ext cx="109728" cy="98755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849624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ESD-007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087368"/>
            <a:ext cx="393192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C81E1E"/>
                </a:solidFill>
                <a:latin typeface="Calibri"/>
              </a:rPr>
              <a:t>243 señales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47141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Shutdown remota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4892040"/>
            <a:ext cx="4206240" cy="987552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26679" y="4892040"/>
            <a:ext cx="109728" cy="9875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4946904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6E7684"/>
                </a:solidFill>
                <a:latin typeface="Calibri"/>
              </a:rPr>
              <a:t>Equipos paquete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184648"/>
            <a:ext cx="393192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Calibri"/>
              </a:rPr>
              <a:t>≈ 500 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5568696"/>
            <a:ext cx="39319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10 skids · 50 vars c/u (Modbus)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SIS — HIMA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6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SIS HIMA — Ampliación sobre arquitectura existente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Documento de referencia: ACAL-100-PL-K-551 Rev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960120"/>
            <a:ext cx="68580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ARQUITECTURA SIS HIMA — VISTA GENERAL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6858000" cy="2743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858000" cy="40233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" y="1325880"/>
            <a:ext cx="6858000" cy="402336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0" y="2651760"/>
            <a:ext cx="2377440" cy="1645920"/>
          </a:xfrm>
          <a:prstGeom prst="rect">
            <a:avLst/>
          </a:prstGeom>
          <a:noFill/>
          <a:ln w="3810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0" y="2359152"/>
            <a:ext cx="2377440" cy="27432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33472" y="2377440"/>
            <a:ext cx="2286000" cy="23774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▸  ZONA DE AMPLIACIÓN — SHELTER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6858000" cy="640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222A35"/>
                </a:solidFill>
                <a:latin typeface="Calibri"/>
              </a:rPr>
              <a:t>AMPLIACIÓN SHELTER 7 (HIMA):  se instalan los TABLEROS DE I/O para ESD/F&amp;G y PSS, conectados a las redes de los controladores HIMA correspondientes. La plataforma HIMA Planar4 actual se mantiene sin cambios.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960120"/>
            <a:ext cx="44348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C81E1E"/>
                </a:solidFill>
                <a:latin typeface="Calibri"/>
              </a:rPr>
              <a:t>REDES AFECTADAS POR LA AMPLIACIÓN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1234440"/>
            <a:ext cx="4434840" cy="27432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1417320"/>
            <a:ext cx="4434840" cy="29260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19" y="1453896"/>
            <a:ext cx="4251960" cy="23774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  Redes HIMA — ESD / F&amp;G / PSS / USS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1746504"/>
            <a:ext cx="4434840" cy="457200"/>
          </a:xfrm>
          <a:prstGeom prst="rect">
            <a:avLst/>
          </a:prstGeom>
          <a:solidFill>
            <a:srgbClr val="D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1746504"/>
            <a:ext cx="73152" cy="45720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1" y="1783080"/>
            <a:ext cx="42062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Existente: controladores HIMA Planar4 (sin cambios)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2240280"/>
            <a:ext cx="4434840" cy="4572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79" y="2240280"/>
            <a:ext cx="73152" cy="4572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62671" y="2276856"/>
            <a:ext cx="42062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222A35"/>
                </a:solidFill>
                <a:latin typeface="Calibri"/>
              </a:rPr>
              <a:t>+ Nuevo: tableros I/O ESD/F&amp;G + I/O PSS en Shelter 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2880360"/>
            <a:ext cx="4434840" cy="29260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19" y="2916936"/>
            <a:ext cx="4251960" cy="23774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2.  Red OPC ↔ SCADA 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3209544"/>
            <a:ext cx="4434840" cy="457200"/>
          </a:xfrm>
          <a:prstGeom prst="rect">
            <a:avLst/>
          </a:prstGeom>
          <a:solidFill>
            <a:srgbClr val="D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3209544"/>
            <a:ext cx="73152" cy="45720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62671" y="3246120"/>
            <a:ext cx="42062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Existente: vínculo OPC con plataforma HIMA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3703320"/>
            <a:ext cx="4434840" cy="4572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98079" y="3703320"/>
            <a:ext cx="73152" cy="4572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2671" y="3739896"/>
            <a:ext cx="42062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222A35"/>
                </a:solidFill>
                <a:latin typeface="Calibri"/>
              </a:rPr>
              <a:t>+ Nuevos tags Shelter 7 (ESD, F&amp;G, PSS, USS)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4343400"/>
            <a:ext cx="4434840" cy="29260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19" y="4379976"/>
            <a:ext cx="4251960" cy="23774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3.  SCADA SIS — Pantallas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672584"/>
            <a:ext cx="4434840" cy="457200"/>
          </a:xfrm>
          <a:prstGeom prst="rect">
            <a:avLst/>
          </a:prstGeom>
          <a:solidFill>
            <a:srgbClr val="DC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98079" y="4672584"/>
            <a:ext cx="73152" cy="457200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62671" y="4709160"/>
            <a:ext cx="42062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Existente: pantallas operativas CPF 1 / 1.5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5166360"/>
            <a:ext cx="4434840" cy="45720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98079" y="5166360"/>
            <a:ext cx="73152" cy="45720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62671" y="5202936"/>
            <a:ext cx="4206240" cy="38404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222A35"/>
                </a:solidFill>
                <a:latin typeface="Calibri"/>
              </a:rPr>
              <a:t>+ Nuevas pantallas ESD/F&amp;G/PSS Shelter 7, matriz C&amp;E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79" y="5669280"/>
            <a:ext cx="4434840" cy="45720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19" y="5715000"/>
            <a:ext cx="42519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2E75B6"/>
                </a:solidFill>
                <a:latin typeface="Calibri"/>
              </a:rPr>
              <a:t>TABLEROS NUEVOS EN SHELTER 7 (HIMA)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19" y="5897880"/>
            <a:ext cx="425196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I/O ESD/F&amp;G  ·  I/O PSS  (entrega 01/07/2026)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Sistema PMS — ABB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7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PMS ABB — Existente vs. Ampliación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Arquitectura SCADA ELE / PMS — Anexo III Expansión CPF2-F4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05840"/>
            <a:ext cx="56235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>
                <a:solidFill>
                  <a:srgbClr val="2EA64B"/>
                </a:solidFill>
                <a:latin typeface="Calibri"/>
              </a:rPr>
              <a:t>ARQUITECTURA EXISTENTE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80160"/>
            <a:ext cx="5623560" cy="36576"/>
          </a:xfrm>
          <a:prstGeom prst="rect">
            <a:avLst/>
          </a:prstGeom>
          <a:solidFill>
            <a:srgbClr val="2E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005840"/>
            <a:ext cx="56235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1">
                <a:solidFill>
                  <a:srgbClr val="C81E1E"/>
                </a:solidFill>
                <a:latin typeface="Calibri"/>
              </a:rPr>
              <a:t>AMPLIACIÓN CPF 2 — SE3 + SE4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280160"/>
            <a:ext cx="5623560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623560" cy="397671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57200" y="1417320"/>
            <a:ext cx="5623560" cy="4206240"/>
          </a:xfrm>
          <a:prstGeom prst="rect">
            <a:avLst/>
          </a:prstGeom>
          <a:noFill/>
          <a:ln w="19050">
            <a:solidFill>
              <a:srgbClr val="2E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lide8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417320"/>
            <a:ext cx="5623560" cy="397671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199632" y="1417320"/>
            <a:ext cx="5623560" cy="4206240"/>
          </a:xfrm>
          <a:prstGeom prst="rect">
            <a:avLst/>
          </a:prstGeom>
          <a:noFill/>
          <a:ln w="19050">
            <a:solidFill>
              <a:srgbClr val="C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365992" cy="68580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09728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11556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2E75B6"/>
                </a:solidFill>
                <a:latin typeface="Calibri"/>
              </a:rPr>
              <a:t>INTEGRACIÓN PCS ↔ PMS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53328"/>
            <a:ext cx="111556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222A35"/>
                </a:solidFill>
                <a:latin typeface="Calibri"/>
              </a:rPr>
              <a:t>Modbus TCP redundante  ·  Red IEC 61850 anillo redundante  ·  PROFINET CPF2 para UMC y variadores  ·  ModuleBus redundante  ·  Pruebas integración: 5 días en Bs 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Comunicaciones 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8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Comunicaciones OT — Dispositivos a integrar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Diagrama en bloques: ACAL-00102-PL-O-0001 Rev A</a:t>
            </a:r>
          </a:p>
        </p:txBody>
      </p:sp>
      <p:pic>
        <p:nvPicPr>
          <p:cNvPr id="12" name="Picture 11" descr="slide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98418" cy="4572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  <a:ln w="12700">
            <a:solidFill>
              <a:srgbClr val="E8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097280"/>
            <a:ext cx="576072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DISPOSITIVOS A NIVEL CONTROLADOR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760720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60020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60020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64592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Skid Gas Comb. Generación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01168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Vínculo Modbus / nativo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60020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60020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164592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Skid Aire — Nitrógeno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01168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60604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260604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265176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3 Compresores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01752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Comm. dedicada por unidad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260604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260604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9448" y="265176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Skid Gas Comb. Compresores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301752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361188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361188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365760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Horno de Hot Oil (EAP-94201B)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02336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61188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361188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9448" y="365760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Calentadores del KOD (SKZZ-93110)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402336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61772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461772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466344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Bombas FlowServe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502920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Protocolo nativo + FactoryTalk (opc.)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617720"/>
            <a:ext cx="2788920" cy="868680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0" y="4617720"/>
            <a:ext cx="64008" cy="868680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99448" y="4663440"/>
            <a:ext cx="260604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PMS ABB — 2 salas eléctricas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99448" y="5029200"/>
            <a:ext cx="2606040" cy="411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Modbus TCP redundante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5760720"/>
            <a:ext cx="57607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81928" y="5815584"/>
            <a:ext cx="5541264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Infraestructura FO: patch panels 6/12/24 hilos · Switches ETH/FO · Cableado Cat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7315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6E7684"/>
                </a:solidFill>
                <a:latin typeface="Calibri"/>
              </a:rPr>
              <a:t>CPF2 La Calera Fase 2 — Ampliación de Arquitectura PCS / SIS / PMS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83680"/>
            <a:ext cx="32004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2E75B6"/>
                </a:solidFill>
                <a:latin typeface="Calibri"/>
              </a:rPr>
              <a:t>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83680"/>
            <a:ext cx="8229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900" b="1">
                <a:solidFill>
                  <a:srgbClr val="123A5E"/>
                </a:solidFill>
                <a:latin typeface="Calibri"/>
              </a:rPr>
              <a:t>9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1440"/>
            <a:ext cx="777240" cy="594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23A5E"/>
                </a:solidFill>
                <a:latin typeface="Calibri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572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Criterios de integración y resumen de ampliación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"/>
            <a:ext cx="10698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E8EFF7"/>
                </a:solidFill>
                <a:latin typeface="Calibri"/>
              </a:rPr>
              <a:t>Redundancia, elementos clave y documentación de referencia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3749039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CRITERIOS DE INTEGRACIÓN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3749039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554480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554480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591056"/>
            <a:ext cx="3520439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SIS HIMA ↔ SCADA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1828800"/>
            <a:ext cx="3520439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OPC con HIMA Planar4 (ESD/F&amp;G/PSS/USS)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76272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176272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212848"/>
            <a:ext cx="3520439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Redes HIMA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450592"/>
            <a:ext cx="3520439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ModuleBus a controladores SIS (existentes)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98064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798064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834640"/>
            <a:ext cx="3520439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SCADA–PMS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072384"/>
            <a:ext cx="3520439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Enlace directo punto a punto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19856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419856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456432"/>
            <a:ext cx="3520439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PMS–SCADA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694176"/>
            <a:ext cx="3520439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Modbus TCP redundante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41648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041648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078224"/>
            <a:ext cx="3520439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Red IEC 61850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4315968"/>
            <a:ext cx="3520439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Anillo redundante para IEDs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663440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663440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4700016"/>
            <a:ext cx="3520439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PROFINET CPF2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937760"/>
            <a:ext cx="3520439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Redundante para UMCs y variadores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285232"/>
            <a:ext cx="3749039" cy="566928"/>
          </a:xfrm>
          <a:prstGeom prst="rect">
            <a:avLst/>
          </a:prstGeom>
          <a:solidFill>
            <a:srgbClr val="E8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285232"/>
            <a:ext cx="64008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5321808"/>
            <a:ext cx="3520439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23A5E"/>
                </a:solidFill>
                <a:latin typeface="Calibri"/>
              </a:rPr>
              <a:t>PCS PRP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559552"/>
            <a:ext cx="3520439" cy="29260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222A35"/>
                </a:solidFill>
                <a:latin typeface="Calibri"/>
              </a:rPr>
              <a:t>Parallel Redundancy Protocol IEC 62439-3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1051560"/>
            <a:ext cx="3749039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ELEMENTOS NUEVOS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1371600"/>
            <a:ext cx="3749039" cy="36576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43400" y="1554480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1554480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07992" y="1591056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07992" y="1865376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Remotas 7A y 7B (CPF2-PCS-SC-07a/b)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43400" y="2267712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43400" y="2267712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07992" y="2304288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SIS HIMA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07992" y="2578608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Shelter 7: I/O ESD/F&amp;G + I/O PSS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2980944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43400" y="2980944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07992" y="3017520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Comms 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07992" y="3291840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CPF-COM-07 / CPF-COM-SE3 / CPF-COM-SE4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43400" y="3694176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43400" y="3694176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07992" y="3730752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PMS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07992" y="4005072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Comms redundante + SE #3 y SE #4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43400" y="4407408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43400" y="4407408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07992" y="4443984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Ensayos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07992" y="4718304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FAT integral en planta Inauco (Neuquén)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43400" y="5120640"/>
            <a:ext cx="3749039" cy="658368"/>
          </a:xfrm>
          <a:prstGeom prst="rect">
            <a:avLst/>
          </a:prstGeom>
          <a:solidFill>
            <a:srgbClr val="FA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43400" y="5120640"/>
            <a:ext cx="64008" cy="658368"/>
          </a:xfrm>
          <a:prstGeom prst="rect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07992" y="5157216"/>
            <a:ext cx="3520439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81E1E"/>
                </a:solidFill>
                <a:latin typeface="Calibri"/>
              </a:rPr>
              <a:t>Ensayos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07992" y="5431536"/>
            <a:ext cx="3520439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222A35"/>
                </a:solidFill>
                <a:latin typeface="Calibri"/>
              </a:rPr>
              <a:t>FAT SIS con apoyo HIMA (simulación)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1051560"/>
            <a:ext cx="36576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  <a:latin typeface="Calibri"/>
              </a:rPr>
              <a:t>DOCUMENTOS DE REFERENCIA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1371600"/>
            <a:ext cx="36576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29600" y="1554480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66760" y="1591056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ACAL-100-PL-K-100 Rev 11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66760" y="1865376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Arquitectura PCS (Rockwell)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0" y="2267712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66760" y="2304288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ACAL-100-PL-K-551 Rev 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66760" y="2578608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Arquitectura SIS (HIMA)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0" y="2980944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66760" y="3017520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ACAL-00102-PL-O-0001 Rev 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66760" y="3291840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Comunicaciones OT — bloques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29600" y="3694176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66760" y="3730752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ACAL-00102-LS-K-0001-0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66760" y="4005072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Lista de señales (I/O)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29600" y="4407408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66760" y="4443984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OFT-128-008 Rev 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66760" y="4718304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Oferta técnica Inauco — alcance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9600" y="5120640"/>
            <a:ext cx="3657600" cy="658368"/>
          </a:xfrm>
          <a:prstGeom prst="rect">
            <a:avLst/>
          </a:prstGeom>
          <a:solidFill>
            <a:srgbClr val="1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66760" y="5157216"/>
            <a:ext cx="347472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Anexo III F4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66760" y="5431536"/>
            <a:ext cx="3474720" cy="32918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E8EFF7"/>
                </a:solidFill>
                <a:latin typeface="Calibri"/>
              </a:rPr>
              <a:t>SCADA ELE/PMS ABB — integración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" y="5989320"/>
            <a:ext cx="11365992" cy="457200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000" b="0">
                <a:solidFill>
                  <a:srgbClr val="E8EFF7"/>
                </a:solidFill>
                <a:latin typeface="Calibri"/>
              </a:rPr>
              <a:t>Presentación elaborada sobre base de documentación de Pluspetrol, AESA, Inauco, HIMA y ABB —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