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64008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600" b="1">
                <a:solidFill>
                  <a:srgbClr val="9DB8D8"/>
                </a:solidFill>
                <a:latin typeface="Calibri"/>
              </a:rPr>
              <a:t>CPF2 LA CALERA II · VACA MUERTA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Sistemas de Electricidad e Instrumentación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Alcance por proveedor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0">
                <a:solidFill>
                  <a:srgbClr val="DCE6F2"/>
                </a:solidFill>
                <a:latin typeface="Calibri"/>
              </a:rPr>
              <a:t>PMS (ABB) · PCS/SCADA/SIS (Inauco) · marshalling ESD/F&amp;G/PSS (HIMA) · config ESD/F&amp;G/PSS (PPSA)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500" b="1">
                <a:solidFill>
                  <a:srgbClr val="BF9000"/>
                </a:solidFill>
                <a:latin typeface="Calibri"/>
              </a:rPr>
              <a:t>Fechas hito · diagrama de flujo de provisiones · Planning de hitos · RFSU 20-DIC-2027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0">
                <a:solidFill>
                  <a:srgbClr val="9DB8D8"/>
                </a:solidFill>
                <a:latin typeface="Calibri"/>
              </a:rPr>
              <a:t>Rev. 0 · 13-06-2026 · Primera revisión para depuración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Mapa de sistemas y proveedores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84278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026"/>
                <a:gridCol w="4590435"/>
                <a:gridCol w="2019791"/>
                <a:gridCol w="2387026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Sistema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Provee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Hito clave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PMS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Power Management System — gestión de energía, deslastre/DAG (800XA)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FAT PMS 29-ENE-27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PCS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Control de procesos (DCS) + PCS remotas 7A/7B — Sala INS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FAT PCS 19-FEB-27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SCADA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Supervisión y adquisición de datos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Matriz C&amp;E AGO-27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ESD / SIS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Parada de emergencia / sistema instrumentado de seguridad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HIMA (HW) + Inauco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FAT SIS 23-FEB-27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F&amp;G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Fuego y gas — detectores AESA + hardware de sistema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AESA + HIMA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Matriz C&amp;E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PSS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Sistema de seguridad/parada de procesos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con SIS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Tablero marshalling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Hardware de ESD / F&amp;G / PSS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listo 23-DIC-26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</a:rPr>
                        <a:t>Config / readecuación ESD·F&amp;G·PSS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Modificación de provisión y reconfiguración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PPSA [A DEFINIR]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completo al iFAT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0 · 13-06-2026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PMS — Power Management System (ABB)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17904"/>
            <a:ext cx="265176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PMS-001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48256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SE#3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517904"/>
            <a:ext cx="265176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PMS-101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048256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SE#4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517904"/>
            <a:ext cx="265176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800XA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048256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plataforma ABB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37160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371600"/>
            <a:ext cx="2651760" cy="914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517904"/>
            <a:ext cx="2651760" cy="530352"/>
          </a:xfrm>
          <a:prstGeom prst="rect">
            <a:avLst/>
          </a:prstGeom>
          <a:noFill/>
        </p:spPr>
        <p:txBody>
          <a:bodyPr wrap="square" anchor="ctr" lIns="25400" rIns="25400">
            <a:spAutoFit/>
          </a:bodyPr>
          <a:lstStyle/>
          <a:p>
            <a:pPr algn="ctr"/>
            <a:r>
              <a:rPr sz="2400" b="1">
                <a:solidFill>
                  <a:srgbClr val="C55A11"/>
                </a:solidFill>
                <a:latin typeface="Calibri"/>
              </a:rPr>
              <a:t>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048256"/>
            <a:ext cx="2651760" cy="54864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4508945953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97180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55A11"/>
                </a:solidFill>
                <a:latin typeface="Calibri"/>
              </a:rPr>
              <a:t>• Gestión de energía: deslastre de cargas, DAG, control y monitoreo de SS.EE.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Comunicaciones IEC 61850 / PROFINET / MODBUS TCP-IP (interfaz con PCS).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Ampliación de la red de control PMS SE#3 ↔ SE#4 (fibra óptica).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• FAT Maqueta temprana solicitada por el CLIENTE (mitigación de riesgo).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0" y="2971800"/>
          <a:ext cx="4480559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6780"/>
                <a:gridCol w="143377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Hito PMS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C55A1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KOM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22-MAY-26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Maqueta (cliente)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22-25-SEP-26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PMS (tableros+sistema)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29-ENE-27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Integral Shelter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31-MAR-27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Entrega a sitio (con salas)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08-ABR / 14-MAY-27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SAT PMS en sitio (HOLD POINT)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06-OCT→05-DIC-27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0 · 13-06-2026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PCS · SCADA · SIS — Inauco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Calibri"/>
              </a:rPr>
              <a:t>• PCS — Sistema de Control de Procesos (DCS) en la Sala INS (Sala 7).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– PCS remotas 7A + 7B (tableros).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Calibri"/>
              </a:rPr>
              <a:t>• SCADA — supervisión, adquisición y visualización.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E75B6"/>
                </a:solidFill>
                <a:latin typeface="Calibri"/>
              </a:rPr>
              <a:t>• SIS — sistema instrumentado de seguridad (hardware HIMA integrado).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Comunicaciones: integración PCS ↔ PMS (Modbus TCP/IP).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BF9000"/>
                </a:solidFill>
                <a:latin typeface="Calibri"/>
              </a:rPr>
              <a:t>• OC pendiente: el planning se ancla en arranque JUL-2026.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00000"/>
                </a:solidFill>
                <a:latin typeface="Calibri"/>
              </a:rPr>
              <a:t>• Alcance Inauco hasta la ENTREGA; trabajos de campo (SAT/comisionado) los ejecuta AESA.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371600"/>
          <a:ext cx="4480559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9596"/>
                <a:gridCol w="1550963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Hito Inauco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2E75B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INICIO (OC + Ing. Rev0 + HW)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01-JUL-26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Recepción HW (HIMA + HW)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21-AGO-26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PCS + Comunicaciones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27-ENE→19-FEB-27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SIS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27-ENE→23-FEB-27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Integración PCS↔PMS (Bs.As.)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24-FEB→02-MAR-27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Config post-FAT + entrega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FEB→MAR-27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ESD · F&amp;G · PSS — HIMA (hardware) + PPSA (config)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5532120" cy="41148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39496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HIMA — Tablero marshalling (hardware)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7030A0"/>
                </a:solidFill>
                <a:latin typeface="Calibri"/>
              </a:rPr>
              <a:t>• Provee el hardware de ESD, F&amp;G y PSS (tablero marshalling).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Lead de provisión: 25 semanas desde julio-2026.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Listo ~23-DIC-2026 → disponible para FAT SIS e iFAT.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Se integra con el SIS de Inauco.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532120" cy="41148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53312"/>
            <a:ext cx="5394960" cy="36576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PPSA — Config / readecuación  [A DEFINIR]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808080"/>
                </a:solidFill>
                <a:latin typeface="Calibri"/>
              </a:rPr>
              <a:t>• Modificación de la provisión y reconfiguración de ESD, F&amp;G y PSS.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C00000"/>
                </a:solidFill>
                <a:latin typeface="Calibri"/>
              </a:rPr>
              <a:t>• Alcance y fechas A DEFINIR.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Arranca AGO-2026.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• Debe confluir y estar COMPLETO (FAT incluido) al momento del iFAT (25-JUN-27).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846320"/>
            <a:ext cx="11338560" cy="10972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250" b="0">
                <a:solidFill>
                  <a:srgbClr val="595959"/>
                </a:solidFill>
                <a:latin typeface="Calibri"/>
              </a:rPr>
              <a:t>ESD/F&amp;G/PSS combina hardware HIMA (marshalling) + integración SIS (Inauco) + detectores F&amp;G (AESA) + configuración/readecuación (PPSA). Todos deben estar operativos para el iFAT.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0 · 13-06-2026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Fechas hito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80160"/>
          <a:ext cx="11384279" cy="4992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92553"/>
                <a:gridCol w="2995863"/>
                <a:gridCol w="2995863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Hito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Proveedor</a:t>
                      </a:r>
                    </a:p>
                  </a:txBody>
                  <a:tcPr marL="63500" marR="50800" marT="12700" marB="12700" anchor="ctr">
                    <a:solidFill>
                      <a:srgbClr val="1F3B6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KOM PMS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22-MAY-26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INICIO Inauco (OC pendiente)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01-JUL-26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Tablero marshalling HIMA listo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23-DIC-26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HIMA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PMS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29-ENE-27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PCS / FAT SIS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19-FEB / 23-FEB-27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Inauco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Integración PCS↔PMS (Bs.As.)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24-FEB→02-MAR-27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ABB + Inauco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Integral PMS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31-MAR-27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Entrega salas SE#4 / SE#3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08-ABR / 14-MAY-27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FAT ESD/F&amp;G/PSS completo (PPSA)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24-JUN-27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PPSA [A DEFINIR]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★ iFAT (confluencia total + PCS↔PMS en sitio)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25-JUN→14-JUL-27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Todos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SAT PMS en sitio (HOLD POINT)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06-OCT→05-DIC-27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ABB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</a:rPr>
                        <a:t>★★★ RFSU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20-DIC-27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DCE6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0 · 13-06-2026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Planning · Diagrama de flujo de provisiones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pic>
        <p:nvPicPr>
          <p:cNvPr id="7" name="Picture 6" descr="_tmp_Flujo_Provisiones_CPF2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145" y="1280160"/>
            <a:ext cx="6983403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355080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Calibri"/>
              </a:rPr>
              <a:t>Carriles por proveedor (ABB·Inauco·HIMA·PPSA·AESA): cuándo ocurre cada actividad y dónde confluyen → iFAT → RFSU.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100" b="1">
                <a:solidFill>
                  <a:srgbClr val="9DB8D8"/>
                </a:solidFill>
                <a:latin typeface="Calibri"/>
              </a:rPr>
              <a:t>SISTEMAS EL · IN · ALCANCE POR PROVEEDOR · CPF2 LA CALERA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Planning · Hitos importantes (Gantt PMS + Inauco)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09728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1100" b="1">
                <a:solidFill>
                  <a:srgbClr val="BF9000"/>
                </a:solidFill>
                <a:latin typeface="Calibri"/>
              </a:rPr>
              <a:t>RFSU 20-DIC-2027</a:t>
            </a:r>
          </a:p>
        </p:txBody>
      </p:sp>
      <p:pic>
        <p:nvPicPr>
          <p:cNvPr id="7" name="Picture 6" descr="_tmp_Planning_PMS_Inauco_CPF2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145" y="1280160"/>
            <a:ext cx="6983403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355080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Calibri"/>
              </a:rPr>
              <a:t>Gantt integrado de provisiones con FATs, integración, iFAT y convergencia a comisionado. Detalle en Planning_PMS_Inauco_CPF2.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Constructibilidad CPF2 · Sistemas EL · IN · Rev. 0 · 13-06-2026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