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de una página del Cronograma Ejecutivo de Provisiones Críticas Rev11 (27-10-2026). Camino crítico de sistemas: la OC de HIMA Argentina gobierna el cierre del 10-05-2027. La última entrega del paquete son los ductos de barras el 08-07-2027, con el plazo aún sin confirmar por ABB. Seis de las ocho provisiones sostienen su fecha; las dos excepciones (ductos y HARG) dependen de definiciones de AESA.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237744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Provisiones críticas CPF-2 · estado al 27-10-2026</a:t>
            </a:r>
            <a:endParaRPr lang="en-US" sz="2700" dirty="0"/>
          </a:p>
        </p:txBody>
      </p:sp>
      <p:sp>
        <p:nvSpPr>
          <p:cNvPr id="3" name="subtitulo"/>
          <p:cNvSpPr txBox="1"/>
          <p:nvPr/>
        </p:nvSpPr>
        <p:spPr>
          <a:xfrm>
            <a:off x="457200" y="73152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788"/>
                </a:solidFill>
              </a:rPr>
              <a:t>Cronograma ejecutivo de provisiones críticas · ocho provisiones · seguimiento para PPSA</a:t>
            </a:r>
            <a:endParaRPr lang="en-US" sz="1250" dirty="0"/>
          </a:p>
        </p:txBody>
      </p:sp>
      <p:sp>
        <p:nvSpPr>
          <p:cNvPr id="4" name="badgeRev"/>
          <p:cNvSpPr/>
          <p:nvPr/>
        </p:nvSpPr>
        <p:spPr>
          <a:xfrm>
            <a:off x="10469880" y="292608"/>
            <a:ext cx="1234440" cy="475488"/>
          </a:xfrm>
          <a:prstGeom prst="roundRect">
            <a:avLst>
              <a:gd name="adj" fmla="val 1923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badgeRevTxt"/>
          <p:cNvSpPr txBox="1"/>
          <p:nvPr/>
        </p:nvSpPr>
        <p:spPr>
          <a:xfrm>
            <a:off x="10469880" y="29260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Rev 11</a:t>
            </a:r>
            <a:endParaRPr lang="en-US" sz="1400" dirty="0"/>
          </a:p>
        </p:txBody>
      </p:sp>
      <p:sp>
        <p:nvSpPr>
          <p:cNvPr id="6" name="kpiBox0"/>
          <p:cNvSpPr/>
          <p:nvPr/>
        </p:nvSpPr>
        <p:spPr>
          <a:xfrm>
            <a:off x="457200" y="1152144"/>
            <a:ext cx="2640330" cy="896112"/>
          </a:xfrm>
          <a:prstGeom prst="roundRect">
            <a:avLst>
              <a:gd name="adj" fmla="val 7143"/>
            </a:avLst>
          </a:prstGeom>
          <a:solidFill>
            <a:srgbClr val="F5F7FA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7" name="kpiL0"/>
          <p:cNvSpPr txBox="1"/>
          <p:nvPr/>
        </p:nvSpPr>
        <p:spPr>
          <a:xfrm>
            <a:off x="621792" y="1225296"/>
            <a:ext cx="231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667788"/>
                </a:solidFill>
              </a:rPr>
              <a:t>CIERRE DEL CAMINO CRÍTICO</a:t>
            </a:r>
            <a:endParaRPr lang="en-US" sz="850" dirty="0"/>
          </a:p>
        </p:txBody>
      </p:sp>
      <p:sp>
        <p:nvSpPr>
          <p:cNvPr id="8" name="kpiV0"/>
          <p:cNvSpPr txBox="1"/>
          <p:nvPr/>
        </p:nvSpPr>
        <p:spPr>
          <a:xfrm>
            <a:off x="621792" y="1408176"/>
            <a:ext cx="2311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10-MAY-2027</a:t>
            </a:r>
            <a:endParaRPr lang="en-US" sz="2100" dirty="0"/>
          </a:p>
        </p:txBody>
      </p:sp>
      <p:sp>
        <p:nvSpPr>
          <p:cNvPr id="9" name="kpiD0"/>
          <p:cNvSpPr txBox="1"/>
          <p:nvPr/>
        </p:nvSpPr>
        <p:spPr>
          <a:xfrm>
            <a:off x="621792" y="1755648"/>
            <a:ext cx="2311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OC HARG → HPH → HARG → Inauco</a:t>
            </a:r>
            <a:endParaRPr lang="en-US" sz="900" dirty="0"/>
          </a:p>
        </p:txBody>
      </p:sp>
      <p:sp>
        <p:nvSpPr>
          <p:cNvPr id="10" name="kpiBox1"/>
          <p:cNvSpPr/>
          <p:nvPr/>
        </p:nvSpPr>
        <p:spPr>
          <a:xfrm>
            <a:off x="3326130" y="1152144"/>
            <a:ext cx="2640330" cy="896112"/>
          </a:xfrm>
          <a:prstGeom prst="roundRect">
            <a:avLst>
              <a:gd name="adj" fmla="val 7143"/>
            </a:avLst>
          </a:prstGeom>
          <a:solidFill>
            <a:srgbClr val="F5F7FA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1" name="kpiL1"/>
          <p:cNvSpPr txBox="1"/>
          <p:nvPr/>
        </p:nvSpPr>
        <p:spPr>
          <a:xfrm>
            <a:off x="3490722" y="1225296"/>
            <a:ext cx="231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667788"/>
                </a:solidFill>
              </a:rPr>
              <a:t>ÚLTIMA ENTREGA DEL PAQUETE</a:t>
            </a:r>
            <a:endParaRPr lang="en-US" sz="850" dirty="0"/>
          </a:p>
        </p:txBody>
      </p:sp>
      <p:sp>
        <p:nvSpPr>
          <p:cNvPr id="12" name="kpiV1"/>
          <p:cNvSpPr txBox="1"/>
          <p:nvPr/>
        </p:nvSpPr>
        <p:spPr>
          <a:xfrm>
            <a:off x="3490722" y="1408176"/>
            <a:ext cx="2311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08-JUL-2027</a:t>
            </a:r>
            <a:endParaRPr lang="en-US" sz="2100" dirty="0"/>
          </a:p>
        </p:txBody>
      </p:sp>
      <p:sp>
        <p:nvSpPr>
          <p:cNvPr id="13" name="kpiD1"/>
          <p:cNvSpPr txBox="1"/>
          <p:nvPr/>
        </p:nvSpPr>
        <p:spPr>
          <a:xfrm>
            <a:off x="3490722" y="1755648"/>
            <a:ext cx="2311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Ductos de barras — sin confirmar</a:t>
            </a:r>
            <a:endParaRPr lang="en-US" sz="900" dirty="0"/>
          </a:p>
        </p:txBody>
      </p:sp>
      <p:sp>
        <p:nvSpPr>
          <p:cNvPr id="14" name="kpiBox2"/>
          <p:cNvSpPr/>
          <p:nvPr/>
        </p:nvSpPr>
        <p:spPr>
          <a:xfrm>
            <a:off x="6195060" y="1152144"/>
            <a:ext cx="2640330" cy="896112"/>
          </a:xfrm>
          <a:prstGeom prst="roundRect">
            <a:avLst>
              <a:gd name="adj" fmla="val 7143"/>
            </a:avLst>
          </a:prstGeom>
          <a:solidFill>
            <a:srgbClr val="F5F7FA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5" name="kpiL2"/>
          <p:cNvSpPr txBox="1"/>
          <p:nvPr/>
        </p:nvSpPr>
        <p:spPr>
          <a:xfrm>
            <a:off x="6359652" y="1225296"/>
            <a:ext cx="231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667788"/>
                </a:solidFill>
              </a:rPr>
              <a:t>ENTREGAS DENTRO DE 2026</a:t>
            </a:r>
            <a:endParaRPr lang="en-US" sz="850" dirty="0"/>
          </a:p>
        </p:txBody>
      </p:sp>
      <p:sp>
        <p:nvSpPr>
          <p:cNvPr id="16" name="kpiV2"/>
          <p:cNvSpPr txBox="1"/>
          <p:nvPr/>
        </p:nvSpPr>
        <p:spPr>
          <a:xfrm>
            <a:off x="6359652" y="1408176"/>
            <a:ext cx="2311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de 8</a:t>
            </a:r>
            <a:endParaRPr lang="en-US" sz="2100" dirty="0"/>
          </a:p>
        </p:txBody>
      </p:sp>
      <p:sp>
        <p:nvSpPr>
          <p:cNvPr id="17" name="kpiD2"/>
          <p:cNvSpPr txBox="1"/>
          <p:nvPr/>
        </p:nvSpPr>
        <p:spPr>
          <a:xfrm>
            <a:off x="6359652" y="1755648"/>
            <a:ext cx="2311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Transformadores y marshalling</a:t>
            </a:r>
            <a:endParaRPr lang="en-US" sz="900" dirty="0"/>
          </a:p>
        </p:txBody>
      </p:sp>
      <p:sp>
        <p:nvSpPr>
          <p:cNvPr id="18" name="kpiBox3"/>
          <p:cNvSpPr/>
          <p:nvPr/>
        </p:nvSpPr>
        <p:spPr>
          <a:xfrm>
            <a:off x="9063990" y="1152144"/>
            <a:ext cx="2640330" cy="896112"/>
          </a:xfrm>
          <a:prstGeom prst="roundRect">
            <a:avLst>
              <a:gd name="adj" fmla="val 7143"/>
            </a:avLst>
          </a:prstGeom>
          <a:solidFill>
            <a:srgbClr val="F5F7FA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9" name="kpiL3"/>
          <p:cNvSpPr txBox="1"/>
          <p:nvPr/>
        </p:nvSpPr>
        <p:spPr>
          <a:xfrm>
            <a:off x="9228582" y="1225296"/>
            <a:ext cx="231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667788"/>
                </a:solidFill>
              </a:rPr>
              <a:t>PUNTOS DE ATENCIÓN ABIERTOS</a:t>
            </a:r>
            <a:endParaRPr lang="en-US" sz="850" dirty="0"/>
          </a:p>
        </p:txBody>
      </p:sp>
      <p:sp>
        <p:nvSpPr>
          <p:cNvPr id="20" name="kpiV3"/>
          <p:cNvSpPr txBox="1"/>
          <p:nvPr/>
        </p:nvSpPr>
        <p:spPr>
          <a:xfrm>
            <a:off x="9228582" y="1408176"/>
            <a:ext cx="2311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100" dirty="0"/>
          </a:p>
        </p:txBody>
      </p:sp>
      <p:sp>
        <p:nvSpPr>
          <p:cNvPr id="21" name="kpiD3"/>
          <p:cNvSpPr txBox="1"/>
          <p:nvPr/>
        </p:nvSpPr>
        <p:spPr>
          <a:xfrm>
            <a:off x="9228582" y="1755648"/>
            <a:ext cx="2311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11 en severidad alta</a:t>
            </a:r>
            <a:endParaRPr lang="en-US" sz="900" dirty="0"/>
          </a:p>
        </p:txBody>
      </p:sp>
      <p:sp>
        <p:nvSpPr>
          <p:cNvPr id="22" name="hdrProv"/>
          <p:cNvSpPr txBox="1"/>
          <p:nvPr/>
        </p:nvSpPr>
        <p:spPr>
          <a:xfrm>
            <a:off x="457200" y="2249424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Entregas comprometidas por provisión</a:t>
            </a:r>
            <a:endParaRPr lang="en-US" sz="1300" dirty="0"/>
          </a:p>
        </p:txBody>
      </p:sp>
      <p:sp>
        <p:nvSpPr>
          <p:cNvPr id="23" name="thP"/>
          <p:cNvSpPr txBox="1"/>
          <p:nvPr/>
        </p:nvSpPr>
        <p:spPr>
          <a:xfrm>
            <a:off x="749808" y="254203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667788"/>
                </a:solidFill>
              </a:rPr>
              <a:t>PROVISIÓN</a:t>
            </a:r>
            <a:endParaRPr lang="en-US" sz="800" dirty="0"/>
          </a:p>
        </p:txBody>
      </p:sp>
      <p:sp>
        <p:nvSpPr>
          <p:cNvPr id="24" name="thE"/>
          <p:cNvSpPr txBox="1"/>
          <p:nvPr/>
        </p:nvSpPr>
        <p:spPr>
          <a:xfrm>
            <a:off x="3456432" y="254203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667788"/>
                </a:solidFill>
              </a:rPr>
              <a:t>ENTREGA</a:t>
            </a:r>
            <a:endParaRPr lang="en-US" sz="800" dirty="0"/>
          </a:p>
        </p:txBody>
      </p:sp>
      <p:sp>
        <p:nvSpPr>
          <p:cNvPr id="25" name="thA"/>
          <p:cNvSpPr txBox="1"/>
          <p:nvPr/>
        </p:nvSpPr>
        <p:spPr>
          <a:xfrm>
            <a:off x="4773168" y="25420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667788"/>
                </a:solidFill>
              </a:rPr>
              <a:t>AVANCE</a:t>
            </a:r>
            <a:endParaRPr lang="en-US" sz="800" dirty="0"/>
          </a:p>
        </p:txBody>
      </p:sp>
      <p:sp>
        <p:nvSpPr>
          <p:cNvPr id="26" name="dot0"/>
          <p:cNvSpPr/>
          <p:nvPr/>
        </p:nvSpPr>
        <p:spPr>
          <a:xfrm>
            <a:off x="457200" y="2852928"/>
            <a:ext cx="137160" cy="137160"/>
          </a:xfrm>
          <a:prstGeom prst="ellipse">
            <a:avLst/>
          </a:prstGeom>
          <a:solidFill>
            <a:srgbClr val="33691E"/>
          </a:solidFill>
          <a:ln w="12700">
            <a:solidFill>
              <a:srgbClr val="33691E"/>
            </a:solidFill>
            <a:prstDash val="solid"/>
          </a:ln>
        </p:spPr>
      </p:sp>
      <p:sp>
        <p:nvSpPr>
          <p:cNvPr id="27" name="nm0"/>
          <p:cNvSpPr txBox="1"/>
          <p:nvPr/>
        </p:nvSpPr>
        <p:spPr>
          <a:xfrm>
            <a:off x="749808" y="277977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CAT Miron — Transformadores</a:t>
            </a:r>
            <a:endParaRPr lang="en-US" sz="1150" dirty="0"/>
          </a:p>
        </p:txBody>
      </p:sp>
      <p:sp>
        <p:nvSpPr>
          <p:cNvPr id="28" name="nt0"/>
          <p:cNvSpPr txBox="1"/>
          <p:nvPr/>
        </p:nvSpPr>
        <p:spPr>
          <a:xfrm>
            <a:off x="749808" y="29718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13 unidades · ingeniería 100%, fabr. 0%</a:t>
            </a:r>
            <a:endParaRPr lang="en-US" sz="900" dirty="0"/>
          </a:p>
        </p:txBody>
      </p:sp>
      <p:sp>
        <p:nvSpPr>
          <p:cNvPr id="29" name="en0"/>
          <p:cNvSpPr txBox="1"/>
          <p:nvPr/>
        </p:nvSpPr>
        <p:spPr>
          <a:xfrm>
            <a:off x="3456432" y="28529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11-DIC-2026</a:t>
            </a:r>
            <a:endParaRPr lang="en-US" sz="1300" dirty="0"/>
          </a:p>
        </p:txBody>
      </p:sp>
      <p:sp>
        <p:nvSpPr>
          <p:cNvPr id="30" name="av0"/>
          <p:cNvSpPr txBox="1"/>
          <p:nvPr/>
        </p:nvSpPr>
        <p:spPr>
          <a:xfrm>
            <a:off x="4773168" y="28803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788"/>
                </a:solidFill>
              </a:rPr>
              <a:t>sin dato global</a:t>
            </a:r>
            <a:endParaRPr lang="en-US" sz="900" dirty="0"/>
          </a:p>
        </p:txBody>
      </p:sp>
      <p:sp>
        <p:nvSpPr>
          <p:cNvPr id="31" name="sep1"/>
          <p:cNvSpPr/>
          <p:nvPr/>
        </p:nvSpPr>
        <p:spPr>
          <a:xfrm>
            <a:off x="457200" y="3163824"/>
            <a:ext cx="7132320" cy="0"/>
          </a:xfrm>
          <a:prstGeom prst="line">
            <a:avLst/>
          </a:prstGeom>
          <a:noFill/>
          <a:ln w="9525">
            <a:solidFill>
              <a:srgbClr val="E4E8EE"/>
            </a:solidFill>
            <a:prstDash val="solid"/>
          </a:ln>
        </p:spPr>
      </p:sp>
      <p:sp>
        <p:nvSpPr>
          <p:cNvPr id="32" name="dot1"/>
          <p:cNvSpPr/>
          <p:nvPr/>
        </p:nvSpPr>
        <p:spPr>
          <a:xfrm>
            <a:off x="457200" y="3282696"/>
            <a:ext cx="137160" cy="13716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3" name="nm1"/>
          <p:cNvSpPr txBox="1"/>
          <p:nvPr/>
        </p:nvSpPr>
        <p:spPr>
          <a:xfrm>
            <a:off x="749808" y="320954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HPH — Marshalling (Alemania)</a:t>
            </a:r>
            <a:endParaRPr lang="en-US" sz="1150" dirty="0"/>
          </a:p>
        </p:txBody>
      </p:sp>
      <p:sp>
        <p:nvSpPr>
          <p:cNvPr id="34" name="nt1"/>
          <p:cNvSpPr txBox="1"/>
          <p:nvPr/>
        </p:nvSpPr>
        <p:spPr>
          <a:xfrm>
            <a:off x="749808" y="340156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</a:rPr>
              <a:t>Fabricación completada · DAP Ezeiza</a:t>
            </a:r>
            <a:endParaRPr lang="en-US" sz="900" dirty="0"/>
          </a:p>
        </p:txBody>
      </p:sp>
      <p:sp>
        <p:nvSpPr>
          <p:cNvPr id="35" name="en1"/>
          <p:cNvSpPr txBox="1"/>
          <p:nvPr/>
        </p:nvSpPr>
        <p:spPr>
          <a:xfrm>
            <a:off x="3456432" y="32826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15-DIC-2026</a:t>
            </a:r>
            <a:endParaRPr lang="en-US" sz="1300" dirty="0"/>
          </a:p>
        </p:txBody>
      </p:sp>
      <p:sp>
        <p:nvSpPr>
          <p:cNvPr id="36" name="bg1"/>
          <p:cNvSpPr/>
          <p:nvPr/>
        </p:nvSpPr>
        <p:spPr>
          <a:xfrm>
            <a:off x="4773168" y="3328416"/>
            <a:ext cx="1005840" cy="118872"/>
          </a:xfrm>
          <a:prstGeom prst="roundRect">
            <a:avLst>
              <a:gd name="adj" fmla="val 46154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37" name="bf1"/>
          <p:cNvSpPr/>
          <p:nvPr/>
        </p:nvSpPr>
        <p:spPr>
          <a:xfrm>
            <a:off x="4773168" y="3328416"/>
            <a:ext cx="1005840" cy="118872"/>
          </a:xfrm>
          <a:prstGeom prst="roundRect">
            <a:avLst>
              <a:gd name="adj" fmla="val 46154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8" name="pc1"/>
          <p:cNvSpPr txBox="1"/>
          <p:nvPr/>
        </p:nvSpPr>
        <p:spPr>
          <a:xfrm>
            <a:off x="5870448" y="327355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</a:rPr>
              <a:t>100%</a:t>
            </a:r>
            <a:endParaRPr lang="en-US" sz="1100" dirty="0"/>
          </a:p>
        </p:txBody>
      </p:sp>
      <p:sp>
        <p:nvSpPr>
          <p:cNvPr id="39" name="sep2"/>
          <p:cNvSpPr/>
          <p:nvPr/>
        </p:nvSpPr>
        <p:spPr>
          <a:xfrm>
            <a:off x="457200" y="3593592"/>
            <a:ext cx="7132320" cy="0"/>
          </a:xfrm>
          <a:prstGeom prst="line">
            <a:avLst/>
          </a:prstGeom>
          <a:noFill/>
          <a:ln w="9525">
            <a:solidFill>
              <a:srgbClr val="E4E8EE"/>
            </a:solidFill>
            <a:prstDash val="solid"/>
          </a:ln>
        </p:spPr>
      </p:sp>
      <p:sp>
        <p:nvSpPr>
          <p:cNvPr id="40" name="dot2"/>
          <p:cNvSpPr/>
          <p:nvPr/>
        </p:nvSpPr>
        <p:spPr>
          <a:xfrm>
            <a:off x="457200" y="3712464"/>
            <a:ext cx="137160" cy="137160"/>
          </a:xfrm>
          <a:prstGeom prst="ellipse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41" name="nm2"/>
          <p:cNvSpPr txBox="1"/>
          <p:nvPr/>
        </p:nvSpPr>
        <p:spPr>
          <a:xfrm>
            <a:off x="749808" y="363931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ABB — PMS</a:t>
            </a:r>
            <a:endParaRPr lang="en-US" sz="1150" dirty="0"/>
          </a:p>
        </p:txBody>
      </p:sp>
      <p:sp>
        <p:nvSpPr>
          <p:cNvPr id="42" name="nt2"/>
          <p:cNvSpPr txBox="1"/>
          <p:nvPr/>
        </p:nvSpPr>
        <p:spPr>
          <a:xfrm>
            <a:off x="749808" y="383133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</a:rPr>
              <a:t>Adelantado 9 puntos sobre el plan</a:t>
            </a:r>
            <a:endParaRPr lang="en-US" sz="900" dirty="0"/>
          </a:p>
        </p:txBody>
      </p:sp>
      <p:sp>
        <p:nvSpPr>
          <p:cNvPr id="43" name="en2"/>
          <p:cNvSpPr txBox="1"/>
          <p:nvPr/>
        </p:nvSpPr>
        <p:spPr>
          <a:xfrm>
            <a:off x="3456432" y="37124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6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17-FEB-2027</a:t>
            </a:r>
            <a:endParaRPr lang="en-US" sz="1300" dirty="0"/>
          </a:p>
        </p:txBody>
      </p:sp>
      <p:sp>
        <p:nvSpPr>
          <p:cNvPr id="44" name="bg2"/>
          <p:cNvSpPr/>
          <p:nvPr/>
        </p:nvSpPr>
        <p:spPr>
          <a:xfrm>
            <a:off x="4773168" y="3758184"/>
            <a:ext cx="1005840" cy="118872"/>
          </a:xfrm>
          <a:prstGeom prst="roundRect">
            <a:avLst>
              <a:gd name="adj" fmla="val 46154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45" name="bf2"/>
          <p:cNvSpPr/>
          <p:nvPr/>
        </p:nvSpPr>
        <p:spPr>
          <a:xfrm>
            <a:off x="4773168" y="3758184"/>
            <a:ext cx="533095" cy="118872"/>
          </a:xfrm>
          <a:prstGeom prst="roundRect">
            <a:avLst>
              <a:gd name="adj" fmla="val 46154"/>
            </a:avLst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46" name="pc2"/>
          <p:cNvSpPr txBox="1"/>
          <p:nvPr/>
        </p:nvSpPr>
        <p:spPr>
          <a:xfrm>
            <a:off x="5870448" y="37033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</a:rPr>
              <a:t>53%</a:t>
            </a:r>
            <a:endParaRPr lang="en-US" sz="1100" dirty="0"/>
          </a:p>
        </p:txBody>
      </p:sp>
      <p:sp>
        <p:nvSpPr>
          <p:cNvPr id="47" name="sep3"/>
          <p:cNvSpPr/>
          <p:nvPr/>
        </p:nvSpPr>
        <p:spPr>
          <a:xfrm>
            <a:off x="457200" y="4023360"/>
            <a:ext cx="7132320" cy="0"/>
          </a:xfrm>
          <a:prstGeom prst="line">
            <a:avLst/>
          </a:prstGeom>
          <a:noFill/>
          <a:ln w="9525">
            <a:solidFill>
              <a:srgbClr val="E4E8EE"/>
            </a:solidFill>
            <a:prstDash val="solid"/>
          </a:ln>
        </p:spPr>
      </p:sp>
      <p:sp>
        <p:nvSpPr>
          <p:cNvPr id="48" name="dot3"/>
          <p:cNvSpPr/>
          <p:nvPr/>
        </p:nvSpPr>
        <p:spPr>
          <a:xfrm>
            <a:off x="457200" y="4142232"/>
            <a:ext cx="137160" cy="137160"/>
          </a:xfrm>
          <a:prstGeom prst="ellipse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49" name="nm3"/>
          <p:cNvSpPr txBox="1"/>
          <p:nvPr/>
        </p:nvSpPr>
        <p:spPr>
          <a:xfrm>
            <a:off x="749808" y="406908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ABB — Sala eléctrica SE#4 (MT)</a:t>
            </a:r>
            <a:endParaRPr lang="en-US" sz="1150" dirty="0"/>
          </a:p>
        </p:txBody>
      </p:sp>
      <p:sp>
        <p:nvSpPr>
          <p:cNvPr id="50" name="nt3"/>
          <p:cNvSpPr txBox="1"/>
          <p:nvPr/>
        </p:nvSpPr>
        <p:spPr>
          <a:xfrm>
            <a:off x="749808" y="426110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Contractual 08-04-27 · 14 d de margen</a:t>
            </a:r>
            <a:endParaRPr lang="en-US" sz="900" dirty="0"/>
          </a:p>
        </p:txBody>
      </p:sp>
      <p:sp>
        <p:nvSpPr>
          <p:cNvPr id="51" name="en3"/>
          <p:cNvSpPr txBox="1"/>
          <p:nvPr/>
        </p:nvSpPr>
        <p:spPr>
          <a:xfrm>
            <a:off x="3456432" y="41422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D14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25-MAR-2027</a:t>
            </a:r>
            <a:endParaRPr lang="en-US" sz="1300" dirty="0"/>
          </a:p>
        </p:txBody>
      </p:sp>
      <p:sp>
        <p:nvSpPr>
          <p:cNvPr id="52" name="bg3"/>
          <p:cNvSpPr/>
          <p:nvPr/>
        </p:nvSpPr>
        <p:spPr>
          <a:xfrm>
            <a:off x="4773168" y="4187952"/>
            <a:ext cx="1005840" cy="118872"/>
          </a:xfrm>
          <a:prstGeom prst="roundRect">
            <a:avLst>
              <a:gd name="adj" fmla="val 46154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3" name="bf3"/>
          <p:cNvSpPr/>
          <p:nvPr/>
        </p:nvSpPr>
        <p:spPr>
          <a:xfrm>
            <a:off x="4773168" y="4187952"/>
            <a:ext cx="362102" cy="118872"/>
          </a:xfrm>
          <a:prstGeom prst="roundRect">
            <a:avLst>
              <a:gd name="adj" fmla="val 46154"/>
            </a:avLst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54" name="pc3"/>
          <p:cNvSpPr txBox="1"/>
          <p:nvPr/>
        </p:nvSpPr>
        <p:spPr>
          <a:xfrm>
            <a:off x="5870448" y="41330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</a:rPr>
              <a:t>36%</a:t>
            </a:r>
            <a:endParaRPr lang="en-US" sz="1100" dirty="0"/>
          </a:p>
        </p:txBody>
      </p:sp>
      <p:sp>
        <p:nvSpPr>
          <p:cNvPr id="55" name="sep4"/>
          <p:cNvSpPr/>
          <p:nvPr/>
        </p:nvSpPr>
        <p:spPr>
          <a:xfrm>
            <a:off x="457200" y="4453128"/>
            <a:ext cx="7132320" cy="0"/>
          </a:xfrm>
          <a:prstGeom prst="line">
            <a:avLst/>
          </a:prstGeom>
          <a:noFill/>
          <a:ln w="9525">
            <a:solidFill>
              <a:srgbClr val="E4E8EE"/>
            </a:solidFill>
            <a:prstDash val="solid"/>
          </a:ln>
        </p:spPr>
      </p:sp>
      <p:sp>
        <p:nvSpPr>
          <p:cNvPr id="56" name="dot4"/>
          <p:cNvSpPr/>
          <p:nvPr/>
        </p:nvSpPr>
        <p:spPr>
          <a:xfrm>
            <a:off x="457200" y="4572000"/>
            <a:ext cx="137160" cy="13716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7" name="nm4"/>
          <p:cNvSpPr txBox="1"/>
          <p:nvPr/>
        </p:nvSpPr>
        <p:spPr>
          <a:xfrm>
            <a:off x="749808" y="449884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ABB — Sala eléctrica SE#3 (BT)</a:t>
            </a:r>
            <a:endParaRPr lang="en-US" sz="1150" dirty="0"/>
          </a:p>
        </p:txBody>
      </p:sp>
      <p:sp>
        <p:nvSpPr>
          <p:cNvPr id="58" name="nt4"/>
          <p:cNvSpPr txBox="1"/>
          <p:nvPr/>
        </p:nvSpPr>
        <p:spPr>
          <a:xfrm>
            <a:off x="749808" y="46908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Contractual 14-05-27 · 21 d de margen</a:t>
            </a:r>
            <a:endParaRPr lang="en-US" sz="900" dirty="0"/>
          </a:p>
        </p:txBody>
      </p:sp>
      <p:sp>
        <p:nvSpPr>
          <p:cNvPr id="59" name="en4"/>
          <p:cNvSpPr txBox="1"/>
          <p:nvPr/>
        </p:nvSpPr>
        <p:spPr>
          <a:xfrm>
            <a:off x="3456432" y="45720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20-ABR-2027</a:t>
            </a:r>
            <a:endParaRPr lang="en-US" sz="1300" dirty="0"/>
          </a:p>
        </p:txBody>
      </p:sp>
      <p:sp>
        <p:nvSpPr>
          <p:cNvPr id="60" name="bg4"/>
          <p:cNvSpPr/>
          <p:nvPr/>
        </p:nvSpPr>
        <p:spPr>
          <a:xfrm>
            <a:off x="4773168" y="4617720"/>
            <a:ext cx="1005840" cy="118872"/>
          </a:xfrm>
          <a:prstGeom prst="roundRect">
            <a:avLst>
              <a:gd name="adj" fmla="val 46154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61" name="bf4"/>
          <p:cNvSpPr/>
          <p:nvPr/>
        </p:nvSpPr>
        <p:spPr>
          <a:xfrm>
            <a:off x="4773168" y="4617720"/>
            <a:ext cx="362102" cy="118872"/>
          </a:xfrm>
          <a:prstGeom prst="roundRect">
            <a:avLst>
              <a:gd name="adj" fmla="val 46154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2" name="pc4"/>
          <p:cNvSpPr txBox="1"/>
          <p:nvPr/>
        </p:nvSpPr>
        <p:spPr>
          <a:xfrm>
            <a:off x="5870448" y="45628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</a:rPr>
              <a:t>36%</a:t>
            </a:r>
            <a:endParaRPr lang="en-US" sz="1100" dirty="0"/>
          </a:p>
        </p:txBody>
      </p:sp>
      <p:sp>
        <p:nvSpPr>
          <p:cNvPr id="63" name="sep5"/>
          <p:cNvSpPr/>
          <p:nvPr/>
        </p:nvSpPr>
        <p:spPr>
          <a:xfrm>
            <a:off x="457200" y="4882896"/>
            <a:ext cx="7132320" cy="0"/>
          </a:xfrm>
          <a:prstGeom prst="line">
            <a:avLst/>
          </a:prstGeom>
          <a:noFill/>
          <a:ln w="9525">
            <a:solidFill>
              <a:srgbClr val="E4E8EE"/>
            </a:solidFill>
            <a:prstDash val="solid"/>
          </a:ln>
        </p:spPr>
      </p:sp>
      <p:sp>
        <p:nvSpPr>
          <p:cNvPr id="64" name="dot5"/>
          <p:cNvSpPr/>
          <p:nvPr/>
        </p:nvSpPr>
        <p:spPr>
          <a:xfrm>
            <a:off x="457200" y="5001768"/>
            <a:ext cx="137160" cy="1371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5" name="nm5"/>
          <p:cNvSpPr txBox="1"/>
          <p:nvPr/>
        </p:nvSpPr>
        <p:spPr>
          <a:xfrm>
            <a:off x="749808" y="492861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Inauco — PCS / SCADA</a:t>
            </a:r>
            <a:endParaRPr lang="en-US" sz="1150" dirty="0"/>
          </a:p>
        </p:txBody>
      </p:sp>
      <p:sp>
        <p:nvSpPr>
          <p:cNvPr id="66" name="nt5"/>
          <p:cNvSpPr txBox="1"/>
          <p:nvPr/>
        </p:nvSpPr>
        <p:spPr>
          <a:xfrm>
            <a:off x="749808" y="512064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Rev 0 para construcción · sin corrimientos</a:t>
            </a:r>
            <a:endParaRPr lang="en-US" sz="900" dirty="0"/>
          </a:p>
        </p:txBody>
      </p:sp>
      <p:sp>
        <p:nvSpPr>
          <p:cNvPr id="67" name="en5"/>
          <p:cNvSpPr txBox="1"/>
          <p:nvPr/>
        </p:nvSpPr>
        <p:spPr>
          <a:xfrm>
            <a:off x="3456432" y="50017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04-MAY-2027</a:t>
            </a:r>
            <a:endParaRPr lang="en-US" sz="1300" dirty="0"/>
          </a:p>
        </p:txBody>
      </p:sp>
      <p:sp>
        <p:nvSpPr>
          <p:cNvPr id="68" name="bg5"/>
          <p:cNvSpPr/>
          <p:nvPr/>
        </p:nvSpPr>
        <p:spPr>
          <a:xfrm>
            <a:off x="4773168" y="5047488"/>
            <a:ext cx="1005840" cy="118872"/>
          </a:xfrm>
          <a:prstGeom prst="roundRect">
            <a:avLst>
              <a:gd name="adj" fmla="val 46154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69" name="bf5"/>
          <p:cNvSpPr/>
          <p:nvPr/>
        </p:nvSpPr>
        <p:spPr>
          <a:xfrm>
            <a:off x="4773168" y="5047488"/>
            <a:ext cx="64008" cy="118872"/>
          </a:xfrm>
          <a:prstGeom prst="roundRect">
            <a:avLst>
              <a:gd name="adj" fmla="val 8571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0" name="pc5"/>
          <p:cNvSpPr txBox="1"/>
          <p:nvPr/>
        </p:nvSpPr>
        <p:spPr>
          <a:xfrm>
            <a:off x="5870448" y="499262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6%</a:t>
            </a:r>
            <a:endParaRPr lang="en-US" sz="1100" dirty="0"/>
          </a:p>
        </p:txBody>
      </p:sp>
      <p:sp>
        <p:nvSpPr>
          <p:cNvPr id="71" name="sep6"/>
          <p:cNvSpPr/>
          <p:nvPr/>
        </p:nvSpPr>
        <p:spPr>
          <a:xfrm>
            <a:off x="457200" y="5312664"/>
            <a:ext cx="7132320" cy="0"/>
          </a:xfrm>
          <a:prstGeom prst="line">
            <a:avLst/>
          </a:prstGeom>
          <a:noFill/>
          <a:ln w="9525">
            <a:solidFill>
              <a:srgbClr val="E4E8EE"/>
            </a:solidFill>
            <a:prstDash val="solid"/>
          </a:ln>
        </p:spPr>
      </p:sp>
      <p:sp>
        <p:nvSpPr>
          <p:cNvPr id="72" name="dot6"/>
          <p:cNvSpPr/>
          <p:nvPr/>
        </p:nvSpPr>
        <p:spPr>
          <a:xfrm>
            <a:off x="457200" y="5431536"/>
            <a:ext cx="137160" cy="13716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73" name="nm6"/>
          <p:cNvSpPr txBox="1"/>
          <p:nvPr/>
        </p:nvSpPr>
        <p:spPr>
          <a:xfrm>
            <a:off x="749808" y="535838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HARG — HIMA Argentina (SIS)</a:t>
            </a:r>
            <a:endParaRPr lang="en-US" sz="1150" dirty="0"/>
          </a:p>
        </p:txBody>
      </p:sp>
      <p:sp>
        <p:nvSpPr>
          <p:cNvPr id="74" name="nt6"/>
          <p:cNvSpPr txBox="1"/>
          <p:nvPr/>
        </p:nvSpPr>
        <p:spPr>
          <a:xfrm>
            <a:off x="749808" y="555040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</a:rPr>
              <a:t>ORDEN DE COMPRA PENDIENTE</a:t>
            </a:r>
            <a:endParaRPr lang="en-US" sz="900" dirty="0"/>
          </a:p>
        </p:txBody>
      </p:sp>
      <p:sp>
        <p:nvSpPr>
          <p:cNvPr id="75" name="en6"/>
          <p:cNvSpPr txBox="1"/>
          <p:nvPr/>
        </p:nvSpPr>
        <p:spPr>
          <a:xfrm>
            <a:off x="3456432" y="54315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3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10-MAY-2027</a:t>
            </a:r>
            <a:endParaRPr lang="en-US" sz="1300" dirty="0"/>
          </a:p>
        </p:txBody>
      </p:sp>
      <p:sp>
        <p:nvSpPr>
          <p:cNvPr id="76" name="bg6"/>
          <p:cNvSpPr/>
          <p:nvPr/>
        </p:nvSpPr>
        <p:spPr>
          <a:xfrm>
            <a:off x="4773168" y="5477256"/>
            <a:ext cx="1005840" cy="118872"/>
          </a:xfrm>
          <a:prstGeom prst="roundRect">
            <a:avLst>
              <a:gd name="adj" fmla="val 46154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77" name="pc6"/>
          <p:cNvSpPr txBox="1"/>
          <p:nvPr/>
        </p:nvSpPr>
        <p:spPr>
          <a:xfrm>
            <a:off x="5870448" y="5422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0%</a:t>
            </a:r>
            <a:endParaRPr lang="en-US" sz="1100" dirty="0"/>
          </a:p>
        </p:txBody>
      </p:sp>
      <p:sp>
        <p:nvSpPr>
          <p:cNvPr id="78" name="sep7"/>
          <p:cNvSpPr/>
          <p:nvPr/>
        </p:nvSpPr>
        <p:spPr>
          <a:xfrm>
            <a:off x="457200" y="5742432"/>
            <a:ext cx="7132320" cy="0"/>
          </a:xfrm>
          <a:prstGeom prst="line">
            <a:avLst/>
          </a:prstGeom>
          <a:noFill/>
          <a:ln w="9525">
            <a:solidFill>
              <a:srgbClr val="E4E8EE"/>
            </a:solidFill>
            <a:prstDash val="solid"/>
          </a:ln>
        </p:spPr>
      </p:sp>
      <p:sp>
        <p:nvSpPr>
          <p:cNvPr id="79" name="dot7"/>
          <p:cNvSpPr/>
          <p:nvPr/>
        </p:nvSpPr>
        <p:spPr>
          <a:xfrm>
            <a:off x="457200" y="5861304"/>
            <a:ext cx="137160" cy="137160"/>
          </a:xfrm>
          <a:prstGeom prst="ellipse">
            <a:avLst/>
          </a:prstGeom>
          <a:solidFill>
            <a:srgbClr val="795548"/>
          </a:solidFill>
          <a:ln w="12700">
            <a:solidFill>
              <a:srgbClr val="795548"/>
            </a:solidFill>
            <a:prstDash val="solid"/>
          </a:ln>
        </p:spPr>
      </p:sp>
      <p:sp>
        <p:nvSpPr>
          <p:cNvPr id="80" name="nm7"/>
          <p:cNvSpPr txBox="1"/>
          <p:nvPr/>
        </p:nvSpPr>
        <p:spPr>
          <a:xfrm>
            <a:off x="749808" y="578815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ABB — Ductos de barras</a:t>
            </a:r>
            <a:endParaRPr lang="en-US" sz="1150" dirty="0"/>
          </a:p>
        </p:txBody>
      </p:sp>
      <p:sp>
        <p:nvSpPr>
          <p:cNvPr id="81" name="nt7"/>
          <p:cNvSpPr txBox="1"/>
          <p:nvPr/>
        </p:nvSpPr>
        <p:spPr>
          <a:xfrm>
            <a:off x="749808" y="598017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</a:rPr>
              <a:t>PLAZO SIN CONFIRMAR</a:t>
            </a:r>
            <a:endParaRPr lang="en-US" sz="900" dirty="0"/>
          </a:p>
        </p:txBody>
      </p:sp>
      <p:sp>
        <p:nvSpPr>
          <p:cNvPr id="82" name="en7"/>
          <p:cNvSpPr txBox="1"/>
          <p:nvPr/>
        </p:nvSpPr>
        <p:spPr>
          <a:xfrm>
            <a:off x="3456432" y="58613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95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08-JUL-2027</a:t>
            </a:r>
            <a:endParaRPr lang="en-US" sz="1300" dirty="0"/>
          </a:p>
        </p:txBody>
      </p:sp>
      <p:sp>
        <p:nvSpPr>
          <p:cNvPr id="83" name="bg7"/>
          <p:cNvSpPr/>
          <p:nvPr/>
        </p:nvSpPr>
        <p:spPr>
          <a:xfrm>
            <a:off x="4773168" y="5907024"/>
            <a:ext cx="1005840" cy="118872"/>
          </a:xfrm>
          <a:prstGeom prst="roundRect">
            <a:avLst>
              <a:gd name="adj" fmla="val 46154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84" name="bf7"/>
          <p:cNvSpPr/>
          <p:nvPr/>
        </p:nvSpPr>
        <p:spPr>
          <a:xfrm>
            <a:off x="4773168" y="5907024"/>
            <a:ext cx="64008" cy="118872"/>
          </a:xfrm>
          <a:prstGeom prst="roundRect">
            <a:avLst>
              <a:gd name="adj" fmla="val 85714"/>
            </a:avLst>
          </a:prstGeom>
          <a:solidFill>
            <a:srgbClr val="795548"/>
          </a:solidFill>
          <a:ln w="12700">
            <a:solidFill>
              <a:srgbClr val="795548"/>
            </a:solidFill>
            <a:prstDash val="solid"/>
          </a:ln>
        </p:spPr>
      </p:sp>
      <p:sp>
        <p:nvSpPr>
          <p:cNvPr id="85" name="pc7"/>
          <p:cNvSpPr txBox="1"/>
          <p:nvPr/>
        </p:nvSpPr>
        <p:spPr>
          <a:xfrm>
            <a:off x="5870448" y="585216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5%</a:t>
            </a:r>
            <a:endParaRPr lang="en-US" sz="1100" dirty="0"/>
          </a:p>
        </p:txBody>
      </p:sp>
      <p:sp>
        <p:nvSpPr>
          <p:cNvPr id="86" name="panelDer"/>
          <p:cNvSpPr/>
          <p:nvPr/>
        </p:nvSpPr>
        <p:spPr>
          <a:xfrm>
            <a:off x="7882128" y="2249424"/>
            <a:ext cx="3822192" cy="3950208"/>
          </a:xfrm>
          <a:prstGeom prst="roundRect">
            <a:avLst>
              <a:gd name="adj" fmla="val 1914"/>
            </a:avLst>
          </a:prstGeom>
          <a:solidFill>
            <a:srgbClr val="F5F7FA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87" name="hdrFoco"/>
          <p:cNvSpPr txBox="1"/>
          <p:nvPr/>
        </p:nvSpPr>
        <p:spPr>
          <a:xfrm>
            <a:off x="8083296" y="2377440"/>
            <a:ext cx="3419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Foco gerencial</a:t>
            </a:r>
            <a:endParaRPr lang="en-US" sz="1300" dirty="0"/>
          </a:p>
        </p:txBody>
      </p:sp>
      <p:sp>
        <p:nvSpPr>
          <p:cNvPr id="88" name="claim"/>
          <p:cNvSpPr txBox="1"/>
          <p:nvPr/>
        </p:nvSpPr>
        <p:spPr>
          <a:xfrm>
            <a:off x="8083296" y="2633472"/>
            <a:ext cx="3419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933"/>
                </a:solidFill>
              </a:rPr>
              <a:t>En 7 de las 8 provisiones 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F2933"/>
                </a:solidFill>
              </a:rPr>
              <a:t>el pendiente crítico es un insumo de AESA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933"/>
                </a:solidFill>
              </a:rPr>
              <a:t>, no del proveedor. Seis sostienen su fecha de entrega.</a:t>
            </a:r>
            <a:endParaRPr lang="en-US" sz="1100" dirty="0"/>
          </a:p>
        </p:txBody>
      </p:sp>
      <p:sp>
        <p:nvSpPr>
          <p:cNvPr id="89" name="hdrAcc"/>
          <p:cNvSpPr txBox="1"/>
          <p:nvPr/>
        </p:nvSpPr>
        <p:spPr>
          <a:xfrm>
            <a:off x="8083296" y="3218688"/>
            <a:ext cx="3419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667788"/>
                </a:solidFill>
              </a:rPr>
              <a:t>DECISIONES Y ACCIONES INMEDIATAS</a:t>
            </a:r>
            <a:endParaRPr lang="en-US" sz="850" dirty="0"/>
          </a:p>
        </p:txBody>
      </p:sp>
      <p:sp>
        <p:nvSpPr>
          <p:cNvPr id="90" name="num0"/>
          <p:cNvSpPr/>
          <p:nvPr/>
        </p:nvSpPr>
        <p:spPr>
          <a:xfrm>
            <a:off x="8083296" y="3483864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1" name="numT0"/>
          <p:cNvSpPr txBox="1"/>
          <p:nvPr/>
        </p:nvSpPr>
        <p:spPr>
          <a:xfrm>
            <a:off x="8083296" y="34838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92" name="accT0"/>
          <p:cNvSpPr txBox="1"/>
          <p:nvPr/>
        </p:nvSpPr>
        <p:spPr>
          <a:xfrm>
            <a:off x="8357616" y="3456432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3"/>
                </a:solidFill>
              </a:rPr>
              <a:t>Colocar la OC de HIMA Argentina</a:t>
            </a:r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</a:rPr>
              <a:t>   PA-04</a:t>
            </a:r>
            <a:endParaRPr lang="en-US" sz="1000" dirty="0"/>
          </a:p>
        </p:txBody>
      </p:sp>
      <p:sp>
        <p:nvSpPr>
          <p:cNvPr id="93" name="accD0"/>
          <p:cNvSpPr txBox="1"/>
          <p:nvPr/>
        </p:nvSpPr>
        <p:spPr>
          <a:xfrm>
            <a:off x="8357616" y="3634740"/>
            <a:ext cx="31455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880" dirty="0">
                <a:solidFill>
                  <a:srgbClr val="667788"/>
                </a:solidFill>
              </a:rPr>
              <a:t>Sin colocar. Gobierna el cierre del 10-05-27: cada semana de demora lo corre una semana.</a:t>
            </a:r>
            <a:endParaRPr lang="en-US" sz="880" dirty="0"/>
          </a:p>
        </p:txBody>
      </p:sp>
      <p:sp>
        <p:nvSpPr>
          <p:cNvPr id="94" name="num1"/>
          <p:cNvSpPr/>
          <p:nvPr/>
        </p:nvSpPr>
        <p:spPr>
          <a:xfrm>
            <a:off x="8083296" y="4014216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5" name="numT1"/>
          <p:cNvSpPr txBox="1"/>
          <p:nvPr/>
        </p:nvSpPr>
        <p:spPr>
          <a:xfrm>
            <a:off x="8083296" y="40142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96" name="accT1"/>
          <p:cNvSpPr txBox="1"/>
          <p:nvPr/>
        </p:nvSpPr>
        <p:spPr>
          <a:xfrm>
            <a:off x="8357616" y="3986784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3"/>
                </a:solidFill>
              </a:rPr>
              <a:t>Emitir la carta de crédito de HPH</a:t>
            </a:r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</a:rPr>
              <a:t>   PA-14</a:t>
            </a:r>
            <a:endParaRPr lang="en-US" sz="1000" dirty="0"/>
          </a:p>
        </p:txBody>
      </p:sp>
      <p:sp>
        <p:nvSpPr>
          <p:cNvPr id="97" name="accD1"/>
          <p:cNvSpPr txBox="1"/>
          <p:nvPr/>
        </p:nvSpPr>
        <p:spPr>
          <a:xfrm>
            <a:off x="8357616" y="4165092"/>
            <a:ext cx="31455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880" dirty="0">
                <a:solidFill>
                  <a:srgbClr val="667788"/>
                </a:solidFill>
              </a:rPr>
              <a:t>Plazo pedido por el proveedor: 30-10-2026. Retiene el alcance ampliado.</a:t>
            </a:r>
            <a:endParaRPr lang="en-US" sz="880" dirty="0"/>
          </a:p>
        </p:txBody>
      </p:sp>
      <p:sp>
        <p:nvSpPr>
          <p:cNvPr id="98" name="num2"/>
          <p:cNvSpPr/>
          <p:nvPr/>
        </p:nvSpPr>
        <p:spPr>
          <a:xfrm>
            <a:off x="8083296" y="4544568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9" name="numT2"/>
          <p:cNvSpPr txBox="1"/>
          <p:nvPr/>
        </p:nvSpPr>
        <p:spPr>
          <a:xfrm>
            <a:off x="8083296" y="45445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100" name="accT2"/>
          <p:cNvSpPr txBox="1"/>
          <p:nvPr/>
        </p:nvSpPr>
        <p:spPr>
          <a:xfrm>
            <a:off x="8357616" y="4517136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3"/>
                </a:solidFill>
              </a:rPr>
              <a:t>Aprobar la ingeniería de las salas</a:t>
            </a:r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</a:rPr>
              <a:t>   PA-08</a:t>
            </a:r>
            <a:endParaRPr lang="en-US" sz="1000" dirty="0"/>
          </a:p>
        </p:txBody>
      </p:sp>
      <p:sp>
        <p:nvSpPr>
          <p:cNvPr id="101" name="accD2"/>
          <p:cNvSpPr txBox="1"/>
          <p:nvPr/>
        </p:nvSpPr>
        <p:spPr>
          <a:xfrm>
            <a:off x="8357616" y="4695444"/>
            <a:ext cx="31455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880" dirty="0">
                <a:solidFill>
                  <a:srgbClr val="667788"/>
                </a:solidFill>
              </a:rPr>
              <a:t>Freezing point vencido el 25-09-26. Los equipos ya están aprobados; falta el shelter.</a:t>
            </a:r>
            <a:endParaRPr lang="en-US" sz="880" dirty="0"/>
          </a:p>
        </p:txBody>
      </p:sp>
      <p:sp>
        <p:nvSpPr>
          <p:cNvPr id="102" name="num3"/>
          <p:cNvSpPr/>
          <p:nvPr/>
        </p:nvSpPr>
        <p:spPr>
          <a:xfrm>
            <a:off x="8083296" y="5074920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3" name="numT3"/>
          <p:cNvSpPr txBox="1"/>
          <p:nvPr/>
        </p:nvSpPr>
        <p:spPr>
          <a:xfrm>
            <a:off x="8083296" y="5074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104" name="accT3"/>
          <p:cNvSpPr txBox="1"/>
          <p:nvPr/>
        </p:nvSpPr>
        <p:spPr>
          <a:xfrm>
            <a:off x="8357616" y="5047488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3"/>
                </a:solidFill>
              </a:rPr>
              <a:t>Responder el reclamo de los ductos</a:t>
            </a:r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</a:rPr>
              <a:t>   PA-07</a:t>
            </a:r>
            <a:endParaRPr lang="en-US" sz="1000" dirty="0"/>
          </a:p>
        </p:txBody>
      </p:sp>
      <p:sp>
        <p:nvSpPr>
          <p:cNvPr id="105" name="accD3"/>
          <p:cNvSpPr txBox="1"/>
          <p:nvPr/>
        </p:nvSpPr>
        <p:spPr>
          <a:xfrm>
            <a:off x="8357616" y="5225796"/>
            <a:ext cx="31455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880" dirty="0">
                <a:solidFill>
                  <a:srgbClr val="667788"/>
                </a:solidFill>
              </a:rPr>
              <a:t>ABB pide adecuar la fecha de las posiciones 120/130/140 y evalúa impacto económico.</a:t>
            </a:r>
            <a:endParaRPr lang="en-US" sz="880" dirty="0"/>
          </a:p>
        </p:txBody>
      </p:sp>
      <p:sp>
        <p:nvSpPr>
          <p:cNvPr id="106" name="num4"/>
          <p:cNvSpPr/>
          <p:nvPr/>
        </p:nvSpPr>
        <p:spPr>
          <a:xfrm>
            <a:off x="8083296" y="5605272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7" name="numT4"/>
          <p:cNvSpPr txBox="1"/>
          <p:nvPr/>
        </p:nvSpPr>
        <p:spPr>
          <a:xfrm>
            <a:off x="8083296" y="56052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108" name="accT4"/>
          <p:cNvSpPr txBox="1"/>
          <p:nvPr/>
        </p:nvSpPr>
        <p:spPr>
          <a:xfrm>
            <a:off x="8357616" y="5577840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3"/>
                </a:solidFill>
              </a:rPr>
              <a:t>Entregar los mapas del PMS</a:t>
            </a:r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</a:rPr>
              <a:t>   PA-11</a:t>
            </a:r>
            <a:endParaRPr lang="en-US" sz="1000" dirty="0"/>
          </a:p>
        </p:txBody>
      </p:sp>
      <p:sp>
        <p:nvSpPr>
          <p:cNvPr id="109" name="accD4"/>
          <p:cNvSpPr txBox="1"/>
          <p:nvPr/>
        </p:nvSpPr>
        <p:spPr>
          <a:xfrm>
            <a:off x="8357616" y="5756148"/>
            <a:ext cx="31455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880" dirty="0">
                <a:solidFill>
                  <a:srgbClr val="667788"/>
                </a:solidFill>
              </a:rPr>
              <a:t>Mapas Modbus y Profinet. La configuración de comunicaciones arranca el 02-11-26.</a:t>
            </a:r>
            <a:endParaRPr lang="en-US" sz="880" dirty="0"/>
          </a:p>
        </p:txBody>
      </p:sp>
      <p:sp>
        <p:nvSpPr>
          <p:cNvPr id="110" name="fuentes"/>
          <p:cNvSpPr txBox="1"/>
          <p:nvPr/>
        </p:nvSpPr>
        <p:spPr>
          <a:xfrm>
            <a:off x="457200" y="632764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667788"/>
                </a:solidFill>
              </a:rPr>
              <a:t>Fuentes: ABB Salas y Ductos 5155-00-0009-VE-CO-PG-001 Rev 0 «Para construcción» (14-10-26) e informe de avance Nº 5 · ABB PMS SEP-2026 Rev 0 e informe Nº 4 · CAT Miron 5155-00-0022-VE-CO-PG-001 Rev A · Inauco 5155-00-0029-VE-CA-PG-001 Rev 0 «Para construcción» (23-10-26) · HPH Supplier Progress Report Nº 1 (15-10-26) · HARG PSCH_CPF2_Rev3.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Provisiones críticas CPF-2 — resumen gerencial</dc:title>
  <dc:subject>PptxGenJS Presentation</dc:subject>
  <dc:creator>AESA</dc:creator>
  <cp:lastModifiedBy>AESA</cp:lastModifiedBy>
  <cp:revision>1</cp:revision>
  <dcterms:created xsi:type="dcterms:W3CDTF">2026-10-29T12:45:30Z</dcterms:created>
  <dcterms:modified xsi:type="dcterms:W3CDTF">2026-10-29T12:45:30Z</dcterms:modified>
</cp:coreProperties>
</file>