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6400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600" b="1">
                <a:solidFill>
                  <a:srgbClr val="9DB8D8"/>
                </a:solidFill>
                <a:latin typeface="Calibri"/>
              </a:rPr>
              <a:t>CPF2 LA CALERA II · VACA MUERTA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1463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Alcance de Especialidades</a:t>
            </a:r>
          </a:p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Electricidad · Instrumentación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700" b="0">
                <a:solidFill>
                  <a:srgbClr val="DCE6F2"/>
                </a:solidFill>
                <a:latin typeface="Calibri"/>
              </a:rPr>
              <a:t>Sistemas · equipos · cargas · cables · salas · suministro · magnitudes y tiempos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700" b="1">
                <a:solidFill>
                  <a:srgbClr val="BF9000"/>
                </a:solidFill>
                <a:latin typeface="Calibri"/>
              </a:rPr>
              <a:t>Eje en fechas para cumplir RFSU 20-DIC-2027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0">
                <a:solidFill>
                  <a:srgbClr val="9DB8D8"/>
                </a:solidFill>
                <a:latin typeface="Calibri"/>
              </a:rPr>
              <a:t>Rev. 0 · 13-06-2026 · Primera revisión para depuración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Alcance por especialidad · Rev. 0 · 13-06-2026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ALCANCE DE ESPECIALIDADES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Enfoque de esta presentación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3B63"/>
                </a:solidFill>
                <a:latin typeface="Calibri"/>
              </a:rPr>
              <a:t>• Se presenta el alcance SEPARADO por especialidad, con datos de rápida visualización: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C55A11"/>
                </a:solidFill>
                <a:latin typeface="Calibri"/>
              </a:rPr>
              <a:t>– ELECTRICIDAD — sistemas y equipos, cargas, cables y salas; magnitudes y tiempos de ejecución.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2E75B6"/>
                </a:solidFill>
                <a:latin typeface="Calibri"/>
              </a:rPr>
              <a:t>– INSTRUMENTACIÓN — sistemas, provisión (AESA vs proveedor), montaje, cableado y Sala de Instrumentos.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BF9000"/>
                </a:solidFill>
                <a:latin typeface="Calibri"/>
              </a:rPr>
              <a:t>• Premisa transversal: PRIMERO el suministro y compras (equipos, salas, cables, instrumentos).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548235"/>
                </a:solidFill>
                <a:latin typeface="Calibri"/>
              </a:rPr>
              <a:t>• Precomisionado — pruebas en banco, en campo y punta a punta.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C00000"/>
                </a:solidFill>
                <a:latin typeface="Calibri"/>
              </a:rPr>
              <a:t>• Cronograma reducido (Gantt + hitos) con fechas tentativas para asegurar el RFSU 20-DIC-2027.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Alcance por especialidad · Rev. 0 · 13-06-2026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ELECTRICIDAD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4612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800" b="0">
                <a:solidFill>
                  <a:srgbClr val="DCE6F2"/>
                </a:solidFill>
                <a:latin typeface="Calibri"/>
              </a:rPr>
              <a:t>Sistemas y equipos · cargas · cables · salas · suministro · tiempos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ALCANCE DE ESPECIALIDADES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Electricidad · Suministro y compras (primero)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84278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74672"/>
                <a:gridCol w="2446208"/>
                <a:gridCol w="376339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Hito de suministro</a:t>
                      </a:r>
                    </a:p>
                  </a:txBody>
                  <a:tcPr marL="63500" marR="50800" marT="12700" marB="12700" anchor="ctr">
                    <a:solidFill>
                      <a:srgbClr val="C55A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Fecha</a:t>
                      </a:r>
                    </a:p>
                  </a:txBody>
                  <a:tcPr marL="63500" marR="50800" marT="12700" marB="12700" anchor="ctr">
                    <a:solidFill>
                      <a:srgbClr val="C55A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Nota</a:t>
                      </a:r>
                    </a:p>
                  </a:txBody>
                  <a:tcPr marL="63500" marR="50800" marT="12700" marB="12700" anchor="ctr">
                    <a:solidFill>
                      <a:srgbClr val="C55A1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OC ABB Salas SE#3 + SE#4 — aceptada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12-MAY-26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Inicio oficial ABB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OC ABB PMS — aceptada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22-MAY-26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PMS-001 + PMS-101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222222"/>
                          </a:solidFill>
                          <a:latin typeface="Calibri"/>
                        </a:rPr>
                        <a:t>★ OC Cables EL (target)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22222"/>
                          </a:solidFill>
                          <a:latin typeface="Calibri"/>
                        </a:rPr>
                        <a:t>01-OCT-26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22222"/>
                          </a:solidFill>
                          <a:latin typeface="Calibri"/>
                        </a:rPr>
                        <a:t>LT 150 d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Fabricación tableros (Brasil/Bs.As.)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SEP-NOV-26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37 tableros BT + PMS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FAT S#3 + S#4 (Brasil)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23-NOV-26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Witness AESA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222222"/>
                          </a:solidFill>
                          <a:latin typeface="Calibri"/>
                        </a:rPr>
                        <a:t>Llegada Cables EL a sitio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22222"/>
                          </a:solidFill>
                          <a:latin typeface="Calibri"/>
                        </a:rPr>
                        <a:t>28-FEB-27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22222"/>
                          </a:solidFill>
                          <a:latin typeface="Calibri"/>
                        </a:rPr>
                        <a:t>513 cables / 81.231 m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Llegada SE#4 / SE#3 a CPF2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08-ABR / 14-MAY-27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En módulos → armado en campo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897880"/>
            <a:ext cx="1133856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El suministro gobierna el inicio de obra: sin salas, cables y equipos en sitio no arranca el montaje. OC Cables EL ≤ 01-OCT-26 es condición para tender antes de mayo.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Alcance por especialidad · Rev. 0 · 13-06-2026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ALCANCE DE ESPECIALIDADES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Electricidad · Sistemas y equipos involucrados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36118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361188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09344"/>
            <a:ext cx="361188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600" b="1">
                <a:solidFill>
                  <a:srgbClr val="C55A11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14016"/>
            <a:ext cx="361188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Salas eléctricas SE#3 + SE#4 (ABB, en módulos)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6118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61188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609344"/>
            <a:ext cx="361188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600" b="1">
                <a:solidFill>
                  <a:srgbClr val="C55A11"/>
                </a:solidFill>
                <a:latin typeface="Calibri"/>
              </a:rPr>
              <a:t>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14016"/>
            <a:ext cx="361188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Tableros BT / CCMs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463040"/>
            <a:ext cx="36118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1463040"/>
            <a:ext cx="361188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609344"/>
            <a:ext cx="361188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600" b="1">
                <a:solidFill>
                  <a:srgbClr val="C55A11"/>
                </a:solidFill>
                <a:latin typeface="Calibri"/>
              </a:rPr>
              <a:t>PMS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414016"/>
            <a:ext cx="361188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Power Mgmt PMS-001 + PMS-101 (ABB)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291840"/>
            <a:ext cx="36118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291840"/>
            <a:ext cx="361188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438144"/>
            <a:ext cx="361188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600" b="1">
                <a:solidFill>
                  <a:srgbClr val="C55A11"/>
                </a:solidFill>
                <a:latin typeface="Calibri"/>
              </a:rPr>
              <a:t>MT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242816"/>
            <a:ext cx="361188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Celdas MT TGMT / TRMT + transformadores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291840"/>
            <a:ext cx="36118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291840"/>
            <a:ext cx="361188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3438144"/>
            <a:ext cx="361188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600" b="1">
                <a:solidFill>
                  <a:srgbClr val="C55A11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242816"/>
            <a:ext cx="361188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Variadores VFD (3 MT + 3 BT)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80" y="3291840"/>
            <a:ext cx="36118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80" y="3291840"/>
            <a:ext cx="361188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3438144"/>
            <a:ext cx="361188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600" b="1">
                <a:solidFill>
                  <a:srgbClr val="C55A11"/>
                </a:solidFill>
                <a:latin typeface="Calibri"/>
              </a:rPr>
              <a:t>79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4242816"/>
            <a:ext cx="361188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Motores (76 BT + 3 MT)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806440"/>
            <a:ext cx="1133856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Sistemas: distribución MT/BT, PMS (gestión de energía ABB), fuerza motriz, SSAA, iluminación, calefacción/trazado. Ampliación de la red de control PMS SE#3↔SE#4 (FO).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Alcance por especialidad · Rev. 0 · 13-06-2026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ALCANCE DE ESPECIALIDADES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Electricidad · Cargas y cables (magnitudes)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1">
                <a:solidFill>
                  <a:srgbClr val="C55A11"/>
                </a:solidFill>
                <a:latin typeface="Calibri"/>
              </a:rPr>
              <a:t>243 CARGAS ELÉCTRICAS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508760"/>
          <a:ext cx="5212079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9292"/>
                <a:gridCol w="1202787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Tipo de carga</a:t>
                      </a:r>
                    </a:p>
                  </a:txBody>
                  <a:tcPr marL="63500" marR="50800" marT="12700" marB="12700" anchor="ctr">
                    <a:solidFill>
                      <a:srgbClr val="C55A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Cant.</a:t>
                      </a:r>
                    </a:p>
                  </a:txBody>
                  <a:tcPr marL="63500" marR="50800" marT="12700" marB="12700" anchor="ctr">
                    <a:solidFill>
                      <a:srgbClr val="C55A1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Motores BT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Motores MT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Instrumentos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SSAA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Iluminación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Calefacción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VFD (BT+MT)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35040" y="118872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1">
                <a:solidFill>
                  <a:srgbClr val="C55A11"/>
                </a:solidFill>
                <a:latin typeface="Calibri"/>
              </a:rPr>
              <a:t>513 CABLES · 81.231 m · ~5.178 PUNTAS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35040" y="1508760"/>
          <a:ext cx="5760719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22017"/>
                <a:gridCol w="1227694"/>
                <a:gridCol w="1511008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Tipo de cable</a:t>
                      </a:r>
                    </a:p>
                  </a:txBody>
                  <a:tcPr marL="63500" marR="50800" marT="12700" marB="12700" anchor="ctr">
                    <a:solidFill>
                      <a:srgbClr val="C55A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Cables</a:t>
                      </a:r>
                    </a:p>
                  </a:txBody>
                  <a:tcPr marL="63500" marR="50800" marT="12700" marB="12700" anchor="ctr">
                    <a:solidFill>
                      <a:srgbClr val="C55A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Metros</a:t>
                      </a:r>
                    </a:p>
                  </a:txBody>
                  <a:tcPr marL="63500" marR="50800" marT="12700" marB="12700" anchor="ctr">
                    <a:solidFill>
                      <a:srgbClr val="C55A1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Potencia MT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2.110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BT Grande ≥35mm² ◄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17.470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BT Med/Peq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198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33.125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Control y Señales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192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28.126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FO / Ethernet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222222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22222"/>
                          </a:solidFill>
                          <a:latin typeface="Calibri"/>
                        </a:rPr>
                        <a:t>513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22222"/>
                          </a:solidFill>
                          <a:latin typeface="Calibri"/>
                        </a:rPr>
                        <a:t>81.231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35040" y="4434840"/>
            <a:ext cx="5760720" cy="7315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50" b="0">
                <a:solidFill>
                  <a:srgbClr val="595959"/>
                </a:solidFill>
                <a:latin typeface="Calibri"/>
              </a:rPr>
              <a:t>Puntas: 3.036 en salas + 1.717 en campo.</a:t>
            </a:r>
          </a:p>
          <a:p>
            <a:pPr algn="l"/>
            <a:r>
              <a:rPr sz="1150" b="0">
                <a:solidFill>
                  <a:srgbClr val="595959"/>
                </a:solidFill>
                <a:latin typeface="Calibri"/>
              </a:rPr>
              <a:t>BT Grande (104 c/17.470 m) = frente de ruta crítica 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Alcance por especialidad · Rev. 0 · 13-06-2026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ALCANCE DE ESPECIALIDADES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Electricidad · Tiempos de ejecución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84278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2663"/>
                <a:gridCol w="2371725"/>
                <a:gridCol w="2371725"/>
                <a:gridCol w="1328165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Frente de trabajo</a:t>
                      </a:r>
                    </a:p>
                  </a:txBody>
                  <a:tcPr marL="63500" marR="50800" marT="12700" marB="12700" anchor="ctr">
                    <a:solidFill>
                      <a:srgbClr val="C55A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Inicio</a:t>
                      </a:r>
                    </a:p>
                  </a:txBody>
                  <a:tcPr marL="63500" marR="50800" marT="12700" marB="12700" anchor="ctr">
                    <a:solidFill>
                      <a:srgbClr val="C55A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Fin</a:t>
                      </a:r>
                    </a:p>
                  </a:txBody>
                  <a:tcPr marL="63500" marR="50800" marT="12700" marB="12700" anchor="ctr">
                    <a:solidFill>
                      <a:srgbClr val="C55A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Días</a:t>
                      </a:r>
                    </a:p>
                  </a:txBody>
                  <a:tcPr marL="63500" marR="50800" marT="12700" marB="12700" anchor="ctr">
                    <a:solidFill>
                      <a:srgbClr val="C55A1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Bandejas portacables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01-MAR-27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05-ABR-27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222222"/>
                          </a:solidFill>
                          <a:latin typeface="Calibri"/>
                        </a:rPr>
                        <a:t>Tendido EL — BT Grande ◄ crítico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00">
                          <a:solidFill>
                            <a:srgbClr val="222222"/>
                          </a:solidFill>
                          <a:latin typeface="Calibri"/>
                        </a:rPr>
                        <a:t>01-MAR-27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00">
                          <a:solidFill>
                            <a:srgbClr val="222222"/>
                          </a:solidFill>
                          <a:latin typeface="Calibri"/>
                        </a:rPr>
                        <a:t>18-ABR-27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00">
                          <a:solidFill>
                            <a:srgbClr val="222222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Tendido EL — Med/Peq + Control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15-MAR-27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13-MAY-27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Tendido EL — Potencia MT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10-MAY-27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07-JUN-27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Armado shelters SE#4 / SE#3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08-ABR / 14-MAY-27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22-ABR / 03-JUN-27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14 / 21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Conexionado EL SE#4 → MT → SE#3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23-ABR-27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25-JUL-27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~94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222222"/>
                          </a:solidFill>
                          <a:latin typeface="Calibri"/>
                        </a:rPr>
                        <a:t>Megger (HOLD POINT)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00">
                          <a:solidFill>
                            <a:srgbClr val="222222"/>
                          </a:solidFill>
                          <a:latin typeface="Calibri"/>
                        </a:rPr>
                        <a:t>26-JUL-27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00">
                          <a:solidFill>
                            <a:srgbClr val="222222"/>
                          </a:solidFill>
                          <a:latin typeface="Calibri"/>
                        </a:rPr>
                        <a:t>15-AGO-27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00">
                          <a:solidFill>
                            <a:srgbClr val="222222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Energización progresiva MT→BT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16-AGO-27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01-SEP-27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897880"/>
            <a:ext cx="1133856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~263 días con 3-4 cuadrillas. Tendido pivota antes de la llegada de salas; conexionado pivota sobre el armado en campo de cada shelter.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Alcance por especialidad · Rev. 0 · 13-06-2026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INSTRUMENTACIÓN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4612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800" b="0">
                <a:solidFill>
                  <a:srgbClr val="DCE6F2"/>
                </a:solidFill>
                <a:latin typeface="Calibri"/>
              </a:rPr>
              <a:t>Sistemas · provisión AESA vs proveedor · montaje · cableado · Sala INS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ALCANCE DE ESPECIALIDADES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Instrumentación · Sistemas y suministro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6675119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3658"/>
                <a:gridCol w="3727664"/>
                <a:gridCol w="1733797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Sistema</a:t>
                      </a:r>
                    </a:p>
                  </a:txBody>
                  <a:tcPr marL="63500" marR="508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marL="63500" marR="508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Provee</a:t>
                      </a:r>
                    </a:p>
                  </a:txBody>
                  <a:tcPr marL="63500" marR="50800" marT="12700" marB="12700" anchor="ctr">
                    <a:solidFill>
                      <a:srgbClr val="2E75B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PCS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Control de procesos (DCS) — Sala INS / Sala 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Inauco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ESD / SIS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Parada de emergencia (seguridad)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HIMA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PSS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Sistema de seguridad/parada de procesos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Inauco / HIMA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F&amp;G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Fuego y Gas — 120 dispositivos de campo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AESA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SCADA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Supervisión y adquisición de datos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Inauco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PMS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Power Management System (interfase EL)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ABB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141732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BF9000"/>
                </a:solidFill>
                <a:latin typeface="Calibri"/>
              </a:rPr>
              <a:t>• Suministro (primero):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OC Cables IN ≤ 01-AGO-26 → sitio 28-NOV-26.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Instrumentos: entrega PROGRESIVA (Fase 1 válvulas/en línea; Fase 2 resto).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E75B6"/>
                </a:solidFill>
                <a:latin typeface="Calibri"/>
              </a:rPr>
              <a:t>• Sala de Instrumentos (Sala INS / Sala 7):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Aloja PCS + nodos SIS; Shelters INS005/006/007.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Inicio instalación PCS 17-MAR-27.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Alcance por especialidad · Rev. 0 · 13-06-2026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ALCANCE DE ESPECIALIDADES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Instrumentación · Provisión: AESA vs proveedor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2743200" cy="9144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17904"/>
            <a:ext cx="274320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600" b="1">
                <a:solidFill>
                  <a:srgbClr val="548235"/>
                </a:solidFill>
                <a:latin typeface="Calibri"/>
              </a:rPr>
              <a:t>897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39696"/>
            <a:ext cx="274320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Provistos por AESA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74320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517904"/>
            <a:ext cx="274320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600" b="1">
                <a:solidFill>
                  <a:srgbClr val="C55A11"/>
                </a:solidFill>
                <a:latin typeface="Calibri"/>
              </a:rPr>
              <a:t>1.894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39696"/>
            <a:ext cx="274320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Provistos por proveedor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371600"/>
            <a:ext cx="2743200" cy="9144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517904"/>
            <a:ext cx="274320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600" b="1">
                <a:solidFill>
                  <a:srgbClr val="595959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39696"/>
            <a:ext cx="274320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Existentes (reutil.)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37160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1371600"/>
            <a:ext cx="274320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517904"/>
            <a:ext cx="274320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600" b="1">
                <a:solidFill>
                  <a:srgbClr val="1F3B63"/>
                </a:solidFill>
                <a:latin typeface="Calibri"/>
              </a:rPr>
              <a:t>2.798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139696"/>
            <a:ext cx="274320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Instrumentos totales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97180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1">
                <a:solidFill>
                  <a:srgbClr val="C55A11"/>
                </a:solidFill>
                <a:latin typeface="Calibri"/>
              </a:rPr>
              <a:t>Provisión por proveedor (1.894)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11480" y="3291840"/>
          <a:ext cx="548640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67200"/>
                <a:gridCol w="12192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Proveedor / paquete</a:t>
                      </a:r>
                    </a:p>
                  </a:txBody>
                  <a:tcPr marL="63500" marR="50800" marT="12700" marB="12700" anchor="ctr">
                    <a:solidFill>
                      <a:srgbClr val="C55A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Cant.</a:t>
                      </a:r>
                    </a:p>
                  </a:txBody>
                  <a:tcPr marL="63500" marR="50800" marT="12700" marB="12700" anchor="ctr">
                    <a:solidFill>
                      <a:srgbClr val="C55A1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PROPAK (skid principal)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1.505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Skid gas combustible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165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Proveedor de válvula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Proveedor de bomba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Skid inyección químicos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Tanque / filtro / otros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309360" y="310896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2E75B6"/>
                </a:solidFill>
                <a:latin typeface="Calibri"/>
              </a:rPr>
              <a:t>• Lectura para mensurar el alcance: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AESA provee 1/3 de los instrumentos (897); el resto llega con paquetes de vendor (PROPAK domina).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F&amp;G (120) es 100% AESA. ZSO/ZSC (fines de carrera) mayormente AESA.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Termovainas, TE, PSV, RO, LG provienen mayormente de proveedor (skids/cañería).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Alcance por especialidad · Rev. 0 · 13-06-2026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ALCANCE DE ESPECIALIDADES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Instrumentación · ¿Quién monta? (mensurar el trabajo)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3657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3657600" cy="9144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17904"/>
            <a:ext cx="365760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600" b="1">
                <a:solidFill>
                  <a:srgbClr val="548235"/>
                </a:solidFill>
                <a:latin typeface="Calibri"/>
              </a:rPr>
              <a:t>1.163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39696"/>
            <a:ext cx="365760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Monta AESA (897 + 266 'EPC')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657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65760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517904"/>
            <a:ext cx="365760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600" b="1">
                <a:solidFill>
                  <a:srgbClr val="C55A11"/>
                </a:solidFill>
                <a:latin typeface="Calibri"/>
              </a:rPr>
              <a:t>1.635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139696"/>
            <a:ext cx="365760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Premontados por vendor (skids)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371600"/>
            <a:ext cx="35661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371600"/>
            <a:ext cx="356616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517904"/>
            <a:ext cx="356616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600" b="1">
                <a:solidFill>
                  <a:srgbClr val="2E75B6"/>
                </a:solidFill>
                <a:latin typeface="Calibri"/>
              </a:rPr>
              <a:t>~42%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139696"/>
            <a:ext cx="356616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Del total lo monta AESA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11480" y="3017520"/>
          <a:ext cx="11384278" cy="29215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40347"/>
                <a:gridCol w="2362775"/>
                <a:gridCol w="2577572"/>
                <a:gridCol w="1503584"/>
              </a:tblGrid>
              <a:tr h="32461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Típico de montaje</a:t>
                      </a:r>
                    </a:p>
                  </a:txBody>
                  <a:tcPr marL="63500" marR="508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Monta AESA</a:t>
                      </a:r>
                    </a:p>
                  </a:txBody>
                  <a:tcPr marL="63500" marR="508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Premont. vendor</a:t>
                      </a:r>
                    </a:p>
                  </a:txBody>
                  <a:tcPr marL="63500" marR="508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63500" marR="50800" marT="12700" marB="12700" anchor="ctr">
                    <a:solidFill>
                      <a:srgbClr val="2E75B6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Válvula en línea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145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340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485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Elemento en línea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354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435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Soporte junto a línea (stand)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243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367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610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Sobre equipo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515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640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Sobre válvula (accesorio)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183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483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Otro instrumento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Estructura / campo (F&amp;G)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222222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22222"/>
                          </a:solidFill>
                          <a:latin typeface="Calibri"/>
                        </a:rPr>
                        <a:t>1.163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22222"/>
                          </a:solidFill>
                          <a:latin typeface="Calibri"/>
                        </a:rPr>
                        <a:t>1.635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22222"/>
                          </a:solidFill>
                          <a:latin typeface="Calibri"/>
                        </a:rPr>
                        <a:t>2.798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11480" y="5989320"/>
            <a:ext cx="1133856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50" b="0">
                <a:solidFill>
                  <a:srgbClr val="595959"/>
                </a:solidFill>
                <a:latin typeface="Calibri"/>
              </a:rPr>
              <a:t>AESA monta sus instrumentos + los de proveedor marcados 'montaje por EPC' (266). Los premontados en skids requieren igual conexionado y loop check.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Alcance por especialidad · Rev. 0 · 13-06-2026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ALCANCE DE ESPECIALIDADES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Instrumentación · Discriminación por tipo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Calibri"/>
              </a:rPr>
              <a:t>Top tipos (AESA / proveedor)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508760"/>
          <a:ext cx="6035039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5007"/>
                <a:gridCol w="3017520"/>
                <a:gridCol w="976256"/>
                <a:gridCol w="976256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Cód.</a:t>
                      </a:r>
                    </a:p>
                  </a:txBody>
                  <a:tcPr marL="63500" marR="508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63500" marR="508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AESA</a:t>
                      </a:r>
                    </a:p>
                  </a:txBody>
                  <a:tcPr marL="63500" marR="508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Prov.</a:t>
                      </a:r>
                    </a:p>
                  </a:txBody>
                  <a:tcPr marL="63500" marR="50800" marT="12700" marB="12700" anchor="ctr"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PI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Manómetro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133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TW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Termovaina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198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TE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Sensor temp. (RTD/TC)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157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PSV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Válvula de seguridad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140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PIT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Transmisor de presión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RO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Orificio de restricción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LG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Indicador nivel magnético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ZSO/ZSC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Fines de carrera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66560" y="1188720"/>
            <a:ext cx="49377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Calibri"/>
              </a:rPr>
              <a:t>Por tipo de montaje (7 típicos)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766560" y="1508760"/>
          <a:ext cx="4937759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2114"/>
                <a:gridCol w="1155645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Típico</a:t>
                      </a:r>
                    </a:p>
                  </a:txBody>
                  <a:tcPr marL="63500" marR="508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Cant.</a:t>
                      </a:r>
                    </a:p>
                  </a:txBody>
                  <a:tcPr marL="63500" marR="50800" marT="12700" marB="12700" anchor="ctr"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Sobre equipo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640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Soporte junto a línea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610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Válvula en línea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485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Sobre válvula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483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Elemento en línea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435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F&amp;G (estructura)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Otro instrumento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566928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En línea (válvulas + elementos) = 920 → primeros en entregar/montar. Montaje específico = 1.878 → entrega progresiva. La distribución por tipo dimensiona típicos de montaje y materiales.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Alcance por especialidad · Rev. 0 · 13-06-2026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ALCANCE DE ESPECIALIDADES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Instrumentación · Cableado y Sala de Instrumentos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274320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17904"/>
            <a:ext cx="274320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600" b="1">
                <a:solidFill>
                  <a:srgbClr val="2E75B6"/>
                </a:solidFill>
                <a:latin typeface="Calibri"/>
              </a:rPr>
              <a:t>885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39696"/>
            <a:ext cx="274320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Cables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74320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517904"/>
            <a:ext cx="274320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600" b="1">
                <a:solidFill>
                  <a:srgbClr val="2E75B6"/>
                </a:solidFill>
                <a:latin typeface="Calibri"/>
              </a:rPr>
              <a:t>65.315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39696"/>
            <a:ext cx="274320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Metros a tender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371600"/>
            <a:ext cx="274320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517904"/>
            <a:ext cx="274320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600" b="1">
                <a:solidFill>
                  <a:srgbClr val="2E75B6"/>
                </a:solidFill>
                <a:latin typeface="Calibri"/>
              </a:rPr>
              <a:t>15.752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39696"/>
            <a:ext cx="274320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Puntas a interconectar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37160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1371600"/>
            <a:ext cx="274320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517904"/>
            <a:ext cx="274320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600" b="1">
                <a:solidFill>
                  <a:srgbClr val="2E75B6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139696"/>
            <a:ext cx="274320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Shelters INS (005/06/07)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063240"/>
            <a:ext cx="11338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b="1">
                <a:solidFill>
                  <a:srgbClr val="2E75B6"/>
                </a:solidFill>
                <a:latin typeface="Calibri"/>
              </a:rPr>
              <a:t>• Recorrido: instrumento de campo → Junction Box (JB) → Shelter Sala INS → PCS / SIS.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Tendido: ~150 días con 3 cuadrillas; ventana 01-FEB→14-MAR exige 5-6 cuadrillas (antes del PCS 17-MAR).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Conexionado: ~247 días-hombre (15.752 puntas); arranca con la instalación del PCS (17-MAR→31-JUL).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Tipos de cable: par/terna apantallado armado (1P/2P/multipar #16-18AWG), FO monomodo y FTP Cat6.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Alcance por especialidad · Rev. 0 · 13-06-2026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ALCANCE DE ESPECIALIDADES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Precomisionado · Tareas a contemplar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84279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2668"/>
                <a:gridCol w="2426158"/>
                <a:gridCol w="5785453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Tarea</a:t>
                      </a:r>
                    </a:p>
                  </a:txBody>
                  <a:tcPr marL="63500" marR="50800" marT="12700" marB="12700" anchor="ctr">
                    <a:solidFill>
                      <a:srgbClr val="548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Cuándo</a:t>
                      </a:r>
                    </a:p>
                  </a:txBody>
                  <a:tcPr marL="63500" marR="50800" marT="12700" marB="12700" anchor="ctr">
                    <a:solidFill>
                      <a:srgbClr val="548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marL="63500" marR="50800" marT="12700" marB="12700" anchor="ctr">
                    <a:solidFill>
                      <a:srgbClr val="54823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222222"/>
                          </a:solidFill>
                          <a:latin typeface="Calibri"/>
                        </a:rPr>
                        <a:t>Pruebas en BANCO (calibración)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22222"/>
                          </a:solidFill>
                          <a:latin typeface="Calibri"/>
                        </a:rPr>
                        <a:t>DIC-26 → MAR-27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22222"/>
                          </a:solidFill>
                          <a:latin typeface="Calibri"/>
                        </a:rPr>
                        <a:t>Calibración/seteo de instrumentos ANTES del montaje (por fase de entrega)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222222"/>
                          </a:solidFill>
                          <a:latin typeface="Calibri"/>
                        </a:rPr>
                        <a:t>Prueba PUNTA a PUNTA (continuidad)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22222"/>
                          </a:solidFill>
                          <a:latin typeface="Calibri"/>
                        </a:rPr>
                        <a:t>MAR → AGO-27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22222"/>
                          </a:solidFill>
                          <a:latin typeface="Calibri"/>
                        </a:rPr>
                        <a:t>Continuidad cable extremo a extremo + identificación, por cada punta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Megger EL (aislación)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26-JUL → 15-AGO-27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Circuito por circuito · HOLD POINT ITP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Loop check IN (lazo completo)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JUN → AGO-27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Sensor → JB → Sala INS → PCS/SIS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Energización progresiva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16-AGO → 01-SEP-27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MT → transformadores → BT · HOLD POINT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Precomisionado funcional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SEP-27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EL (02→22-SEP) + IN (lazos PCS/SIS)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989320"/>
            <a:ext cx="1133856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Calibri"/>
              </a:rPr>
              <a:t>Arranca con el banco (pre-montaje) y se completa con el comisionado integrado (23-SEP→19-DIC) y SAT PMS (OCT-DIC) → RFSU 20-DIC.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Alcance por especialidad · Rev. 0 · 13-06-2026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ALCANCE DE ESPECIALIDADES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Cronograma reducido · etapas e hitos hacia RFSU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691640"/>
            <a:ext cx="900" cy="2926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08177" y="1691640"/>
            <a:ext cx="900" cy="2926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6977" y="1435608"/>
            <a:ext cx="822960" cy="2286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800" b="1">
                <a:solidFill>
                  <a:srgbClr val="595959"/>
                </a:solidFill>
                <a:latin typeface="Calibri"/>
              </a:rPr>
              <a:t>Jul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38392" y="1691640"/>
            <a:ext cx="900" cy="2926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68607" y="1691640"/>
            <a:ext cx="900" cy="2926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4944" y="1691640"/>
            <a:ext cx="900" cy="2926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15160" y="1691640"/>
            <a:ext cx="900" cy="2926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31497" y="1691640"/>
            <a:ext cx="900" cy="2926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1712" y="1691640"/>
            <a:ext cx="900" cy="2926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0512" y="1435608"/>
            <a:ext cx="822960" cy="2286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800" b="1">
                <a:solidFill>
                  <a:srgbClr val="595959"/>
                </a:solidFill>
                <a:latin typeface="Calibri"/>
              </a:rPr>
              <a:t>2027 Ene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91927" y="1691640"/>
            <a:ext cx="900" cy="2926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80509" y="1691640"/>
            <a:ext cx="900" cy="2926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10724" y="1691640"/>
            <a:ext cx="900" cy="2926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27061" y="1691640"/>
            <a:ext cx="900" cy="2926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57276" y="1691640"/>
            <a:ext cx="900" cy="2926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73614" y="1691640"/>
            <a:ext cx="900" cy="2926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2414" y="1435608"/>
            <a:ext cx="822960" cy="2286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800" b="1">
                <a:solidFill>
                  <a:srgbClr val="595959"/>
                </a:solidFill>
                <a:latin typeface="Calibri"/>
              </a:rPr>
              <a:t>Jul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03829" y="1691640"/>
            <a:ext cx="900" cy="2926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34044" y="1691640"/>
            <a:ext cx="900" cy="2926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0381" y="1691640"/>
            <a:ext cx="900" cy="2926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80596" y="1691640"/>
            <a:ext cx="900" cy="2926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896934" y="1691640"/>
            <a:ext cx="900" cy="2926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327149" y="1691640"/>
            <a:ext cx="900" cy="2926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25949" y="1435608"/>
            <a:ext cx="822960" cy="2286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800" b="1">
                <a:solidFill>
                  <a:srgbClr val="595959"/>
                </a:solidFill>
                <a:latin typeface="Calibri"/>
              </a:rPr>
              <a:t>2028 Ene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1719072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50" b="0">
                <a:solidFill>
                  <a:srgbClr val="222222"/>
                </a:solidFill>
                <a:latin typeface="Calibri"/>
              </a:rPr>
              <a:t>Suministro y compras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0" y="1737360"/>
            <a:ext cx="4815634" cy="212598"/>
          </a:xfrm>
          <a:prstGeom prst="round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073402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50" b="0">
                <a:solidFill>
                  <a:srgbClr val="222222"/>
                </a:solidFill>
                <a:latin typeface="Calibri"/>
              </a:rPr>
              <a:t>Tendido cables 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91927" y="2091690"/>
            <a:ext cx="568994" cy="212598"/>
          </a:xfrm>
          <a:prstGeom prst="roundRect">
            <a:avLst/>
          </a:prstGeom>
          <a:solidFill>
            <a:srgbClr val="2E75B6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427732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50" b="0">
                <a:solidFill>
                  <a:srgbClr val="222222"/>
                </a:solidFill>
                <a:latin typeface="Calibri"/>
              </a:rPr>
              <a:t>Montaje instrumentos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56003" y="2446020"/>
            <a:ext cx="2303733" cy="21259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2782062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50" b="0">
                <a:solidFill>
                  <a:srgbClr val="222222"/>
                </a:solidFill>
                <a:latin typeface="Calibri"/>
              </a:rPr>
              <a:t>Tendido cables 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0509" y="2800350"/>
            <a:ext cx="1013087" cy="212598"/>
          </a:xfrm>
          <a:prstGeom prst="roundRect">
            <a:avLst/>
          </a:prstGeom>
          <a:solidFill>
            <a:srgbClr val="C55A11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3136392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50" b="0">
                <a:solidFill>
                  <a:srgbClr val="222222"/>
                </a:solidFill>
                <a:latin typeface="Calibri"/>
              </a:rPr>
              <a:t>Armado salas + conexionado 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07869" y="3154680"/>
            <a:ext cx="1498814" cy="212598"/>
          </a:xfrm>
          <a:prstGeom prst="roundRect">
            <a:avLst/>
          </a:prstGeom>
          <a:solidFill>
            <a:srgbClr val="C55A11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490722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50" b="0">
                <a:solidFill>
                  <a:srgbClr val="222222"/>
                </a:solidFill>
                <a:latin typeface="Calibri"/>
              </a:rPr>
              <a:t>Conexionado IN + loop check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02555" y="3509010"/>
            <a:ext cx="2164954" cy="21259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3845052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50" b="0">
                <a:solidFill>
                  <a:srgbClr val="222222"/>
                </a:solidFill>
                <a:latin typeface="Calibri"/>
              </a:rPr>
              <a:t>Megger + energización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20561" y="3863340"/>
            <a:ext cx="513483" cy="212598"/>
          </a:xfrm>
          <a:prstGeom prst="roundRect">
            <a:avLst/>
          </a:prstGeom>
          <a:solidFill>
            <a:srgbClr val="548235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4199382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50" b="0">
                <a:solidFill>
                  <a:srgbClr val="222222"/>
                </a:solidFill>
                <a:latin typeface="Calibri"/>
              </a:rPr>
              <a:t>Precom + comisionado + SAT PMS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34044" y="4217670"/>
            <a:ext cx="1512692" cy="212598"/>
          </a:xfrm>
          <a:prstGeom prst="roundRect">
            <a:avLst/>
          </a:prstGeom>
          <a:solidFill>
            <a:srgbClr val="548235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160614" y="1645920"/>
            <a:ext cx="20000" cy="30175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80614" y="4636008"/>
            <a:ext cx="1097280" cy="2286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Calibri"/>
              </a:rPr>
              <a:t>RFSU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489204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1">
                <a:solidFill>
                  <a:srgbClr val="1F3B63"/>
                </a:solidFill>
                <a:latin typeface="Calibri"/>
              </a:rPr>
              <a:t>Hitos para llegar al objetivo: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411480" y="5257800"/>
          <a:ext cx="11384275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5466"/>
                <a:gridCol w="1405466"/>
                <a:gridCol w="1405466"/>
                <a:gridCol w="1546013"/>
                <a:gridCol w="1405466"/>
                <a:gridCol w="1405466"/>
                <a:gridCol w="1405466"/>
                <a:gridCol w="1405466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Cables IN sitio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Tendido IN/PCS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Cables EL sitio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SE#4 / SE#3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Conexionado fin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Energización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Precom fin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RFSU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28-NOV-26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14→17-MAR-27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28-FEB-27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08-ABR / 14-MAY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25-JUL-27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01-SEP-27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30-SEP-27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20-DIC-27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Alcance por especialidad · Rev. 0 · 13-06-2026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