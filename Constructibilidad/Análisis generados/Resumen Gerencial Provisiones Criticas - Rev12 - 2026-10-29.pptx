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una página del Cronograma Ejecutivo de Provisiones Críticas Rev12 (29-10-2026). Camino crítico de sistemas: la OC de HIMA Argentina gobierna el cierre del 10-05-2027. La última entrega del paquete son los ductos de barras el 08-07-2027, con el plazo aún sin confirmar por ABB. Seis de las ocho provisiones sostienen su fecha; las dos excepciones (ductos y HARG) dependen de definiciones de AESA. CAT Miron: primera inspección en planta el 21-10-26, sin no conformidades, con el plan de ensayos ya emitido pero sin fechas convocadas.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3774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Provisiones críticas CPF-2 · estado al 29-10-2026</a:t>
            </a:r>
            <a:endParaRPr lang="en-US" sz="2700" dirty="0"/>
          </a:p>
        </p:txBody>
      </p:sp>
      <p:sp>
        <p:nvSpPr>
          <p:cNvPr id="3" name="subtitulo"/>
          <p:cNvSpPr txBox="1"/>
          <p:nvPr/>
        </p:nvSpPr>
        <p:spPr>
          <a:xfrm>
            <a:off x="457200" y="7315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Cronograma ejecutivo de provisiones críticas · ocho provisiones · seguimiento para PPSA</a:t>
            </a:r>
            <a:endParaRPr lang="en-US" sz="1250" dirty="0"/>
          </a:p>
        </p:txBody>
      </p:sp>
      <p:sp>
        <p:nvSpPr>
          <p:cNvPr id="4" name="badgeRev"/>
          <p:cNvSpPr/>
          <p:nvPr/>
        </p:nvSpPr>
        <p:spPr>
          <a:xfrm>
            <a:off x="10469880" y="292608"/>
            <a:ext cx="1234440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badgeRevTxt"/>
          <p:cNvSpPr txBox="1"/>
          <p:nvPr/>
        </p:nvSpPr>
        <p:spPr>
          <a:xfrm>
            <a:off x="10469880" y="2926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 12</a:t>
            </a:r>
            <a:endParaRPr lang="en-US" sz="1400" dirty="0"/>
          </a:p>
        </p:txBody>
      </p:sp>
      <p:sp>
        <p:nvSpPr>
          <p:cNvPr id="6" name="kpiBox0"/>
          <p:cNvSpPr/>
          <p:nvPr/>
        </p:nvSpPr>
        <p:spPr>
          <a:xfrm>
            <a:off x="45720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" name="kpiL0"/>
          <p:cNvSpPr txBox="1"/>
          <p:nvPr/>
        </p:nvSpPr>
        <p:spPr>
          <a:xfrm>
            <a:off x="62179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CIERRE DEL CAMINO CRÍTICO</a:t>
            </a:r>
            <a:endParaRPr lang="en-US" sz="850" dirty="0"/>
          </a:p>
        </p:txBody>
      </p:sp>
      <p:sp>
        <p:nvSpPr>
          <p:cNvPr id="8" name="kpiV0"/>
          <p:cNvSpPr txBox="1"/>
          <p:nvPr/>
        </p:nvSpPr>
        <p:spPr>
          <a:xfrm>
            <a:off x="62179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2100" dirty="0"/>
          </a:p>
        </p:txBody>
      </p:sp>
      <p:sp>
        <p:nvSpPr>
          <p:cNvPr id="9" name="kpiD0"/>
          <p:cNvSpPr txBox="1"/>
          <p:nvPr/>
        </p:nvSpPr>
        <p:spPr>
          <a:xfrm>
            <a:off x="62179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OC HARG → HPH → HARG → Inauco</a:t>
            </a:r>
            <a:endParaRPr lang="en-US" sz="900" dirty="0"/>
          </a:p>
        </p:txBody>
      </p:sp>
      <p:sp>
        <p:nvSpPr>
          <p:cNvPr id="10" name="kpiBox1"/>
          <p:cNvSpPr/>
          <p:nvPr/>
        </p:nvSpPr>
        <p:spPr>
          <a:xfrm>
            <a:off x="332613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1" name="kpiL1"/>
          <p:cNvSpPr txBox="1"/>
          <p:nvPr/>
        </p:nvSpPr>
        <p:spPr>
          <a:xfrm>
            <a:off x="349072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ÚLTIMA ENTREGA DEL PAQUETE</a:t>
            </a:r>
            <a:endParaRPr lang="en-US" sz="850" dirty="0"/>
          </a:p>
        </p:txBody>
      </p:sp>
      <p:sp>
        <p:nvSpPr>
          <p:cNvPr id="12" name="kpiV1"/>
          <p:cNvSpPr txBox="1"/>
          <p:nvPr/>
        </p:nvSpPr>
        <p:spPr>
          <a:xfrm>
            <a:off x="349072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2100" dirty="0"/>
          </a:p>
        </p:txBody>
      </p:sp>
      <p:sp>
        <p:nvSpPr>
          <p:cNvPr id="13" name="kpiD1"/>
          <p:cNvSpPr txBox="1"/>
          <p:nvPr/>
        </p:nvSpPr>
        <p:spPr>
          <a:xfrm>
            <a:off x="349072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Ductos de barras — sin confirmar</a:t>
            </a:r>
            <a:endParaRPr lang="en-US" sz="900" dirty="0"/>
          </a:p>
        </p:txBody>
      </p:sp>
      <p:sp>
        <p:nvSpPr>
          <p:cNvPr id="14" name="kpiBox2"/>
          <p:cNvSpPr/>
          <p:nvPr/>
        </p:nvSpPr>
        <p:spPr>
          <a:xfrm>
            <a:off x="619506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kpiL2"/>
          <p:cNvSpPr txBox="1"/>
          <p:nvPr/>
        </p:nvSpPr>
        <p:spPr>
          <a:xfrm>
            <a:off x="635965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ENTREGAS DENTRO DE 2026</a:t>
            </a:r>
            <a:endParaRPr lang="en-US" sz="850" dirty="0"/>
          </a:p>
        </p:txBody>
      </p:sp>
      <p:sp>
        <p:nvSpPr>
          <p:cNvPr id="16" name="kpiV2"/>
          <p:cNvSpPr txBox="1"/>
          <p:nvPr/>
        </p:nvSpPr>
        <p:spPr>
          <a:xfrm>
            <a:off x="635965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8</a:t>
            </a:r>
            <a:endParaRPr lang="en-US" sz="2100" dirty="0"/>
          </a:p>
        </p:txBody>
      </p:sp>
      <p:sp>
        <p:nvSpPr>
          <p:cNvPr id="17" name="kpiD2"/>
          <p:cNvSpPr txBox="1"/>
          <p:nvPr/>
        </p:nvSpPr>
        <p:spPr>
          <a:xfrm>
            <a:off x="635965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Transformadores y marshalling</a:t>
            </a:r>
            <a:endParaRPr lang="en-US" sz="900" dirty="0"/>
          </a:p>
        </p:txBody>
      </p:sp>
      <p:sp>
        <p:nvSpPr>
          <p:cNvPr id="18" name="kpiBox3"/>
          <p:cNvSpPr/>
          <p:nvPr/>
        </p:nvSpPr>
        <p:spPr>
          <a:xfrm>
            <a:off x="906399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kpiL3"/>
          <p:cNvSpPr txBox="1"/>
          <p:nvPr/>
        </p:nvSpPr>
        <p:spPr>
          <a:xfrm>
            <a:off x="922858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PUNTOS DE ATENCIÓN ABIERTOS</a:t>
            </a:r>
            <a:endParaRPr lang="en-US" sz="850" dirty="0"/>
          </a:p>
        </p:txBody>
      </p:sp>
      <p:sp>
        <p:nvSpPr>
          <p:cNvPr id="20" name="kpiV3"/>
          <p:cNvSpPr txBox="1"/>
          <p:nvPr/>
        </p:nvSpPr>
        <p:spPr>
          <a:xfrm>
            <a:off x="922858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100" dirty="0"/>
          </a:p>
        </p:txBody>
      </p:sp>
      <p:sp>
        <p:nvSpPr>
          <p:cNvPr id="21" name="kpiD3"/>
          <p:cNvSpPr txBox="1"/>
          <p:nvPr/>
        </p:nvSpPr>
        <p:spPr>
          <a:xfrm>
            <a:off x="922858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11 en severidad alta</a:t>
            </a:r>
            <a:endParaRPr lang="en-US" sz="900" dirty="0"/>
          </a:p>
        </p:txBody>
      </p:sp>
      <p:sp>
        <p:nvSpPr>
          <p:cNvPr id="22" name="hdrProv"/>
          <p:cNvSpPr txBox="1"/>
          <p:nvPr/>
        </p:nvSpPr>
        <p:spPr>
          <a:xfrm>
            <a:off x="457200" y="224942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comprometidas por provisión</a:t>
            </a:r>
            <a:endParaRPr lang="en-US" sz="1300" dirty="0"/>
          </a:p>
        </p:txBody>
      </p:sp>
      <p:sp>
        <p:nvSpPr>
          <p:cNvPr id="23" name="thP"/>
          <p:cNvSpPr txBox="1"/>
          <p:nvPr/>
        </p:nvSpPr>
        <p:spPr>
          <a:xfrm>
            <a:off x="749808" y="2542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PROVISIÓN</a:t>
            </a:r>
            <a:endParaRPr lang="en-US" sz="800" dirty="0"/>
          </a:p>
        </p:txBody>
      </p:sp>
      <p:sp>
        <p:nvSpPr>
          <p:cNvPr id="24" name="thE"/>
          <p:cNvSpPr txBox="1"/>
          <p:nvPr/>
        </p:nvSpPr>
        <p:spPr>
          <a:xfrm>
            <a:off x="3456432" y="2542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ENTREGA</a:t>
            </a:r>
            <a:endParaRPr lang="en-US" sz="800" dirty="0"/>
          </a:p>
        </p:txBody>
      </p:sp>
      <p:sp>
        <p:nvSpPr>
          <p:cNvPr id="25" name="thA"/>
          <p:cNvSpPr txBox="1"/>
          <p:nvPr/>
        </p:nvSpPr>
        <p:spPr>
          <a:xfrm>
            <a:off x="4773168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AVANCE</a:t>
            </a:r>
            <a:endParaRPr lang="en-US" sz="800" dirty="0"/>
          </a:p>
        </p:txBody>
      </p:sp>
      <p:sp>
        <p:nvSpPr>
          <p:cNvPr id="26" name="dot0"/>
          <p:cNvSpPr/>
          <p:nvPr/>
        </p:nvSpPr>
        <p:spPr>
          <a:xfrm>
            <a:off x="457200" y="2852928"/>
            <a:ext cx="137160" cy="137160"/>
          </a:xfrm>
          <a:prstGeom prst="ellipse">
            <a:avLst/>
          </a:prstGeom>
          <a:solidFill>
            <a:srgbClr val="33691E"/>
          </a:solidFill>
          <a:ln w="12700">
            <a:solidFill>
              <a:srgbClr val="33691E"/>
            </a:solidFill>
            <a:prstDash val="solid"/>
          </a:ln>
        </p:spPr>
      </p:sp>
      <p:sp>
        <p:nvSpPr>
          <p:cNvPr id="27" name="nm0"/>
          <p:cNvSpPr txBox="1"/>
          <p:nvPr/>
        </p:nvSpPr>
        <p:spPr>
          <a:xfrm>
            <a:off x="749808" y="27797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CAT Miron — Transformadores</a:t>
            </a:r>
            <a:endParaRPr lang="en-US" sz="1150" dirty="0"/>
          </a:p>
        </p:txBody>
      </p:sp>
      <p:sp>
        <p:nvSpPr>
          <p:cNvPr id="28" name="nt0"/>
          <p:cNvSpPr txBox="1"/>
          <p:nvPr/>
        </p:nvSpPr>
        <p:spPr>
          <a:xfrm>
            <a:off x="749808" y="2971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Inspección OK · 13 un. + 3 lotes repuestos</a:t>
            </a:r>
            <a:endParaRPr lang="en-US" sz="900" dirty="0"/>
          </a:p>
        </p:txBody>
      </p:sp>
      <p:sp>
        <p:nvSpPr>
          <p:cNvPr id="29" name="en0"/>
          <p:cNvSpPr txBox="1"/>
          <p:nvPr/>
        </p:nvSpPr>
        <p:spPr>
          <a:xfrm>
            <a:off x="3456432" y="28529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11-DIC-2026</a:t>
            </a:r>
            <a:endParaRPr lang="en-US" sz="1300" dirty="0"/>
          </a:p>
        </p:txBody>
      </p:sp>
      <p:sp>
        <p:nvSpPr>
          <p:cNvPr id="30" name="av0"/>
          <p:cNvSpPr txBox="1"/>
          <p:nvPr/>
        </p:nvSpPr>
        <p:spPr>
          <a:xfrm>
            <a:off x="4773168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788"/>
                </a:solidFill>
              </a:rPr>
              <a:t>sin dato global</a:t>
            </a:r>
            <a:endParaRPr lang="en-US" sz="900" dirty="0"/>
          </a:p>
        </p:txBody>
      </p:sp>
      <p:sp>
        <p:nvSpPr>
          <p:cNvPr id="31" name="sep1"/>
          <p:cNvSpPr/>
          <p:nvPr/>
        </p:nvSpPr>
        <p:spPr>
          <a:xfrm>
            <a:off x="457200" y="3163824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32" name="dot1"/>
          <p:cNvSpPr/>
          <p:nvPr/>
        </p:nvSpPr>
        <p:spPr>
          <a:xfrm>
            <a:off x="457200" y="3282696"/>
            <a:ext cx="137160" cy="1371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nm1"/>
          <p:cNvSpPr txBox="1"/>
          <p:nvPr/>
        </p:nvSpPr>
        <p:spPr>
          <a:xfrm>
            <a:off x="749808" y="32095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HPH — Marshalling (Alemania)</a:t>
            </a:r>
            <a:endParaRPr lang="en-US" sz="1150" dirty="0"/>
          </a:p>
        </p:txBody>
      </p:sp>
      <p:sp>
        <p:nvSpPr>
          <p:cNvPr id="34" name="nt1"/>
          <p:cNvSpPr txBox="1"/>
          <p:nvPr/>
        </p:nvSpPr>
        <p:spPr>
          <a:xfrm>
            <a:off x="749808" y="34015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Fabricación completada · DAP Ezeiza</a:t>
            </a:r>
            <a:endParaRPr lang="en-US" sz="900" dirty="0"/>
          </a:p>
        </p:txBody>
      </p:sp>
      <p:sp>
        <p:nvSpPr>
          <p:cNvPr id="35" name="en1"/>
          <p:cNvSpPr txBox="1"/>
          <p:nvPr/>
        </p:nvSpPr>
        <p:spPr>
          <a:xfrm>
            <a:off x="3456432" y="3282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15-DIC-2026</a:t>
            </a:r>
            <a:endParaRPr lang="en-US" sz="1300" dirty="0"/>
          </a:p>
        </p:txBody>
      </p:sp>
      <p:sp>
        <p:nvSpPr>
          <p:cNvPr id="36" name="bg1"/>
          <p:cNvSpPr/>
          <p:nvPr/>
        </p:nvSpPr>
        <p:spPr>
          <a:xfrm>
            <a:off x="4773168" y="332841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7" name="bf1"/>
          <p:cNvSpPr/>
          <p:nvPr/>
        </p:nvSpPr>
        <p:spPr>
          <a:xfrm>
            <a:off x="4773168" y="332841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pc1"/>
          <p:cNvSpPr txBox="1"/>
          <p:nvPr/>
        </p:nvSpPr>
        <p:spPr>
          <a:xfrm>
            <a:off x="5870448" y="32735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100%</a:t>
            </a:r>
            <a:endParaRPr lang="en-US" sz="1100" dirty="0"/>
          </a:p>
        </p:txBody>
      </p:sp>
      <p:sp>
        <p:nvSpPr>
          <p:cNvPr id="39" name="sep2"/>
          <p:cNvSpPr/>
          <p:nvPr/>
        </p:nvSpPr>
        <p:spPr>
          <a:xfrm>
            <a:off x="457200" y="3593592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40" name="dot2"/>
          <p:cNvSpPr/>
          <p:nvPr/>
        </p:nvSpPr>
        <p:spPr>
          <a:xfrm>
            <a:off x="457200" y="3712464"/>
            <a:ext cx="137160" cy="13716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1" name="nm2"/>
          <p:cNvSpPr txBox="1"/>
          <p:nvPr/>
        </p:nvSpPr>
        <p:spPr>
          <a:xfrm>
            <a:off x="749808" y="36393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PMS</a:t>
            </a:r>
            <a:endParaRPr lang="en-US" sz="1150" dirty="0"/>
          </a:p>
        </p:txBody>
      </p:sp>
      <p:sp>
        <p:nvSpPr>
          <p:cNvPr id="42" name="nt2"/>
          <p:cNvSpPr txBox="1"/>
          <p:nvPr/>
        </p:nvSpPr>
        <p:spPr>
          <a:xfrm>
            <a:off x="749808" y="38313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Adelantado 9 puntos sobre el plan</a:t>
            </a:r>
            <a:endParaRPr lang="en-US" sz="900" dirty="0"/>
          </a:p>
        </p:txBody>
      </p:sp>
      <p:sp>
        <p:nvSpPr>
          <p:cNvPr id="43" name="en2"/>
          <p:cNvSpPr txBox="1"/>
          <p:nvPr/>
        </p:nvSpPr>
        <p:spPr>
          <a:xfrm>
            <a:off x="3456432" y="3712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17-FEB-2027</a:t>
            </a:r>
            <a:endParaRPr lang="en-US" sz="1300" dirty="0"/>
          </a:p>
        </p:txBody>
      </p:sp>
      <p:sp>
        <p:nvSpPr>
          <p:cNvPr id="44" name="bg2"/>
          <p:cNvSpPr/>
          <p:nvPr/>
        </p:nvSpPr>
        <p:spPr>
          <a:xfrm>
            <a:off x="4773168" y="3758184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5" name="bf2"/>
          <p:cNvSpPr/>
          <p:nvPr/>
        </p:nvSpPr>
        <p:spPr>
          <a:xfrm>
            <a:off x="4773168" y="3758184"/>
            <a:ext cx="533095" cy="118872"/>
          </a:xfrm>
          <a:prstGeom prst="roundRect">
            <a:avLst>
              <a:gd name="adj" fmla="val 46154"/>
            </a:avLst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6" name="pc2"/>
          <p:cNvSpPr txBox="1"/>
          <p:nvPr/>
        </p:nvSpPr>
        <p:spPr>
          <a:xfrm>
            <a:off x="5870448" y="37033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53%</a:t>
            </a:r>
            <a:endParaRPr lang="en-US" sz="1100" dirty="0"/>
          </a:p>
        </p:txBody>
      </p:sp>
      <p:sp>
        <p:nvSpPr>
          <p:cNvPr id="47" name="sep3"/>
          <p:cNvSpPr/>
          <p:nvPr/>
        </p:nvSpPr>
        <p:spPr>
          <a:xfrm>
            <a:off x="457200" y="402336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48" name="dot3"/>
          <p:cNvSpPr/>
          <p:nvPr/>
        </p:nvSpPr>
        <p:spPr>
          <a:xfrm>
            <a:off x="457200" y="4142232"/>
            <a:ext cx="137160" cy="13716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49" name="nm3"/>
          <p:cNvSpPr txBox="1"/>
          <p:nvPr/>
        </p:nvSpPr>
        <p:spPr>
          <a:xfrm>
            <a:off x="749808" y="4069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SE#4 (MT)</a:t>
            </a:r>
            <a:endParaRPr lang="en-US" sz="1150" dirty="0"/>
          </a:p>
        </p:txBody>
      </p:sp>
      <p:sp>
        <p:nvSpPr>
          <p:cNvPr id="50" name="nt3"/>
          <p:cNvSpPr txBox="1"/>
          <p:nvPr/>
        </p:nvSpPr>
        <p:spPr>
          <a:xfrm>
            <a:off x="749808" y="42611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Contractual 08-04-27 · 14 d de margen</a:t>
            </a:r>
            <a:endParaRPr lang="en-US" sz="900" dirty="0"/>
          </a:p>
        </p:txBody>
      </p:sp>
      <p:sp>
        <p:nvSpPr>
          <p:cNvPr id="51" name="en3"/>
          <p:cNvSpPr txBox="1"/>
          <p:nvPr/>
        </p:nvSpPr>
        <p:spPr>
          <a:xfrm>
            <a:off x="3456432" y="4142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1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25-MAR-2027</a:t>
            </a:r>
            <a:endParaRPr lang="en-US" sz="1300" dirty="0"/>
          </a:p>
        </p:txBody>
      </p:sp>
      <p:sp>
        <p:nvSpPr>
          <p:cNvPr id="52" name="bg3"/>
          <p:cNvSpPr/>
          <p:nvPr/>
        </p:nvSpPr>
        <p:spPr>
          <a:xfrm>
            <a:off x="4773168" y="418795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3" name="bf3"/>
          <p:cNvSpPr/>
          <p:nvPr/>
        </p:nvSpPr>
        <p:spPr>
          <a:xfrm>
            <a:off x="4773168" y="4187952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4" name="pc3"/>
          <p:cNvSpPr txBox="1"/>
          <p:nvPr/>
        </p:nvSpPr>
        <p:spPr>
          <a:xfrm>
            <a:off x="5870448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55" name="sep4"/>
          <p:cNvSpPr/>
          <p:nvPr/>
        </p:nvSpPr>
        <p:spPr>
          <a:xfrm>
            <a:off x="457200" y="4453128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56" name="dot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nm4"/>
          <p:cNvSpPr txBox="1"/>
          <p:nvPr/>
        </p:nvSpPr>
        <p:spPr>
          <a:xfrm>
            <a:off x="749808" y="4498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SE#3 (BT)</a:t>
            </a:r>
            <a:endParaRPr lang="en-US" sz="1150" dirty="0"/>
          </a:p>
        </p:txBody>
      </p:sp>
      <p:sp>
        <p:nvSpPr>
          <p:cNvPr id="58" name="nt4"/>
          <p:cNvSpPr txBox="1"/>
          <p:nvPr/>
        </p:nvSpPr>
        <p:spPr>
          <a:xfrm>
            <a:off x="749808" y="469087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Contractual 14-05-27 · 21 d de margen</a:t>
            </a:r>
            <a:endParaRPr lang="en-US" sz="900" dirty="0"/>
          </a:p>
        </p:txBody>
      </p:sp>
      <p:sp>
        <p:nvSpPr>
          <p:cNvPr id="59" name="en4"/>
          <p:cNvSpPr txBox="1"/>
          <p:nvPr/>
        </p:nvSpPr>
        <p:spPr>
          <a:xfrm>
            <a:off x="3456432" y="4572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20-ABR-2027</a:t>
            </a:r>
            <a:endParaRPr lang="en-US" sz="1300" dirty="0"/>
          </a:p>
        </p:txBody>
      </p:sp>
      <p:sp>
        <p:nvSpPr>
          <p:cNvPr id="60" name="bg4"/>
          <p:cNvSpPr/>
          <p:nvPr/>
        </p:nvSpPr>
        <p:spPr>
          <a:xfrm>
            <a:off x="4773168" y="4617720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1" name="bf4"/>
          <p:cNvSpPr/>
          <p:nvPr/>
        </p:nvSpPr>
        <p:spPr>
          <a:xfrm>
            <a:off x="4773168" y="4617720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2" name="pc4"/>
          <p:cNvSpPr txBox="1"/>
          <p:nvPr/>
        </p:nvSpPr>
        <p:spPr>
          <a:xfrm>
            <a:off x="5870448" y="45628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63" name="sep5"/>
          <p:cNvSpPr/>
          <p:nvPr/>
        </p:nvSpPr>
        <p:spPr>
          <a:xfrm>
            <a:off x="457200" y="4882896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64" name="dot5"/>
          <p:cNvSpPr/>
          <p:nvPr/>
        </p:nvSpPr>
        <p:spPr>
          <a:xfrm>
            <a:off x="457200" y="500176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nm5"/>
          <p:cNvSpPr txBox="1"/>
          <p:nvPr/>
        </p:nvSpPr>
        <p:spPr>
          <a:xfrm>
            <a:off x="749808" y="49286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Inauco — PCS / SCADA</a:t>
            </a:r>
            <a:endParaRPr lang="en-US" sz="1150" dirty="0"/>
          </a:p>
        </p:txBody>
      </p:sp>
      <p:sp>
        <p:nvSpPr>
          <p:cNvPr id="66" name="nt5"/>
          <p:cNvSpPr txBox="1"/>
          <p:nvPr/>
        </p:nvSpPr>
        <p:spPr>
          <a:xfrm>
            <a:off x="749808" y="512064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Rev 0 para construcción · sin corrimientos</a:t>
            </a:r>
            <a:endParaRPr lang="en-US" sz="900" dirty="0"/>
          </a:p>
        </p:txBody>
      </p:sp>
      <p:sp>
        <p:nvSpPr>
          <p:cNvPr id="67" name="en5"/>
          <p:cNvSpPr txBox="1"/>
          <p:nvPr/>
        </p:nvSpPr>
        <p:spPr>
          <a:xfrm>
            <a:off x="3456432" y="5001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04-MAY-2027</a:t>
            </a:r>
            <a:endParaRPr lang="en-US" sz="1300" dirty="0"/>
          </a:p>
        </p:txBody>
      </p:sp>
      <p:sp>
        <p:nvSpPr>
          <p:cNvPr id="68" name="bg5"/>
          <p:cNvSpPr/>
          <p:nvPr/>
        </p:nvSpPr>
        <p:spPr>
          <a:xfrm>
            <a:off x="4773168" y="5047488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9" name="bf5"/>
          <p:cNvSpPr/>
          <p:nvPr/>
        </p:nvSpPr>
        <p:spPr>
          <a:xfrm>
            <a:off x="4773168" y="5047488"/>
            <a:ext cx="64008" cy="118872"/>
          </a:xfrm>
          <a:prstGeom prst="roundRect">
            <a:avLst>
              <a:gd name="adj" fmla="val 8571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pc5"/>
          <p:cNvSpPr txBox="1"/>
          <p:nvPr/>
        </p:nvSpPr>
        <p:spPr>
          <a:xfrm>
            <a:off x="5870448" y="49926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6%</a:t>
            </a:r>
            <a:endParaRPr lang="en-US" sz="1100" dirty="0"/>
          </a:p>
        </p:txBody>
      </p:sp>
      <p:sp>
        <p:nvSpPr>
          <p:cNvPr id="71" name="sep6"/>
          <p:cNvSpPr/>
          <p:nvPr/>
        </p:nvSpPr>
        <p:spPr>
          <a:xfrm>
            <a:off x="457200" y="5312664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2" name="dot6"/>
          <p:cNvSpPr/>
          <p:nvPr/>
        </p:nvSpPr>
        <p:spPr>
          <a:xfrm>
            <a:off x="457200" y="5431536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3" name="nm6"/>
          <p:cNvSpPr txBox="1"/>
          <p:nvPr/>
        </p:nvSpPr>
        <p:spPr>
          <a:xfrm>
            <a:off x="749808" y="53583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HARG — HIMA Argentina (SIS)</a:t>
            </a:r>
            <a:endParaRPr lang="en-US" sz="1150" dirty="0"/>
          </a:p>
        </p:txBody>
      </p:sp>
      <p:sp>
        <p:nvSpPr>
          <p:cNvPr id="74" name="nt6"/>
          <p:cNvSpPr txBox="1"/>
          <p:nvPr/>
        </p:nvSpPr>
        <p:spPr>
          <a:xfrm>
            <a:off x="749808" y="555040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ORDEN DE COMPRA PENDIENTE</a:t>
            </a:r>
            <a:endParaRPr lang="en-US" sz="900" dirty="0"/>
          </a:p>
        </p:txBody>
      </p:sp>
      <p:sp>
        <p:nvSpPr>
          <p:cNvPr id="75" name="en6"/>
          <p:cNvSpPr txBox="1"/>
          <p:nvPr/>
        </p:nvSpPr>
        <p:spPr>
          <a:xfrm>
            <a:off x="3456432" y="5431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1300" dirty="0"/>
          </a:p>
        </p:txBody>
      </p:sp>
      <p:sp>
        <p:nvSpPr>
          <p:cNvPr id="76" name="bg6"/>
          <p:cNvSpPr/>
          <p:nvPr/>
        </p:nvSpPr>
        <p:spPr>
          <a:xfrm>
            <a:off x="4773168" y="5477256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7" name="pc6"/>
          <p:cNvSpPr txBox="1"/>
          <p:nvPr/>
        </p:nvSpPr>
        <p:spPr>
          <a:xfrm>
            <a:off x="5870448" y="5422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0%</a:t>
            </a:r>
            <a:endParaRPr lang="en-US" sz="1100" dirty="0"/>
          </a:p>
        </p:txBody>
      </p:sp>
      <p:sp>
        <p:nvSpPr>
          <p:cNvPr id="78" name="sep7"/>
          <p:cNvSpPr/>
          <p:nvPr/>
        </p:nvSpPr>
        <p:spPr>
          <a:xfrm>
            <a:off x="457200" y="5742432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9" name="dot7"/>
          <p:cNvSpPr/>
          <p:nvPr/>
        </p:nvSpPr>
        <p:spPr>
          <a:xfrm>
            <a:off x="457200" y="5861304"/>
            <a:ext cx="137160" cy="13716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80" name="nm7"/>
          <p:cNvSpPr txBox="1"/>
          <p:nvPr/>
        </p:nvSpPr>
        <p:spPr>
          <a:xfrm>
            <a:off x="749808" y="57881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Ductos de barras</a:t>
            </a:r>
            <a:endParaRPr lang="en-US" sz="1150" dirty="0"/>
          </a:p>
        </p:txBody>
      </p:sp>
      <p:sp>
        <p:nvSpPr>
          <p:cNvPr id="81" name="nt7"/>
          <p:cNvSpPr txBox="1"/>
          <p:nvPr/>
        </p:nvSpPr>
        <p:spPr>
          <a:xfrm>
            <a:off x="749808" y="59801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PLAZO SIN CONFIRMAR</a:t>
            </a:r>
            <a:endParaRPr lang="en-US" sz="900" dirty="0"/>
          </a:p>
        </p:txBody>
      </p:sp>
      <p:sp>
        <p:nvSpPr>
          <p:cNvPr id="82" name="en7"/>
          <p:cNvSpPr txBox="1"/>
          <p:nvPr/>
        </p:nvSpPr>
        <p:spPr>
          <a:xfrm>
            <a:off x="3456432" y="5861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1300" dirty="0"/>
          </a:p>
        </p:txBody>
      </p:sp>
      <p:sp>
        <p:nvSpPr>
          <p:cNvPr id="83" name="bg7"/>
          <p:cNvSpPr/>
          <p:nvPr/>
        </p:nvSpPr>
        <p:spPr>
          <a:xfrm>
            <a:off x="4773168" y="5907024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4" name="bf7"/>
          <p:cNvSpPr/>
          <p:nvPr/>
        </p:nvSpPr>
        <p:spPr>
          <a:xfrm>
            <a:off x="4773168" y="5907024"/>
            <a:ext cx="64008" cy="118872"/>
          </a:xfrm>
          <a:prstGeom prst="roundRect">
            <a:avLst>
              <a:gd name="adj" fmla="val 85714"/>
            </a:avLst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85" name="pc7"/>
          <p:cNvSpPr txBox="1"/>
          <p:nvPr/>
        </p:nvSpPr>
        <p:spPr>
          <a:xfrm>
            <a:off x="5870448" y="5852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5%</a:t>
            </a:r>
            <a:endParaRPr lang="en-US" sz="1100" dirty="0"/>
          </a:p>
        </p:txBody>
      </p:sp>
      <p:sp>
        <p:nvSpPr>
          <p:cNvPr id="86" name="panelDer"/>
          <p:cNvSpPr/>
          <p:nvPr/>
        </p:nvSpPr>
        <p:spPr>
          <a:xfrm>
            <a:off x="7882128" y="2249424"/>
            <a:ext cx="3822192" cy="4005072"/>
          </a:xfrm>
          <a:prstGeom prst="roundRect">
            <a:avLst>
              <a:gd name="adj" fmla="val 1914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7" name="hdrFoco"/>
          <p:cNvSpPr txBox="1"/>
          <p:nvPr/>
        </p:nvSpPr>
        <p:spPr>
          <a:xfrm>
            <a:off x="8083296" y="237744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gerencial</a:t>
            </a:r>
            <a:endParaRPr lang="en-US" sz="1300" dirty="0"/>
          </a:p>
        </p:txBody>
      </p:sp>
      <p:sp>
        <p:nvSpPr>
          <p:cNvPr id="88" name="claim"/>
          <p:cNvSpPr txBox="1"/>
          <p:nvPr/>
        </p:nvSpPr>
        <p:spPr>
          <a:xfrm>
            <a:off x="8083296" y="263347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933"/>
                </a:solidFill>
              </a:rPr>
              <a:t>En 7 de las 8 provisiones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F2933"/>
                </a:solidFill>
              </a:rPr>
              <a:t>el pendiente crítico es un insumo de AESA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933"/>
                </a:solidFill>
              </a:rPr>
              <a:t>, no del proveedor. Seis sostienen su fecha de entrega.</a:t>
            </a:r>
            <a:endParaRPr lang="en-US" sz="1100" dirty="0"/>
          </a:p>
        </p:txBody>
      </p:sp>
      <p:sp>
        <p:nvSpPr>
          <p:cNvPr id="89" name="hdrAcc"/>
          <p:cNvSpPr txBox="1"/>
          <p:nvPr/>
        </p:nvSpPr>
        <p:spPr>
          <a:xfrm>
            <a:off x="8083296" y="3182112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DECISIONES Y ACCIONES INMEDIATAS</a:t>
            </a:r>
            <a:endParaRPr lang="en-US" sz="850" dirty="0"/>
          </a:p>
        </p:txBody>
      </p:sp>
      <p:sp>
        <p:nvSpPr>
          <p:cNvPr id="90" name="num0"/>
          <p:cNvSpPr/>
          <p:nvPr/>
        </p:nvSpPr>
        <p:spPr>
          <a:xfrm>
            <a:off x="8083296" y="342900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numT0"/>
          <p:cNvSpPr txBox="1"/>
          <p:nvPr/>
        </p:nvSpPr>
        <p:spPr>
          <a:xfrm>
            <a:off x="8083296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2" name="accT0"/>
          <p:cNvSpPr txBox="1"/>
          <p:nvPr/>
        </p:nvSpPr>
        <p:spPr>
          <a:xfrm>
            <a:off x="8357616" y="34015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Emitir la carta de crédito de HPH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PA-14</a:t>
            </a:r>
            <a:endParaRPr lang="en-US" sz="1000" dirty="0"/>
          </a:p>
        </p:txBody>
      </p:sp>
      <p:sp>
        <p:nvSpPr>
          <p:cNvPr id="93" name="accD0"/>
          <p:cNvSpPr txBox="1"/>
          <p:nvPr/>
        </p:nvSpPr>
        <p:spPr>
          <a:xfrm>
            <a:off x="8357616" y="35707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Plazo pedido por el proveedor: 30-10-2026. Retiene el alcance ampliado de la orden.</a:t>
            </a:r>
            <a:endParaRPr lang="en-US" sz="840" dirty="0"/>
          </a:p>
        </p:txBody>
      </p:sp>
      <p:sp>
        <p:nvSpPr>
          <p:cNvPr id="94" name="num1"/>
          <p:cNvSpPr/>
          <p:nvPr/>
        </p:nvSpPr>
        <p:spPr>
          <a:xfrm>
            <a:off x="8083296" y="390448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5" name="numT1"/>
          <p:cNvSpPr txBox="1"/>
          <p:nvPr/>
        </p:nvSpPr>
        <p:spPr>
          <a:xfrm>
            <a:off x="8083296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96" name="accT1"/>
          <p:cNvSpPr txBox="1"/>
          <p:nvPr/>
        </p:nvSpPr>
        <p:spPr>
          <a:xfrm>
            <a:off x="8357616" y="3877056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Colocar la OC de HIMA Argentina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PA-04</a:t>
            </a:r>
            <a:endParaRPr lang="en-US" sz="1000" dirty="0"/>
          </a:p>
        </p:txBody>
      </p:sp>
      <p:sp>
        <p:nvSpPr>
          <p:cNvPr id="97" name="accD1"/>
          <p:cNvSpPr txBox="1"/>
          <p:nvPr/>
        </p:nvSpPr>
        <p:spPr>
          <a:xfrm>
            <a:off x="8357616" y="404622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Sin colocar. Gobierna el cierre del 10-05-27: cada semana de demora lo corre una semana.</a:t>
            </a:r>
            <a:endParaRPr lang="en-US" sz="840" dirty="0"/>
          </a:p>
        </p:txBody>
      </p:sp>
      <p:sp>
        <p:nvSpPr>
          <p:cNvPr id="98" name="num2"/>
          <p:cNvSpPr/>
          <p:nvPr/>
        </p:nvSpPr>
        <p:spPr>
          <a:xfrm>
            <a:off x="8083296" y="437997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9" name="numT2"/>
          <p:cNvSpPr txBox="1"/>
          <p:nvPr/>
        </p:nvSpPr>
        <p:spPr>
          <a:xfrm>
            <a:off x="8083296" y="4379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00" name="accT2"/>
          <p:cNvSpPr txBox="1"/>
          <p:nvPr/>
        </p:nvSpPr>
        <p:spPr>
          <a:xfrm>
            <a:off x="8357616" y="435254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Entregar los mapas del PMS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PA-11</a:t>
            </a:r>
            <a:endParaRPr lang="en-US" sz="1000" dirty="0"/>
          </a:p>
        </p:txBody>
      </p:sp>
      <p:sp>
        <p:nvSpPr>
          <p:cNvPr id="101" name="accD2"/>
          <p:cNvSpPr txBox="1"/>
          <p:nvPr/>
        </p:nvSpPr>
        <p:spPr>
          <a:xfrm>
            <a:off x="8357616" y="4521708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Mapas Modbus y Profinet. La configuración de comunicaciones arranca el 02-11-26.</a:t>
            </a:r>
            <a:endParaRPr lang="en-US" sz="840" dirty="0"/>
          </a:p>
        </p:txBody>
      </p:sp>
      <p:sp>
        <p:nvSpPr>
          <p:cNvPr id="102" name="num3"/>
          <p:cNvSpPr/>
          <p:nvPr/>
        </p:nvSpPr>
        <p:spPr>
          <a:xfrm>
            <a:off x="8083296" y="485546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3" name="numT3"/>
          <p:cNvSpPr txBox="1"/>
          <p:nvPr/>
        </p:nvSpPr>
        <p:spPr>
          <a:xfrm>
            <a:off x="8083296" y="4855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04" name="accT3"/>
          <p:cNvSpPr txBox="1"/>
          <p:nvPr/>
        </p:nvSpPr>
        <p:spPr>
          <a:xfrm>
            <a:off x="8357616" y="48280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Convocar los ensayos de CAT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PA-09/17</a:t>
            </a:r>
            <a:endParaRPr lang="en-US" sz="1000" dirty="0"/>
          </a:p>
        </p:txBody>
      </p:sp>
      <p:sp>
        <p:nvSpPr>
          <p:cNvPr id="105" name="accD3"/>
          <p:cNvSpPr txBox="1"/>
          <p:nvPr/>
        </p:nvSpPr>
        <p:spPr>
          <a:xfrm>
            <a:off x="8357616" y="499719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Puntos de retención con 10 días de aviso (1.ª entrega 13-11) y visita al taller de núcleos antes del 06-11.</a:t>
            </a:r>
            <a:endParaRPr lang="en-US" sz="840" dirty="0"/>
          </a:p>
        </p:txBody>
      </p:sp>
      <p:sp>
        <p:nvSpPr>
          <p:cNvPr id="106" name="num4"/>
          <p:cNvSpPr/>
          <p:nvPr/>
        </p:nvSpPr>
        <p:spPr>
          <a:xfrm>
            <a:off x="8083296" y="533095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numT4"/>
          <p:cNvSpPr txBox="1"/>
          <p:nvPr/>
        </p:nvSpPr>
        <p:spPr>
          <a:xfrm>
            <a:off x="8083296" y="5330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108" name="accT4"/>
          <p:cNvSpPr txBox="1"/>
          <p:nvPr/>
        </p:nvSpPr>
        <p:spPr>
          <a:xfrm>
            <a:off x="8357616" y="530352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Aprobar la ingeniería de las salas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PA-08</a:t>
            </a:r>
            <a:endParaRPr lang="en-US" sz="1000" dirty="0"/>
          </a:p>
        </p:txBody>
      </p:sp>
      <p:sp>
        <p:nvSpPr>
          <p:cNvPr id="109" name="accD4"/>
          <p:cNvSpPr txBox="1"/>
          <p:nvPr/>
        </p:nvSpPr>
        <p:spPr>
          <a:xfrm>
            <a:off x="8357616" y="54726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Freezing point vencido el 25-09-26. Los equipos ya están aprobados; falta el shelter.</a:t>
            </a:r>
            <a:endParaRPr lang="en-US" sz="840" dirty="0"/>
          </a:p>
        </p:txBody>
      </p:sp>
      <p:sp>
        <p:nvSpPr>
          <p:cNvPr id="110" name="num5"/>
          <p:cNvSpPr/>
          <p:nvPr/>
        </p:nvSpPr>
        <p:spPr>
          <a:xfrm>
            <a:off x="8083296" y="580644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1" name="numT5"/>
          <p:cNvSpPr txBox="1"/>
          <p:nvPr/>
        </p:nvSpPr>
        <p:spPr>
          <a:xfrm>
            <a:off x="8083296" y="5806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112" name="accT5"/>
          <p:cNvSpPr txBox="1"/>
          <p:nvPr/>
        </p:nvSpPr>
        <p:spPr>
          <a:xfrm>
            <a:off x="8357616" y="57790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Responder el reclamo de los ductos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PA-07</a:t>
            </a:r>
            <a:endParaRPr lang="en-US" sz="1000" dirty="0"/>
          </a:p>
        </p:txBody>
      </p:sp>
      <p:sp>
        <p:nvSpPr>
          <p:cNvPr id="113" name="accD5"/>
          <p:cNvSpPr txBox="1"/>
          <p:nvPr/>
        </p:nvSpPr>
        <p:spPr>
          <a:xfrm>
            <a:off x="8357616" y="594817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ABB pide adecuar la fecha de las posiciones 120/130/140 y evalúa impacto económico.</a:t>
            </a:r>
            <a:endParaRPr lang="en-US" sz="840" dirty="0"/>
          </a:p>
        </p:txBody>
      </p:sp>
      <p:sp>
        <p:nvSpPr>
          <p:cNvPr id="114" name="fuentes"/>
          <p:cNvSpPr txBox="1"/>
          <p:nvPr/>
        </p:nvSpPr>
        <p:spPr>
          <a:xfrm>
            <a:off x="457200" y="632764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67788"/>
                </a:solidFill>
              </a:rPr>
              <a:t>Fuentes: ABB Salas y Ductos 5155-00-0009-VE-CO-PG-001 Rev 0 «Para construcción» (14-10-26) e informe de avance Nº 5 · ABB PMS SEP-2026 Rev 0 e informe Nº 4 · CAT Miron acta de inspección IN-FC-CAT-19082-261021 (21-10-26) y cronograma 5155-00-0022-VE-CO-PG-001 Rev A · Inauco 5155-00-0029-VE-CA-PG-001 Rev 0 «Para construcción» (23-10-26) · HPH Supplier Progress Report Nº 1 (15-10-26) · HARG PSCH_CPF2_Rev3.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Provisiones críticas CPF-2 — resumen gerencial (Rev 12)</dc:title>
  <dc:subject>PptxGenJS Presentation</dc:subject>
  <dc:creator>AESA</dc:creator>
  <cp:lastModifiedBy>AESA</cp:lastModifiedBy>
  <cp:revision>1</cp:revision>
  <dcterms:created xsi:type="dcterms:W3CDTF">2026-10-29T16:36:54Z</dcterms:created>
  <dcterms:modified xsi:type="dcterms:W3CDTF">2026-10-29T16:36:54Z</dcterms:modified>
</cp:coreProperties>
</file>