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600" b="1">
                <a:solidFill>
                  <a:srgbClr val="9DB8D8"/>
                </a:solidFill>
                <a:latin typeface="Calibri"/>
              </a:rPr>
              <a:t>CPF2 LA CALERA II · VACA MUERTA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Plan de Construcción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Instrumentación &amp; Electricidad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Calibri"/>
              </a:rPr>
              <a:t>Constructibilidad · Hitos, volúmenes, sistemas, secuencia y precomisionado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800" b="1">
                <a:solidFill>
                  <a:srgbClr val="BF9000"/>
                </a:solidFill>
                <a:latin typeface="Calibri"/>
              </a:rPr>
              <a:t>Hito gobernante: RFSU 20-DIC-2027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0">
                <a:solidFill>
                  <a:srgbClr val="9DB8D8"/>
                </a:solidFill>
                <a:latin typeface="Calibri"/>
              </a:rPr>
              <a:t>Rev. 0 · 13-06-2026 · Documento preliminar para depuración</a:t>
            </a:r>
          </a:p>
        </p:txBody>
      </p:sp>
      <p:pic>
        <p:nvPicPr>
          <p:cNvPr id="9" name="Picture 8" descr="_3d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212080"/>
            <a:ext cx="97008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Cifras clave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365760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C55A11"/>
                </a:solidFill>
                <a:latin typeface="Calibri"/>
              </a:rPr>
              <a:t>81.231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42032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Cable eléctrico (513 cables)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5760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19072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Calibri"/>
              </a:rPr>
              <a:t>65.315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42032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Cable instrumentación (885 cables)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5544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554480"/>
            <a:ext cx="365760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1F3B63"/>
                </a:solidFill>
                <a:latin typeface="Calibri"/>
              </a:rPr>
              <a:t>~20.930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42032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Puntas a interconectar (EL+IN)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832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383280"/>
            <a:ext cx="3657600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547872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548235"/>
                </a:solidFill>
                <a:latin typeface="Calibri"/>
              </a:rPr>
              <a:t>~1.163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Instrumentos a montar AESA (de 2.798)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3832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383280"/>
            <a:ext cx="365760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547872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C55A11"/>
                </a:solidFill>
                <a:latin typeface="Calibri"/>
              </a:rPr>
              <a:t>243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70832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Cargas eléctricas (79 motores · 6 VFD)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38328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383280"/>
            <a:ext cx="3657600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547872"/>
            <a:ext cx="365760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C00000"/>
                </a:solidFill>
                <a:latin typeface="Calibri"/>
              </a:rPr>
              <a:t>20-DIC-27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370832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RFSU — Ready For Start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852160"/>
            <a:ext cx="1133856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Alcance: ampliación CPF2 — sistemas PCS · PSS · ESD · F&amp;G · SCADA · PMS ABB. AESA monta instrumentos propios + los de proveedor marcados 'montaje por EPC'.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Hitos clave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78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9686"/>
                <a:gridCol w="2276855"/>
                <a:gridCol w="4157737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Hito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Nota / restricción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OC Cables IN (target)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01-AGO-26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LT 150 d → sitio 28-NOV-26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OC Cables EL (target)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01-OCT-26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LT 150 d → sitio 28-FEB-27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Llegada cables IN a sitio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28-NOV-26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Inicio canalizaciones IN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Inicio campo PCS — Sala INS (Sala 7)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17-MAR-27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⛔ Cables IN tendidos ANTES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Llegada Sala Eléctrica SE#4 (PMS-101)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08-ABR-27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Ancla EL · armado 14 d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Llegada Sala Eléctrica SE#3 (PMS-001)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14-MAY-27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Ancla EL · ruta crítica · armado 21 d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Megger EL (HOLD POINT)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26-JUL→15-AGO-27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Circuito por circuito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Energización progresiva MT→BT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16-AGO→01-SEP-27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HOLD POINT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SAT PMS (HOLD POINT contractual)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Ventana fija OCT-DIC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★ RFSU — Ready For Start Up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20-DIC-27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Hito gobernante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Entrega de salas eléctricas y Sala 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2651"/>
                <a:gridCol w="2349137"/>
                <a:gridCol w="2891245"/>
                <a:gridCol w="289124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Sala / Sistema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Llegada / inicio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Armado en campo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Conexionado desde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SE#4 (con PMS-101)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08-ABR-2027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14 días (08→22-ABR)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23-ABR-2027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SE#3 (con PMS-001) ◄ crítica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14-MAY-2027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21 días (14-MAY→03-JUN)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05-JUN-2027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Sala INS — PCS (Sala 7)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17-MAR-2027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Instalación PCS 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17-MAR-2027 (con cables IN)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383280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  <a:latin typeface="Calibri"/>
              </a:rPr>
              <a:t>• Las salas SE#3 y SE#4 llegan en MÓDULOS → requieren armado en campo antes del conexionado.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Calibri"/>
              </a:rPr>
              <a:t>• PIVOTE clave: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Parte del tendido de cables EL se hace ANTES de cerrar las salas, para conectar sala → motores/equipos.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El conexionado pivota sobre el armado de cada shelter (SE#4 desde 23-ABR; SE#3 desde 05-JUN).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• Sala INS (control):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– Cables IN deben estar TENDIDOS antes del 17-MAR para instalar el PCS; control (PCS) y seguridad (ESD/SIS) se montan y comisionan allí.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Cables a tender y puntas a interconectar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7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74052"/>
                <a:gridCol w="1285321"/>
                <a:gridCol w="1652556"/>
                <a:gridCol w="367234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Especialidad / tipo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Cables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Metros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Puntas / nota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Potencia MT (6,6/13,2 kV)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2.110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Técnicos cert. 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Potencia BT Grande ≥35 mm² ◄ crítica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17.470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Ruta crítica EL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Potencia BT Med/Peq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33.125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Control y Señales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28.126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Multiconductores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 — FO / Ethernet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Red PMS SE3-SE4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SUBTOTAL ELÉCTRICO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513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81.231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~5.178 puntas (3.036 sala / 1.717 campo)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 — Instrumentación PCS/SIS/F&amp;G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885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65.315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15.752 puntas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TOTAL EL + IN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1.398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146.546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~20.930 puntas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97880"/>
            <a:ext cx="1133856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Calibri"/>
              </a:rPr>
              <a:t>Tendido IN completo ANTES del 17-MAR (PCS). Tendido EL completo ANTES de llegada de salas (SE#3 14-MAY). Pico de tendido FEB-MAR-2027.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Instrumentos a montar (alcance AESA)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65176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81912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1F3B63"/>
                </a:solidFill>
                <a:latin typeface="Calibri"/>
              </a:rPr>
              <a:t>2.798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2199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Instrumentos totales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651760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81912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548235"/>
                </a:solidFill>
                <a:latin typeface="Calibri"/>
              </a:rPr>
              <a:t>~1.163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22199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Monta AESA (897 + 266 EPC)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417320"/>
            <a:ext cx="265176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81912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Calibri"/>
              </a:rPr>
              <a:t>920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2199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En línea (Fase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581912"/>
            <a:ext cx="2651760" cy="56692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3000" b="1">
                <a:solidFill>
                  <a:srgbClr val="C55A11"/>
                </a:solidFill>
                <a:latin typeface="Calibri"/>
              </a:rPr>
              <a:t>1.878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221992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50" b="0">
                <a:solidFill>
                  <a:srgbClr val="595959"/>
                </a:solidFill>
                <a:latin typeface="Calibri"/>
              </a:rPr>
              <a:t>Montaje específico (Fase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06324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548235"/>
                </a:solidFill>
                <a:latin typeface="Calibri"/>
              </a:rPr>
              <a:t>• Entrega PROGRESIVA de instrumentos: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Fase 1 — válvulas y todo instrumento en línea (920): se entregan y montan PRIMERO, junto con la cañería.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Fase 2 — resto de montaje específico (1.878): entrega progresiva desde FEB-2027.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3B63"/>
                </a:solidFill>
                <a:latin typeface="Calibri"/>
              </a:rPr>
              <a:t>• Prueba en BANCO (calibración) previa al montaje de cada instrumento.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3B63"/>
                </a:solidFill>
                <a:latin typeface="Calibri"/>
              </a:rPr>
              <a:t>• Montaje de campo AESA: ENE→JUN-2027.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0" y="3063240"/>
          <a:ext cx="4480559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1918"/>
                <a:gridCol w="104864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Típico de montaje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Cant.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En línea — válvula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En línea — elemento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Soporte junto a línea (stand)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610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Sobre equipo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Sobre válvula (accesorio)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Otro instrumento / F&amp;G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Sistemas a instalar y ampliar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8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2890"/>
                <a:gridCol w="4553712"/>
                <a:gridCol w="1821484"/>
                <a:gridCol w="391619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Proveedor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Hito / ancla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PCS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Sistema de Control de Procesos (DCS) — Sala INS / Sala 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Inicio campo 17-MAR-27 · SAT 55 d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PSS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Sistema de seguridad de procesos (parada de planta)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Inauco / HIMA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Integrado con ESD/SIS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ESD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Parada de emergencia (Emergency Shutdown / SIS)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SAT SIS 100 d (17-MAR→03-AGO)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F&amp;G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Fuego y Gas — 120 dispositivos de campo (AESA)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AESA / 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Detección + matriz C&amp;E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SCADA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Supervisión y adquisición de datos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Prueba Matriz C&amp;E 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PMS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Power Management System — PMS-001 (SE#3) + PMS-101 (SE#4)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SAT PMS HOLD POINT OCT-DIC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52160"/>
            <a:ext cx="1133856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iFAT — integración SE#3+SE#4+PMS+PCS+SIS: 25-JUN→14-JUL-2027 (todos los vendors).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Secuencia de trabajo (fechas tentativas)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2E75B6"/>
                </a:solidFill>
                <a:latin typeface="Calibri"/>
              </a:rPr>
              <a:t>• 1 · INSTRUMENTACIÓN (IN) — NOV-2026 → AGO-2027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Canalizaciones (NOV-26→ENE-27) → Tendido cables IN (FEB→14-MAR, antes PCS) → Conexionado campo→JB→Sala INS (17-MAR→31-JUL) → Loop check (JUN→AGO).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Montaje instrumentos: Fase 1 en línea (ENE→ABR) · Fase 2 específico (MAR→JUN), con banco previo.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55A11"/>
                </a:solidFill>
                <a:latin typeface="Calibri"/>
              </a:rPr>
              <a:t>• 2 · ELECTRICIDAD (EL) — MAR-2027 → JUL-2027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Bandejas (MAR→ABR) → Tendido EL por tipo (MAR→MAY, BT Grande crítico) → Armado shelters SE#4/SE#3 → Conexionado SE#4 (23-ABR→12-JUN) y SE#3 (05-JUN→25-JUL).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548235"/>
                </a:solidFill>
                <a:latin typeface="Calibri"/>
              </a:rPr>
              <a:t>• 3 · PRUEBAS Y ENERGIZACIÓN — JUL-2027 → SEP-2027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Megger EL (26-JUL→15-AGO) → Energización progresiva MT→BT (16-AGO→01-SEP).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00000"/>
                </a:solidFill>
                <a:latin typeface="Calibri"/>
              </a:rPr>
              <a:t>• 4 · PRECOMISIONADO Y COMISIONADO — SEP-2027 → DIC-2027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– Precom EL e IN (SEP) → Comisionado integrado EL+PCS+PMS+SIS (23-SEP→19-DIC) → SAT PMS (OCT-DIC) → RFSU 20-DIC.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Precomisionado: arranque y completamiento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  <a:latin typeface="Calibri"/>
              </a:rPr>
              <a:t>• ¿CUÁNDO ARRANCA?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Instrumentación: prueba en BANCO (calibración) desde DIC-2026, previa al montaje. Loop check de lazos (sensor→JB→PCS/SIS) desde JUN-2027, en paralelo con conexionado IN.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Eléctrico: precomisionado funcional arranca tras la energización, el 02-SEP-2027 (loop check eléctrico, ajuste de relés, secuencia de arranque de motores).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66160"/>
            <a:ext cx="11430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  <a:latin typeface="Calibri"/>
              </a:rPr>
              <a:t>• ¿CÓMO SE COMPLETA?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Secuencia EL: Megger (26-JUL→15-AGO) → Energización (16-AGO→01-SEP) → Precom funcional (02→22-SEP).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Secuencia IN: Loop check completo PCS/SIS (JUN→AGO) → Precom instrumentación / lazos (SEP).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Cierre: Comisionado integrado EL+PCS+PMS+SIS (23-SEP→19-DIC) y SAT PMS (HOLD POINT OCT-DIC) → RFSU 20-DIC-2027.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Condición: precom no puede iniciar sin instrumentos montados + chequeados en banco y cables conexionados/megger 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CPF2 LA CALERA II · CONSTRUCTIBILIDAD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Ruta crítica, restricciones y riesgos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RUTA CRÍTICA: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SE#3 llega 14-MAY → armado 21 d → conexionado EL 51 d → megger 21 d → energización 17 d → precom 21 d → comisionado 88 d ≈ 19-DIC. Frente EL crítico: BT Grande (104 c / 17.470 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0896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3B63"/>
                </a:solidFill>
                <a:latin typeface="Calibri"/>
              </a:rPr>
              <a:t>• RESTRICCIONES DURAS: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⛔ Cables IN tendidos antes del 17-MAR (PCS).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⛔ Cables EL tendidos antes del 14-MAY (SE#3).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Salas en módulos → armado en campo previo.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SAT PMS: ventana fija OCT-DIC (no desliza).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10896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F3B63"/>
                </a:solidFill>
                <a:latin typeface="Calibri"/>
              </a:rPr>
              <a:t>• RIESGOS SENSIBLES: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Volumen BT Grande → +1 cuadrilla EL.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Cables MT 13,2 kV: técnicos cert. ABB (coordinar 3 meses).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Tendido IN: ventana 42 d exige 5-6 cuadrillas.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Pico de personal ~40-50 en MAR-2027.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Calibri"/>
              </a:rPr>
              <a:t>– OC cables IN ≤01-AGO-26 / EL ≤01-OCT-26.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Instrumentación &amp; Electricidad · Rev. 0 · 13-06-2026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