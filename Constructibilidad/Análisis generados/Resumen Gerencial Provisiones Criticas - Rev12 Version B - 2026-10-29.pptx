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una página del Cronograma Ejecutivo de Provisiones Críticas Rev12 (29-10-2026). Camino crítico de sistemas: la OC de HIMA Argentina gobierna el cierre del 10-05-2027. La última entrega del paquete son los ductos de barras el 08-07-2027, con el plazo aún sin confirmar por ABB. Seis de las ocho provisiones sostienen su fecha; las dos excepciones (ductos y HARG) dependen de definiciones de AESA. CAT Miron: primera inspección en planta el 21-10-26, sin no conformidades, con el plan de ensayos ya emitido pero sin fechas convocadas. Desvíos: sólo dos provisiones se apartan de lo planificado — ductos de barras (+28 días respecto del cronograma del 21-08-26 y con el plazo aún sin confirmar por ABB) y HARG (+49 días por la orden de compra no colocada). Las dos salas eléctricas van por delante de su fecha contractual.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274320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Provisiones críticas CPF-2 · estado al 29-10-2026</a:t>
            </a:r>
            <a:endParaRPr lang="en-US" sz="2400" dirty="0"/>
          </a:p>
        </p:txBody>
      </p:sp>
      <p:sp>
        <p:nvSpPr>
          <p:cNvPr id="3" name="subtitulo"/>
          <p:cNvSpPr txBox="1"/>
          <p:nvPr/>
        </p:nvSpPr>
        <p:spPr>
          <a:xfrm>
            <a:off x="457200" y="71323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788"/>
                </a:solidFill>
              </a:rPr>
              <a:t>Cronograma ejecutivo de provisiones críticas · ocho provisiones · seguimiento para PPSA</a:t>
            </a:r>
            <a:endParaRPr lang="en-US" sz="1250" dirty="0"/>
          </a:p>
        </p:txBody>
      </p:sp>
      <p:sp>
        <p:nvSpPr>
          <p:cNvPr id="4" name="badgeRev"/>
          <p:cNvSpPr/>
          <p:nvPr/>
        </p:nvSpPr>
        <p:spPr>
          <a:xfrm>
            <a:off x="10012680" y="292608"/>
            <a:ext cx="1691640" cy="475488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badgeRevTxt"/>
          <p:cNvSpPr txBox="1"/>
          <p:nvPr/>
        </p:nvSpPr>
        <p:spPr>
          <a:xfrm>
            <a:off x="10012680" y="29260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Rev 12 · Versión B</a:t>
            </a:r>
            <a:endParaRPr lang="en-US" sz="1150" dirty="0"/>
          </a:p>
        </p:txBody>
      </p:sp>
      <p:sp>
        <p:nvSpPr>
          <p:cNvPr id="6" name="kpiBox0"/>
          <p:cNvSpPr/>
          <p:nvPr/>
        </p:nvSpPr>
        <p:spPr>
          <a:xfrm>
            <a:off x="457200" y="1152144"/>
            <a:ext cx="2640330" cy="896112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7" name="kpiL0"/>
          <p:cNvSpPr txBox="1"/>
          <p:nvPr/>
        </p:nvSpPr>
        <p:spPr>
          <a:xfrm>
            <a:off x="621792" y="1225296"/>
            <a:ext cx="231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CIERRE DEL CAMINO CRÍTICO</a:t>
            </a:r>
            <a:endParaRPr lang="en-US" sz="850" dirty="0"/>
          </a:p>
        </p:txBody>
      </p:sp>
      <p:sp>
        <p:nvSpPr>
          <p:cNvPr id="8" name="kpiV0"/>
          <p:cNvSpPr txBox="1"/>
          <p:nvPr/>
        </p:nvSpPr>
        <p:spPr>
          <a:xfrm>
            <a:off x="621792" y="1408176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10-MAY-2027</a:t>
            </a:r>
            <a:endParaRPr lang="en-US" sz="2100" dirty="0"/>
          </a:p>
        </p:txBody>
      </p:sp>
      <p:sp>
        <p:nvSpPr>
          <p:cNvPr id="9" name="kpiD0"/>
          <p:cNvSpPr txBox="1"/>
          <p:nvPr/>
        </p:nvSpPr>
        <p:spPr>
          <a:xfrm>
            <a:off x="621792" y="1755648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OC HARG → HPH → HARG → Inauco</a:t>
            </a:r>
            <a:endParaRPr lang="en-US" sz="900" dirty="0"/>
          </a:p>
        </p:txBody>
      </p:sp>
      <p:sp>
        <p:nvSpPr>
          <p:cNvPr id="10" name="kpiBox1"/>
          <p:cNvSpPr/>
          <p:nvPr/>
        </p:nvSpPr>
        <p:spPr>
          <a:xfrm>
            <a:off x="3326130" y="1152144"/>
            <a:ext cx="2640330" cy="896112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1" name="kpiL1"/>
          <p:cNvSpPr txBox="1"/>
          <p:nvPr/>
        </p:nvSpPr>
        <p:spPr>
          <a:xfrm>
            <a:off x="3490722" y="1225296"/>
            <a:ext cx="231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ÚLTIMA ENTREGA DEL PAQUETE</a:t>
            </a:r>
            <a:endParaRPr lang="en-US" sz="850" dirty="0"/>
          </a:p>
        </p:txBody>
      </p:sp>
      <p:sp>
        <p:nvSpPr>
          <p:cNvPr id="12" name="kpiV1"/>
          <p:cNvSpPr txBox="1"/>
          <p:nvPr/>
        </p:nvSpPr>
        <p:spPr>
          <a:xfrm>
            <a:off x="3490722" y="1408176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08-JUL-2027</a:t>
            </a:r>
            <a:endParaRPr lang="en-US" sz="2100" dirty="0"/>
          </a:p>
        </p:txBody>
      </p:sp>
      <p:sp>
        <p:nvSpPr>
          <p:cNvPr id="13" name="kpiD1"/>
          <p:cNvSpPr txBox="1"/>
          <p:nvPr/>
        </p:nvSpPr>
        <p:spPr>
          <a:xfrm>
            <a:off x="3490722" y="1755648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Ductos de barras — sin confirmar</a:t>
            </a:r>
            <a:endParaRPr lang="en-US" sz="900" dirty="0"/>
          </a:p>
        </p:txBody>
      </p:sp>
      <p:sp>
        <p:nvSpPr>
          <p:cNvPr id="14" name="kpiBox2"/>
          <p:cNvSpPr/>
          <p:nvPr/>
        </p:nvSpPr>
        <p:spPr>
          <a:xfrm>
            <a:off x="6195060" y="1152144"/>
            <a:ext cx="2640330" cy="896112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kpiL2"/>
          <p:cNvSpPr txBox="1"/>
          <p:nvPr/>
        </p:nvSpPr>
        <p:spPr>
          <a:xfrm>
            <a:off x="6359652" y="1225296"/>
            <a:ext cx="231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PROVISIONES CON DESVÍO</a:t>
            </a:r>
            <a:endParaRPr lang="en-US" sz="850" dirty="0"/>
          </a:p>
        </p:txBody>
      </p:sp>
      <p:sp>
        <p:nvSpPr>
          <p:cNvPr id="16" name="kpiV2"/>
          <p:cNvSpPr txBox="1"/>
          <p:nvPr/>
        </p:nvSpPr>
        <p:spPr>
          <a:xfrm>
            <a:off x="6359652" y="1408176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de 8</a:t>
            </a:r>
            <a:endParaRPr lang="en-US" sz="2100" dirty="0"/>
          </a:p>
        </p:txBody>
      </p:sp>
      <p:sp>
        <p:nvSpPr>
          <p:cNvPr id="17" name="kpiD2"/>
          <p:cNvSpPr txBox="1"/>
          <p:nvPr/>
        </p:nvSpPr>
        <p:spPr>
          <a:xfrm>
            <a:off x="6359652" y="1755648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Ductos +28 d · HARG +49 d</a:t>
            </a:r>
            <a:endParaRPr lang="en-US" sz="900" dirty="0"/>
          </a:p>
        </p:txBody>
      </p:sp>
      <p:sp>
        <p:nvSpPr>
          <p:cNvPr id="18" name="kpiBox3"/>
          <p:cNvSpPr/>
          <p:nvPr/>
        </p:nvSpPr>
        <p:spPr>
          <a:xfrm>
            <a:off x="9063990" y="1152144"/>
            <a:ext cx="2640330" cy="896112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9" name="kpiL3"/>
          <p:cNvSpPr txBox="1"/>
          <p:nvPr/>
        </p:nvSpPr>
        <p:spPr>
          <a:xfrm>
            <a:off x="9228582" y="1225296"/>
            <a:ext cx="231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PUNTOS DE ATENCIÓN ABIERTOS</a:t>
            </a:r>
            <a:endParaRPr lang="en-US" sz="850" dirty="0"/>
          </a:p>
        </p:txBody>
      </p:sp>
      <p:sp>
        <p:nvSpPr>
          <p:cNvPr id="20" name="kpiV3"/>
          <p:cNvSpPr txBox="1"/>
          <p:nvPr/>
        </p:nvSpPr>
        <p:spPr>
          <a:xfrm>
            <a:off x="9228582" y="1408176"/>
            <a:ext cx="231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100" dirty="0"/>
          </a:p>
        </p:txBody>
      </p:sp>
      <p:sp>
        <p:nvSpPr>
          <p:cNvPr id="21" name="kpiD3"/>
          <p:cNvSpPr txBox="1"/>
          <p:nvPr/>
        </p:nvSpPr>
        <p:spPr>
          <a:xfrm>
            <a:off x="9228582" y="1755648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11 en severidad alta</a:t>
            </a:r>
            <a:endParaRPr lang="en-US" sz="900" dirty="0"/>
          </a:p>
        </p:txBody>
      </p:sp>
      <p:sp>
        <p:nvSpPr>
          <p:cNvPr id="22" name="hdrProv"/>
          <p:cNvSpPr txBox="1"/>
          <p:nvPr/>
        </p:nvSpPr>
        <p:spPr>
          <a:xfrm>
            <a:off x="457200" y="224942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Entregas comprometidas por provisión</a:t>
            </a:r>
            <a:endParaRPr lang="en-US" sz="1300" dirty="0"/>
          </a:p>
        </p:txBody>
      </p:sp>
      <p:sp>
        <p:nvSpPr>
          <p:cNvPr id="23" name="thP"/>
          <p:cNvSpPr txBox="1"/>
          <p:nvPr/>
        </p:nvSpPr>
        <p:spPr>
          <a:xfrm>
            <a:off x="749808" y="25420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67788"/>
                </a:solidFill>
              </a:rPr>
              <a:t>PROVISIÓN</a:t>
            </a:r>
            <a:endParaRPr lang="en-US" sz="800" dirty="0"/>
          </a:p>
        </p:txBody>
      </p:sp>
      <p:sp>
        <p:nvSpPr>
          <p:cNvPr id="24" name="thE"/>
          <p:cNvSpPr txBox="1"/>
          <p:nvPr/>
        </p:nvSpPr>
        <p:spPr>
          <a:xfrm>
            <a:off x="3456432" y="25420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67788"/>
                </a:solidFill>
              </a:rPr>
              <a:t>ENTREGA</a:t>
            </a:r>
            <a:endParaRPr lang="en-US" sz="800" dirty="0"/>
          </a:p>
        </p:txBody>
      </p:sp>
      <p:sp>
        <p:nvSpPr>
          <p:cNvPr id="25" name="thA"/>
          <p:cNvSpPr txBox="1"/>
          <p:nvPr/>
        </p:nvSpPr>
        <p:spPr>
          <a:xfrm>
            <a:off x="4773168" y="25420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67788"/>
                </a:solidFill>
              </a:rPr>
              <a:t>AVANCE</a:t>
            </a:r>
            <a:endParaRPr lang="en-US" sz="800" dirty="0"/>
          </a:p>
        </p:txBody>
      </p:sp>
      <p:sp>
        <p:nvSpPr>
          <p:cNvPr id="26" name="thD"/>
          <p:cNvSpPr txBox="1"/>
          <p:nvPr/>
        </p:nvSpPr>
        <p:spPr>
          <a:xfrm>
            <a:off x="6492240" y="25420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667788"/>
                </a:solidFill>
              </a:rPr>
              <a:t>DESVÍO</a:t>
            </a:r>
            <a:endParaRPr lang="en-US" sz="800" dirty="0"/>
          </a:p>
        </p:txBody>
      </p:sp>
      <p:sp>
        <p:nvSpPr>
          <p:cNvPr id="27" name="dot0"/>
          <p:cNvSpPr/>
          <p:nvPr/>
        </p:nvSpPr>
        <p:spPr>
          <a:xfrm>
            <a:off x="457200" y="2816352"/>
            <a:ext cx="137160" cy="137160"/>
          </a:xfrm>
          <a:prstGeom prst="ellipse">
            <a:avLst/>
          </a:prstGeom>
          <a:solidFill>
            <a:srgbClr val="33691E"/>
          </a:solidFill>
          <a:ln w="12700">
            <a:solidFill>
              <a:srgbClr val="33691E"/>
            </a:solidFill>
            <a:prstDash val="solid"/>
          </a:ln>
        </p:spPr>
      </p:sp>
      <p:sp>
        <p:nvSpPr>
          <p:cNvPr id="28" name="nm0"/>
          <p:cNvSpPr txBox="1"/>
          <p:nvPr/>
        </p:nvSpPr>
        <p:spPr>
          <a:xfrm>
            <a:off x="749808" y="27432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CAT Miron — Transformadores</a:t>
            </a:r>
            <a:endParaRPr lang="en-US" sz="1150" dirty="0"/>
          </a:p>
        </p:txBody>
      </p:sp>
      <p:sp>
        <p:nvSpPr>
          <p:cNvPr id="29" name="nt0"/>
          <p:cNvSpPr txBox="1"/>
          <p:nvPr/>
        </p:nvSpPr>
        <p:spPr>
          <a:xfrm>
            <a:off x="749808" y="293522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Inspección OK · 13 un. + 3 lotes repuestos</a:t>
            </a:r>
            <a:endParaRPr lang="en-US" sz="900" dirty="0"/>
          </a:p>
        </p:txBody>
      </p:sp>
      <p:sp>
        <p:nvSpPr>
          <p:cNvPr id="30" name="en0"/>
          <p:cNvSpPr txBox="1"/>
          <p:nvPr/>
        </p:nvSpPr>
        <p:spPr>
          <a:xfrm>
            <a:off x="3456432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11-DIC-2026</a:t>
            </a:r>
            <a:endParaRPr lang="en-US" sz="1300" dirty="0"/>
          </a:p>
        </p:txBody>
      </p:sp>
      <p:sp>
        <p:nvSpPr>
          <p:cNvPr id="31" name="av0"/>
          <p:cNvSpPr txBox="1"/>
          <p:nvPr/>
        </p:nvSpPr>
        <p:spPr>
          <a:xfrm>
            <a:off x="4773168" y="28437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788"/>
                </a:solidFill>
              </a:rPr>
              <a:t>sin dato global</a:t>
            </a:r>
            <a:endParaRPr lang="en-US" sz="900" dirty="0"/>
          </a:p>
        </p:txBody>
      </p:sp>
      <p:sp>
        <p:nvSpPr>
          <p:cNvPr id="32" name="dv0"/>
          <p:cNvSpPr txBox="1"/>
          <p:nvPr/>
        </p:nvSpPr>
        <p:spPr>
          <a:xfrm>
            <a:off x="6492240" y="280720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Sin desvío</a:t>
            </a:r>
            <a:endParaRPr lang="en-US" sz="1000" dirty="0"/>
          </a:p>
        </p:txBody>
      </p:sp>
      <p:sp>
        <p:nvSpPr>
          <p:cNvPr id="33" name="sep1"/>
          <p:cNvSpPr/>
          <p:nvPr/>
        </p:nvSpPr>
        <p:spPr>
          <a:xfrm>
            <a:off x="457200" y="3108960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34" name="dot1"/>
          <p:cNvSpPr/>
          <p:nvPr/>
        </p:nvSpPr>
        <p:spPr>
          <a:xfrm>
            <a:off x="457200" y="3227832"/>
            <a:ext cx="137160" cy="13716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5" name="nm1"/>
          <p:cNvSpPr txBox="1"/>
          <p:nvPr/>
        </p:nvSpPr>
        <p:spPr>
          <a:xfrm>
            <a:off x="749808" y="31546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HPH — Marshalling (Alemania)</a:t>
            </a:r>
            <a:endParaRPr lang="en-US" sz="1150" dirty="0"/>
          </a:p>
        </p:txBody>
      </p:sp>
      <p:sp>
        <p:nvSpPr>
          <p:cNvPr id="36" name="nt1"/>
          <p:cNvSpPr txBox="1"/>
          <p:nvPr/>
        </p:nvSpPr>
        <p:spPr>
          <a:xfrm>
            <a:off x="749808" y="334670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Fabricación completada · DAP Ezeiza</a:t>
            </a:r>
            <a:endParaRPr lang="en-US" sz="900" dirty="0"/>
          </a:p>
        </p:txBody>
      </p:sp>
      <p:sp>
        <p:nvSpPr>
          <p:cNvPr id="37" name="en1"/>
          <p:cNvSpPr txBox="1"/>
          <p:nvPr/>
        </p:nvSpPr>
        <p:spPr>
          <a:xfrm>
            <a:off x="3456432" y="32278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15-DIC-2026</a:t>
            </a:r>
            <a:endParaRPr lang="en-US" sz="1300" dirty="0"/>
          </a:p>
        </p:txBody>
      </p:sp>
      <p:sp>
        <p:nvSpPr>
          <p:cNvPr id="38" name="bg1"/>
          <p:cNvSpPr/>
          <p:nvPr/>
        </p:nvSpPr>
        <p:spPr>
          <a:xfrm>
            <a:off x="4773168" y="3273552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9" name="bf1"/>
          <p:cNvSpPr/>
          <p:nvPr/>
        </p:nvSpPr>
        <p:spPr>
          <a:xfrm>
            <a:off x="4773168" y="3273552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0" name="pc1"/>
          <p:cNvSpPr txBox="1"/>
          <p:nvPr/>
        </p:nvSpPr>
        <p:spPr>
          <a:xfrm>
            <a:off x="5870448" y="32186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100%</a:t>
            </a:r>
            <a:endParaRPr lang="en-US" sz="1100" dirty="0"/>
          </a:p>
        </p:txBody>
      </p:sp>
      <p:sp>
        <p:nvSpPr>
          <p:cNvPr id="41" name="dv1"/>
          <p:cNvSpPr txBox="1"/>
          <p:nvPr/>
        </p:nvSpPr>
        <p:spPr>
          <a:xfrm>
            <a:off x="6492240" y="321868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Sin desvío</a:t>
            </a:r>
            <a:endParaRPr lang="en-US" sz="1000" dirty="0"/>
          </a:p>
        </p:txBody>
      </p:sp>
      <p:sp>
        <p:nvSpPr>
          <p:cNvPr id="42" name="sep2"/>
          <p:cNvSpPr/>
          <p:nvPr/>
        </p:nvSpPr>
        <p:spPr>
          <a:xfrm>
            <a:off x="457200" y="3520440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43" name="dot2"/>
          <p:cNvSpPr/>
          <p:nvPr/>
        </p:nvSpPr>
        <p:spPr>
          <a:xfrm>
            <a:off x="457200" y="3639312"/>
            <a:ext cx="137160" cy="137160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44" name="nm2"/>
          <p:cNvSpPr txBox="1"/>
          <p:nvPr/>
        </p:nvSpPr>
        <p:spPr>
          <a:xfrm>
            <a:off x="749808" y="35661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ABB — PMS</a:t>
            </a:r>
            <a:endParaRPr lang="en-US" sz="1150" dirty="0"/>
          </a:p>
        </p:txBody>
      </p:sp>
      <p:sp>
        <p:nvSpPr>
          <p:cNvPr id="45" name="nt2"/>
          <p:cNvSpPr txBox="1"/>
          <p:nvPr/>
        </p:nvSpPr>
        <p:spPr>
          <a:xfrm>
            <a:off x="749808" y="375818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ABB absorbió el corrimiento del armado</a:t>
            </a:r>
            <a:endParaRPr lang="en-US" sz="900" dirty="0"/>
          </a:p>
        </p:txBody>
      </p:sp>
      <p:sp>
        <p:nvSpPr>
          <p:cNvPr id="46" name="en2"/>
          <p:cNvSpPr txBox="1"/>
          <p:nvPr/>
        </p:nvSpPr>
        <p:spPr>
          <a:xfrm>
            <a:off x="3456432" y="36393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17-FEB-2027</a:t>
            </a:r>
            <a:endParaRPr lang="en-US" sz="1300" dirty="0"/>
          </a:p>
        </p:txBody>
      </p:sp>
      <p:sp>
        <p:nvSpPr>
          <p:cNvPr id="47" name="bg2"/>
          <p:cNvSpPr/>
          <p:nvPr/>
        </p:nvSpPr>
        <p:spPr>
          <a:xfrm>
            <a:off x="4773168" y="3685032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48" name="bf2"/>
          <p:cNvSpPr/>
          <p:nvPr/>
        </p:nvSpPr>
        <p:spPr>
          <a:xfrm>
            <a:off x="4773168" y="3685032"/>
            <a:ext cx="533095" cy="118872"/>
          </a:xfrm>
          <a:prstGeom prst="roundRect">
            <a:avLst>
              <a:gd name="adj" fmla="val 46154"/>
            </a:avLst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49" name="pc2"/>
          <p:cNvSpPr txBox="1"/>
          <p:nvPr/>
        </p:nvSpPr>
        <p:spPr>
          <a:xfrm>
            <a:off x="5870448" y="36301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53%</a:t>
            </a:r>
            <a:endParaRPr lang="en-US" sz="1100" dirty="0"/>
          </a:p>
        </p:txBody>
      </p:sp>
      <p:sp>
        <p:nvSpPr>
          <p:cNvPr id="50" name="dv2"/>
          <p:cNvSpPr txBox="1"/>
          <p:nvPr/>
        </p:nvSpPr>
        <p:spPr>
          <a:xfrm>
            <a:off x="6492240" y="36301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Sin desvío</a:t>
            </a:r>
            <a:endParaRPr lang="en-US" sz="1000" dirty="0"/>
          </a:p>
        </p:txBody>
      </p:sp>
      <p:sp>
        <p:nvSpPr>
          <p:cNvPr id="51" name="sep3"/>
          <p:cNvSpPr/>
          <p:nvPr/>
        </p:nvSpPr>
        <p:spPr>
          <a:xfrm>
            <a:off x="457200" y="3931920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52" name="dot3"/>
          <p:cNvSpPr/>
          <p:nvPr/>
        </p:nvSpPr>
        <p:spPr>
          <a:xfrm>
            <a:off x="457200" y="4050792"/>
            <a:ext cx="137160" cy="137160"/>
          </a:xfrm>
          <a:prstGeom prst="ellipse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53" name="nm3"/>
          <p:cNvSpPr txBox="1"/>
          <p:nvPr/>
        </p:nvSpPr>
        <p:spPr>
          <a:xfrm>
            <a:off x="749808" y="39776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ABB — Sala eléctrica SE#4 (MT)</a:t>
            </a:r>
            <a:endParaRPr lang="en-US" sz="1150" dirty="0"/>
          </a:p>
        </p:txBody>
      </p:sp>
      <p:sp>
        <p:nvSpPr>
          <p:cNvPr id="54" name="nt3"/>
          <p:cNvSpPr txBox="1"/>
          <p:nvPr/>
        </p:nvSpPr>
        <p:spPr>
          <a:xfrm>
            <a:off x="749808" y="416966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Fecha contractual 08-04-2027</a:t>
            </a:r>
            <a:endParaRPr lang="en-US" sz="900" dirty="0"/>
          </a:p>
        </p:txBody>
      </p:sp>
      <p:sp>
        <p:nvSpPr>
          <p:cNvPr id="55" name="en3"/>
          <p:cNvSpPr txBox="1"/>
          <p:nvPr/>
        </p:nvSpPr>
        <p:spPr>
          <a:xfrm>
            <a:off x="3456432" y="40507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D1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25-MAR-2027</a:t>
            </a:r>
            <a:endParaRPr lang="en-US" sz="1300" dirty="0"/>
          </a:p>
        </p:txBody>
      </p:sp>
      <p:sp>
        <p:nvSpPr>
          <p:cNvPr id="56" name="bg3"/>
          <p:cNvSpPr/>
          <p:nvPr/>
        </p:nvSpPr>
        <p:spPr>
          <a:xfrm>
            <a:off x="4773168" y="4096512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7" name="bf3"/>
          <p:cNvSpPr/>
          <p:nvPr/>
        </p:nvSpPr>
        <p:spPr>
          <a:xfrm>
            <a:off x="4773168" y="4096512"/>
            <a:ext cx="362102" cy="118872"/>
          </a:xfrm>
          <a:prstGeom prst="roundRect">
            <a:avLst>
              <a:gd name="adj" fmla="val 46154"/>
            </a:avLst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58" name="pc3"/>
          <p:cNvSpPr txBox="1"/>
          <p:nvPr/>
        </p:nvSpPr>
        <p:spPr>
          <a:xfrm>
            <a:off x="5870448" y="40416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36%</a:t>
            </a:r>
            <a:endParaRPr lang="en-US" sz="1100" dirty="0"/>
          </a:p>
        </p:txBody>
      </p:sp>
      <p:sp>
        <p:nvSpPr>
          <p:cNvPr id="59" name="dv3"/>
          <p:cNvSpPr txBox="1"/>
          <p:nvPr/>
        </p:nvSpPr>
        <p:spPr>
          <a:xfrm>
            <a:off x="6492240" y="40416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14 d antes</a:t>
            </a:r>
            <a:endParaRPr lang="en-US" sz="1000" dirty="0"/>
          </a:p>
        </p:txBody>
      </p:sp>
      <p:sp>
        <p:nvSpPr>
          <p:cNvPr id="60" name="sep4"/>
          <p:cNvSpPr/>
          <p:nvPr/>
        </p:nvSpPr>
        <p:spPr>
          <a:xfrm>
            <a:off x="457200" y="4343400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61" name="dot4"/>
          <p:cNvSpPr/>
          <p:nvPr/>
        </p:nvSpPr>
        <p:spPr>
          <a:xfrm>
            <a:off x="457200" y="4462272"/>
            <a:ext cx="137160" cy="1371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2" name="nm4"/>
          <p:cNvSpPr txBox="1"/>
          <p:nvPr/>
        </p:nvSpPr>
        <p:spPr>
          <a:xfrm>
            <a:off x="749808" y="43891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ABB — Sala eléctrica SE#3 (BT)</a:t>
            </a:r>
            <a:endParaRPr lang="en-US" sz="1150" dirty="0"/>
          </a:p>
        </p:txBody>
      </p:sp>
      <p:sp>
        <p:nvSpPr>
          <p:cNvPr id="63" name="nt4"/>
          <p:cNvSpPr txBox="1"/>
          <p:nvPr/>
        </p:nvSpPr>
        <p:spPr>
          <a:xfrm>
            <a:off x="749808" y="458114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Fecha contractual 14-05-2027</a:t>
            </a:r>
            <a:endParaRPr lang="en-US" sz="900" dirty="0"/>
          </a:p>
        </p:txBody>
      </p:sp>
      <p:sp>
        <p:nvSpPr>
          <p:cNvPr id="64" name="en4"/>
          <p:cNvSpPr txBox="1"/>
          <p:nvPr/>
        </p:nvSpPr>
        <p:spPr>
          <a:xfrm>
            <a:off x="3456432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20-ABR-2027</a:t>
            </a:r>
            <a:endParaRPr lang="en-US" sz="1300" dirty="0"/>
          </a:p>
        </p:txBody>
      </p:sp>
      <p:sp>
        <p:nvSpPr>
          <p:cNvPr id="65" name="bg4"/>
          <p:cNvSpPr/>
          <p:nvPr/>
        </p:nvSpPr>
        <p:spPr>
          <a:xfrm>
            <a:off x="4773168" y="4507992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6" name="bf4"/>
          <p:cNvSpPr/>
          <p:nvPr/>
        </p:nvSpPr>
        <p:spPr>
          <a:xfrm>
            <a:off x="4773168" y="4507992"/>
            <a:ext cx="362102" cy="118872"/>
          </a:xfrm>
          <a:prstGeom prst="roundRect">
            <a:avLst>
              <a:gd name="adj" fmla="val 46154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7" name="pc4"/>
          <p:cNvSpPr txBox="1"/>
          <p:nvPr/>
        </p:nvSpPr>
        <p:spPr>
          <a:xfrm>
            <a:off x="5870448" y="44531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36%</a:t>
            </a:r>
            <a:endParaRPr lang="en-US" sz="1100" dirty="0"/>
          </a:p>
        </p:txBody>
      </p:sp>
      <p:sp>
        <p:nvSpPr>
          <p:cNvPr id="68" name="dv4"/>
          <p:cNvSpPr txBox="1"/>
          <p:nvPr/>
        </p:nvSpPr>
        <p:spPr>
          <a:xfrm>
            <a:off x="6492240" y="445312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21 d antes</a:t>
            </a:r>
            <a:endParaRPr lang="en-US" sz="1000" dirty="0"/>
          </a:p>
        </p:txBody>
      </p:sp>
      <p:sp>
        <p:nvSpPr>
          <p:cNvPr id="69" name="sep5"/>
          <p:cNvSpPr/>
          <p:nvPr/>
        </p:nvSpPr>
        <p:spPr>
          <a:xfrm>
            <a:off x="457200" y="4754880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70" name="dot5"/>
          <p:cNvSpPr/>
          <p:nvPr/>
        </p:nvSpPr>
        <p:spPr>
          <a:xfrm>
            <a:off x="457200" y="4873752"/>
            <a:ext cx="137160" cy="1371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1" name="nm5"/>
          <p:cNvSpPr txBox="1"/>
          <p:nvPr/>
        </p:nvSpPr>
        <p:spPr>
          <a:xfrm>
            <a:off x="749808" y="48006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Inauco — PCS / SCADA</a:t>
            </a:r>
            <a:endParaRPr lang="en-US" sz="1150" dirty="0"/>
          </a:p>
        </p:txBody>
      </p:sp>
      <p:sp>
        <p:nvSpPr>
          <p:cNvPr id="72" name="nt5"/>
          <p:cNvSpPr txBox="1"/>
          <p:nvPr/>
        </p:nvSpPr>
        <p:spPr>
          <a:xfrm>
            <a:off x="749808" y="499262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Rev 0 para construcción · sin corrimientos</a:t>
            </a:r>
            <a:endParaRPr lang="en-US" sz="900" dirty="0"/>
          </a:p>
        </p:txBody>
      </p:sp>
      <p:sp>
        <p:nvSpPr>
          <p:cNvPr id="73" name="en5"/>
          <p:cNvSpPr txBox="1"/>
          <p:nvPr/>
        </p:nvSpPr>
        <p:spPr>
          <a:xfrm>
            <a:off x="3456432" y="48737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04-MAY-2027</a:t>
            </a:r>
            <a:endParaRPr lang="en-US" sz="1300" dirty="0"/>
          </a:p>
        </p:txBody>
      </p:sp>
      <p:sp>
        <p:nvSpPr>
          <p:cNvPr id="74" name="bg5"/>
          <p:cNvSpPr/>
          <p:nvPr/>
        </p:nvSpPr>
        <p:spPr>
          <a:xfrm>
            <a:off x="4773168" y="4919472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75" name="bf5"/>
          <p:cNvSpPr/>
          <p:nvPr/>
        </p:nvSpPr>
        <p:spPr>
          <a:xfrm>
            <a:off x="4773168" y="4919472"/>
            <a:ext cx="64008" cy="118872"/>
          </a:xfrm>
          <a:prstGeom prst="roundRect">
            <a:avLst>
              <a:gd name="adj" fmla="val 8571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6" name="pc5"/>
          <p:cNvSpPr txBox="1"/>
          <p:nvPr/>
        </p:nvSpPr>
        <p:spPr>
          <a:xfrm>
            <a:off x="5870448" y="48646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6%</a:t>
            </a:r>
            <a:endParaRPr lang="en-US" sz="1100" dirty="0"/>
          </a:p>
        </p:txBody>
      </p:sp>
      <p:sp>
        <p:nvSpPr>
          <p:cNvPr id="77" name="dv5"/>
          <p:cNvSpPr txBox="1"/>
          <p:nvPr/>
        </p:nvSpPr>
        <p:spPr>
          <a:xfrm>
            <a:off x="6492240" y="486460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Sin desvío</a:t>
            </a:r>
            <a:endParaRPr lang="en-US" sz="1000" dirty="0"/>
          </a:p>
        </p:txBody>
      </p:sp>
      <p:sp>
        <p:nvSpPr>
          <p:cNvPr id="78" name="sep6"/>
          <p:cNvSpPr/>
          <p:nvPr/>
        </p:nvSpPr>
        <p:spPr>
          <a:xfrm>
            <a:off x="457200" y="5166360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79" name="dot6"/>
          <p:cNvSpPr/>
          <p:nvPr/>
        </p:nvSpPr>
        <p:spPr>
          <a:xfrm>
            <a:off x="457200" y="5285232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80" name="nm6"/>
          <p:cNvSpPr txBox="1"/>
          <p:nvPr/>
        </p:nvSpPr>
        <p:spPr>
          <a:xfrm>
            <a:off x="749808" y="52120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HARG — HIMA Argentina (SIS)</a:t>
            </a:r>
            <a:endParaRPr lang="en-US" sz="1150" dirty="0"/>
          </a:p>
        </p:txBody>
      </p:sp>
      <p:sp>
        <p:nvSpPr>
          <p:cNvPr id="81" name="nt6"/>
          <p:cNvSpPr txBox="1"/>
          <p:nvPr/>
        </p:nvSpPr>
        <p:spPr>
          <a:xfrm>
            <a:off x="749808" y="540410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ORDEN DE COMPRA PENDIENTE</a:t>
            </a:r>
            <a:endParaRPr lang="en-US" sz="900" dirty="0"/>
          </a:p>
        </p:txBody>
      </p:sp>
      <p:sp>
        <p:nvSpPr>
          <p:cNvPr id="82" name="en6"/>
          <p:cNvSpPr txBox="1"/>
          <p:nvPr/>
        </p:nvSpPr>
        <p:spPr>
          <a:xfrm>
            <a:off x="3456432" y="52852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10-MAY-2027</a:t>
            </a:r>
            <a:endParaRPr lang="en-US" sz="1300" dirty="0"/>
          </a:p>
        </p:txBody>
      </p:sp>
      <p:sp>
        <p:nvSpPr>
          <p:cNvPr id="83" name="bg6"/>
          <p:cNvSpPr/>
          <p:nvPr/>
        </p:nvSpPr>
        <p:spPr>
          <a:xfrm>
            <a:off x="4773168" y="5330952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84" name="pc6"/>
          <p:cNvSpPr txBox="1"/>
          <p:nvPr/>
        </p:nvSpPr>
        <p:spPr>
          <a:xfrm>
            <a:off x="5870448" y="5276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0%</a:t>
            </a:r>
            <a:endParaRPr lang="en-US" sz="1100" dirty="0"/>
          </a:p>
        </p:txBody>
      </p:sp>
      <p:sp>
        <p:nvSpPr>
          <p:cNvPr id="85" name="dv6"/>
          <p:cNvSpPr txBox="1"/>
          <p:nvPr/>
        </p:nvSpPr>
        <p:spPr>
          <a:xfrm>
            <a:off x="6492240" y="527608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+49 días</a:t>
            </a:r>
            <a:endParaRPr lang="en-US" sz="1000" dirty="0"/>
          </a:p>
        </p:txBody>
      </p:sp>
      <p:sp>
        <p:nvSpPr>
          <p:cNvPr id="86" name="sep7"/>
          <p:cNvSpPr/>
          <p:nvPr/>
        </p:nvSpPr>
        <p:spPr>
          <a:xfrm>
            <a:off x="457200" y="5577840"/>
            <a:ext cx="713232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87" name="dot7"/>
          <p:cNvSpPr/>
          <p:nvPr/>
        </p:nvSpPr>
        <p:spPr>
          <a:xfrm>
            <a:off x="457200" y="5696712"/>
            <a:ext cx="137160" cy="137160"/>
          </a:xfrm>
          <a:prstGeom prst="ellipse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88" name="nm7"/>
          <p:cNvSpPr txBox="1"/>
          <p:nvPr/>
        </p:nvSpPr>
        <p:spPr>
          <a:xfrm>
            <a:off x="749808" y="56235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ABB — Ductos de barras</a:t>
            </a:r>
            <a:endParaRPr lang="en-US" sz="1150" dirty="0"/>
          </a:p>
        </p:txBody>
      </p:sp>
      <p:sp>
        <p:nvSpPr>
          <p:cNvPr id="89" name="nt7"/>
          <p:cNvSpPr txBox="1"/>
          <p:nvPr/>
        </p:nvSpPr>
        <p:spPr>
          <a:xfrm>
            <a:off x="749808" y="5815584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PLAZO SIN CONFIRMAR</a:t>
            </a:r>
            <a:endParaRPr lang="en-US" sz="900" dirty="0"/>
          </a:p>
        </p:txBody>
      </p:sp>
      <p:sp>
        <p:nvSpPr>
          <p:cNvPr id="90" name="en7"/>
          <p:cNvSpPr txBox="1"/>
          <p:nvPr/>
        </p:nvSpPr>
        <p:spPr>
          <a:xfrm>
            <a:off x="3456432" y="5696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5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08-JUL-2027</a:t>
            </a:r>
            <a:endParaRPr lang="en-US" sz="1300" dirty="0"/>
          </a:p>
        </p:txBody>
      </p:sp>
      <p:sp>
        <p:nvSpPr>
          <p:cNvPr id="91" name="bg7"/>
          <p:cNvSpPr/>
          <p:nvPr/>
        </p:nvSpPr>
        <p:spPr>
          <a:xfrm>
            <a:off x="4773168" y="5742432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92" name="bf7"/>
          <p:cNvSpPr/>
          <p:nvPr/>
        </p:nvSpPr>
        <p:spPr>
          <a:xfrm>
            <a:off x="4773168" y="5742432"/>
            <a:ext cx="64008" cy="118872"/>
          </a:xfrm>
          <a:prstGeom prst="roundRect">
            <a:avLst>
              <a:gd name="adj" fmla="val 85714"/>
            </a:avLst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93" name="pc7"/>
          <p:cNvSpPr txBox="1"/>
          <p:nvPr/>
        </p:nvSpPr>
        <p:spPr>
          <a:xfrm>
            <a:off x="5870448" y="56875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5%</a:t>
            </a:r>
            <a:endParaRPr lang="en-US" sz="1100" dirty="0"/>
          </a:p>
        </p:txBody>
      </p:sp>
      <p:sp>
        <p:nvSpPr>
          <p:cNvPr id="94" name="dv7"/>
          <p:cNvSpPr txBox="1"/>
          <p:nvPr/>
        </p:nvSpPr>
        <p:spPr>
          <a:xfrm>
            <a:off x="6492240" y="56875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+28 días</a:t>
            </a:r>
            <a:endParaRPr lang="en-US" sz="1000" dirty="0"/>
          </a:p>
        </p:txBody>
      </p:sp>
      <p:sp>
        <p:nvSpPr>
          <p:cNvPr id="95" name="notaDesvio"/>
          <p:cNvSpPr txBox="1"/>
          <p:nvPr/>
        </p:nvSpPr>
        <p:spPr>
          <a:xfrm>
            <a:off x="457200" y="60533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7788"/>
                </a:solidFill>
              </a:rPr>
              <a:t>Desvío medido contra la fecha CONTRACTUAL en las salas eléctricas y contra el plan original de cada proveedor en el resto.</a:t>
            </a:r>
            <a:endParaRPr lang="en-US" sz="800" dirty="0"/>
          </a:p>
        </p:txBody>
      </p:sp>
      <p:sp>
        <p:nvSpPr>
          <p:cNvPr id="96" name="panelDer"/>
          <p:cNvSpPr/>
          <p:nvPr/>
        </p:nvSpPr>
        <p:spPr>
          <a:xfrm>
            <a:off x="7882128" y="2249424"/>
            <a:ext cx="3822192" cy="4005072"/>
          </a:xfrm>
          <a:prstGeom prst="roundRect">
            <a:avLst>
              <a:gd name="adj" fmla="val 1914"/>
            </a:avLst>
          </a:prstGeom>
          <a:solidFill>
            <a:srgbClr val="F5F7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97" name="hdrFoco"/>
          <p:cNvSpPr txBox="1"/>
          <p:nvPr/>
        </p:nvSpPr>
        <p:spPr>
          <a:xfrm>
            <a:off x="8083296" y="2377440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Foco gerencial</a:t>
            </a:r>
            <a:endParaRPr lang="en-US" sz="1300" dirty="0"/>
          </a:p>
        </p:txBody>
      </p:sp>
      <p:sp>
        <p:nvSpPr>
          <p:cNvPr id="98" name="claim"/>
          <p:cNvSpPr txBox="1"/>
          <p:nvPr/>
        </p:nvSpPr>
        <p:spPr>
          <a:xfrm>
            <a:off x="8083296" y="2615184"/>
            <a:ext cx="3419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3"/>
                </a:solidFill>
              </a:rPr>
              <a:t>Seis provisiones sostienen su fecha. Las dos con desvío son </a:t>
            </a:r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F2933"/>
                </a:solidFill>
              </a:rPr>
              <a:t>los ductos de barras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3"/>
                </a:solidFill>
              </a:rPr>
              <a:t> (+28 d, sin confirmar) y </a:t>
            </a:r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F2933"/>
                </a:solidFill>
              </a:rPr>
              <a:t>HARG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3"/>
                </a:solidFill>
              </a:rPr>
              <a:t> (+49 d por la OC no colocada). En 7 de 8 el pendiente crítico es </a:t>
            </a:r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F2933"/>
                </a:solidFill>
              </a:rPr>
              <a:t>un insumo de AESA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3"/>
                </a:solidFill>
              </a:rPr>
              <a:t>.</a:t>
            </a:r>
            <a:endParaRPr lang="en-US" sz="1000" dirty="0"/>
          </a:p>
        </p:txBody>
      </p:sp>
      <p:sp>
        <p:nvSpPr>
          <p:cNvPr id="99" name="hdrAcc"/>
          <p:cNvSpPr txBox="1"/>
          <p:nvPr/>
        </p:nvSpPr>
        <p:spPr>
          <a:xfrm>
            <a:off x="8083296" y="3438144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67788"/>
                </a:solidFill>
              </a:rPr>
              <a:t>DECISIONES Y ACCIONES INMEDIATAS</a:t>
            </a:r>
            <a:endParaRPr lang="en-US" sz="850" dirty="0"/>
          </a:p>
        </p:txBody>
      </p:sp>
      <p:sp>
        <p:nvSpPr>
          <p:cNvPr id="100" name="num0"/>
          <p:cNvSpPr/>
          <p:nvPr/>
        </p:nvSpPr>
        <p:spPr>
          <a:xfrm>
            <a:off x="8083296" y="3666744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1" name="numT0"/>
          <p:cNvSpPr txBox="1"/>
          <p:nvPr/>
        </p:nvSpPr>
        <p:spPr>
          <a:xfrm>
            <a:off x="8083296" y="3666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02" name="accT0"/>
          <p:cNvSpPr txBox="1"/>
          <p:nvPr/>
        </p:nvSpPr>
        <p:spPr>
          <a:xfrm>
            <a:off x="8357616" y="3639312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Emitir la carta de crédito de HPH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PA-14</a:t>
            </a:r>
            <a:endParaRPr lang="en-US" sz="1000" dirty="0"/>
          </a:p>
        </p:txBody>
      </p:sp>
      <p:sp>
        <p:nvSpPr>
          <p:cNvPr id="103" name="accD0"/>
          <p:cNvSpPr txBox="1"/>
          <p:nvPr/>
        </p:nvSpPr>
        <p:spPr>
          <a:xfrm>
            <a:off x="8357616" y="3808476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40" dirty="0">
                <a:solidFill>
                  <a:srgbClr val="667788"/>
                </a:solidFill>
              </a:rPr>
              <a:t>Plazo pedido por el proveedor: 30-10-2026. Retiene el alcance ampliado de la orden.</a:t>
            </a:r>
            <a:endParaRPr lang="en-US" sz="840" dirty="0"/>
          </a:p>
        </p:txBody>
      </p:sp>
      <p:sp>
        <p:nvSpPr>
          <p:cNvPr id="104" name="num1"/>
          <p:cNvSpPr/>
          <p:nvPr/>
        </p:nvSpPr>
        <p:spPr>
          <a:xfrm>
            <a:off x="8083296" y="4082796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5" name="numT1"/>
          <p:cNvSpPr txBox="1"/>
          <p:nvPr/>
        </p:nvSpPr>
        <p:spPr>
          <a:xfrm>
            <a:off x="8083296" y="40827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06" name="accT1"/>
          <p:cNvSpPr txBox="1"/>
          <p:nvPr/>
        </p:nvSpPr>
        <p:spPr>
          <a:xfrm>
            <a:off x="8357616" y="4055364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Colocar la OC de HIMA Argentina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PA-04</a:t>
            </a:r>
            <a:endParaRPr lang="en-US" sz="1000" dirty="0"/>
          </a:p>
        </p:txBody>
      </p:sp>
      <p:sp>
        <p:nvSpPr>
          <p:cNvPr id="107" name="accD1"/>
          <p:cNvSpPr txBox="1"/>
          <p:nvPr/>
        </p:nvSpPr>
        <p:spPr>
          <a:xfrm>
            <a:off x="8357616" y="4224528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40" dirty="0">
                <a:solidFill>
                  <a:srgbClr val="667788"/>
                </a:solidFill>
              </a:rPr>
              <a:t>Sin colocar. Gobierna el cierre del 10-05-27: cada semana de demora lo corre una semana.</a:t>
            </a:r>
            <a:endParaRPr lang="en-US" sz="840" dirty="0"/>
          </a:p>
        </p:txBody>
      </p:sp>
      <p:sp>
        <p:nvSpPr>
          <p:cNvPr id="108" name="num2"/>
          <p:cNvSpPr/>
          <p:nvPr/>
        </p:nvSpPr>
        <p:spPr>
          <a:xfrm>
            <a:off x="8083296" y="4498848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9" name="numT2"/>
          <p:cNvSpPr txBox="1"/>
          <p:nvPr/>
        </p:nvSpPr>
        <p:spPr>
          <a:xfrm>
            <a:off x="8083296" y="4498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10" name="accT2"/>
          <p:cNvSpPr txBox="1"/>
          <p:nvPr/>
        </p:nvSpPr>
        <p:spPr>
          <a:xfrm>
            <a:off x="8357616" y="4471416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Entregar los mapas del PMS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PA-11</a:t>
            </a:r>
            <a:endParaRPr lang="en-US" sz="1000" dirty="0"/>
          </a:p>
        </p:txBody>
      </p:sp>
      <p:sp>
        <p:nvSpPr>
          <p:cNvPr id="111" name="accD2"/>
          <p:cNvSpPr txBox="1"/>
          <p:nvPr/>
        </p:nvSpPr>
        <p:spPr>
          <a:xfrm>
            <a:off x="8357616" y="464058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40" dirty="0">
                <a:solidFill>
                  <a:srgbClr val="667788"/>
                </a:solidFill>
              </a:rPr>
              <a:t>Mapas Modbus y Profinet. La configuración de comunicaciones arranca el 02-11-26.</a:t>
            </a:r>
            <a:endParaRPr lang="en-US" sz="840" dirty="0"/>
          </a:p>
        </p:txBody>
      </p:sp>
      <p:sp>
        <p:nvSpPr>
          <p:cNvPr id="112" name="num3"/>
          <p:cNvSpPr/>
          <p:nvPr/>
        </p:nvSpPr>
        <p:spPr>
          <a:xfrm>
            <a:off x="8083296" y="491490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3" name="numT3"/>
          <p:cNvSpPr txBox="1"/>
          <p:nvPr/>
        </p:nvSpPr>
        <p:spPr>
          <a:xfrm>
            <a:off x="8083296" y="49149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14" name="accT3"/>
          <p:cNvSpPr txBox="1"/>
          <p:nvPr/>
        </p:nvSpPr>
        <p:spPr>
          <a:xfrm>
            <a:off x="8357616" y="488746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Convocar los ensayos de CAT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PA-09/17</a:t>
            </a:r>
            <a:endParaRPr lang="en-US" sz="1000" dirty="0"/>
          </a:p>
        </p:txBody>
      </p:sp>
      <p:sp>
        <p:nvSpPr>
          <p:cNvPr id="115" name="accD3"/>
          <p:cNvSpPr txBox="1"/>
          <p:nvPr/>
        </p:nvSpPr>
        <p:spPr>
          <a:xfrm>
            <a:off x="8357616" y="5056632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40" dirty="0">
                <a:solidFill>
                  <a:srgbClr val="667788"/>
                </a:solidFill>
              </a:rPr>
              <a:t>Puntos de retención con 10 días de aviso (1.ª entrega 13-11) y visita al taller de núcleos antes del 06-11.</a:t>
            </a:r>
            <a:endParaRPr lang="en-US" sz="840" dirty="0"/>
          </a:p>
        </p:txBody>
      </p:sp>
      <p:sp>
        <p:nvSpPr>
          <p:cNvPr id="116" name="num4"/>
          <p:cNvSpPr/>
          <p:nvPr/>
        </p:nvSpPr>
        <p:spPr>
          <a:xfrm>
            <a:off x="8083296" y="5330952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7" name="numT4"/>
          <p:cNvSpPr txBox="1"/>
          <p:nvPr/>
        </p:nvSpPr>
        <p:spPr>
          <a:xfrm>
            <a:off x="8083296" y="5330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118" name="accT4"/>
          <p:cNvSpPr txBox="1"/>
          <p:nvPr/>
        </p:nvSpPr>
        <p:spPr>
          <a:xfrm>
            <a:off x="8357616" y="5303520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Aprobar la ingeniería de las salas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PA-08</a:t>
            </a:r>
            <a:endParaRPr lang="en-US" sz="1000" dirty="0"/>
          </a:p>
        </p:txBody>
      </p:sp>
      <p:sp>
        <p:nvSpPr>
          <p:cNvPr id="119" name="accD4"/>
          <p:cNvSpPr txBox="1"/>
          <p:nvPr/>
        </p:nvSpPr>
        <p:spPr>
          <a:xfrm>
            <a:off x="8357616" y="5472684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40" dirty="0">
                <a:solidFill>
                  <a:srgbClr val="667788"/>
                </a:solidFill>
              </a:rPr>
              <a:t>Freezing point vencido el 25-09-26. Los equipos ya están aprobados; falta el shelter.</a:t>
            </a:r>
            <a:endParaRPr lang="en-US" sz="840" dirty="0"/>
          </a:p>
        </p:txBody>
      </p:sp>
      <p:sp>
        <p:nvSpPr>
          <p:cNvPr id="120" name="num5"/>
          <p:cNvSpPr/>
          <p:nvPr/>
        </p:nvSpPr>
        <p:spPr>
          <a:xfrm>
            <a:off x="8083296" y="5747004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1" name="numT5"/>
          <p:cNvSpPr txBox="1"/>
          <p:nvPr/>
        </p:nvSpPr>
        <p:spPr>
          <a:xfrm>
            <a:off x="8083296" y="57470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122" name="accT5"/>
          <p:cNvSpPr txBox="1"/>
          <p:nvPr/>
        </p:nvSpPr>
        <p:spPr>
          <a:xfrm>
            <a:off x="8357616" y="5719572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3"/>
                </a:solidFill>
              </a:rPr>
              <a:t>Responder el reclamo de los ductos</a:t>
            </a:r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   PA-07</a:t>
            </a:r>
            <a:endParaRPr lang="en-US" sz="1000" dirty="0"/>
          </a:p>
        </p:txBody>
      </p:sp>
      <p:sp>
        <p:nvSpPr>
          <p:cNvPr id="123" name="accD5"/>
          <p:cNvSpPr txBox="1"/>
          <p:nvPr/>
        </p:nvSpPr>
        <p:spPr>
          <a:xfrm>
            <a:off x="8357616" y="5888736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840" dirty="0">
                <a:solidFill>
                  <a:srgbClr val="667788"/>
                </a:solidFill>
              </a:rPr>
              <a:t>ABB pide adecuar la fecha de las posiciones 120/130/140 y evalúa impacto económico.</a:t>
            </a:r>
            <a:endParaRPr lang="en-US" sz="840" dirty="0"/>
          </a:p>
        </p:txBody>
      </p:sp>
      <p:sp>
        <p:nvSpPr>
          <p:cNvPr id="124" name="fuentes"/>
          <p:cNvSpPr txBox="1"/>
          <p:nvPr/>
        </p:nvSpPr>
        <p:spPr>
          <a:xfrm>
            <a:off x="457200" y="632764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67788"/>
                </a:solidFill>
              </a:rPr>
              <a:t>Fuentes: ABB Salas y Ductos 5155-00-0009-VE-CO-PG-001 Rev 0 «Para construcción» (14-10-26) e informe de avance Nº 5 · ABB PMS SEP-2026 Rev 0 e informe Nº 4 · CAT Miron acta de inspección IN-FC-CAT-19082-261021 (21-10-26) y cronograma 5155-00-0022-VE-CO-PG-001 Rev A · Inauco 5155-00-0029-VE-CA-PG-001 Rev 0 «Para construcción» (23-10-26) · HPH Supplier Progress Report Nº 1 (15-10-26) · HARG PSCH_CPF2_Rev3.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Provisiones críticas CPF-2 — resumen gerencial (Rev 12 · Versión B)</dc:title>
  <dc:subject>PptxGenJS Presentation</dc:subject>
  <dc:creator>AESA</dc:creator>
  <cp:lastModifiedBy>AESA</cp:lastModifiedBy>
  <cp:revision>1</cp:revision>
  <dcterms:created xsi:type="dcterms:W3CDTF">2026-10-29T17:20:43Z</dcterms:created>
  <dcterms:modified xsi:type="dcterms:W3CDTF">2026-10-29T17:20:43Z</dcterms:modified>
</cp:coreProperties>
</file>