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Potencia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6282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C6B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9C450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E5737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Motores</c:v>
                </c:pt>
                <c:pt idx="1">
                  <c:v>Tableros SS.AA. / HVAC</c:v>
                </c:pt>
                <c:pt idx="2">
                  <c:v>Equipos generales (skids)</c:v>
                </c:pt>
                <c:pt idx="3">
                  <c:v>Calentadores eléctricos</c:v>
                </c:pt>
                <c:pt idx="4">
                  <c:v>SAI / UPS</c:v>
                </c:pt>
                <c:pt idx="5">
                  <c:v>Tracing (calefacción)</c:v>
                </c:pt>
                <c:pt idx="6">
                  <c:v>Iluminación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4426.7</c:v>
                </c:pt>
                <c:pt idx="1">
                  <c:v>710</c:v>
                </c:pt>
                <c:pt idx="2">
                  <c:v>508.6</c:v>
                </c:pt>
                <c:pt idx="3">
                  <c:v>260</c:v>
                </c:pt>
                <c:pt idx="4">
                  <c:v>150</c:v>
                </c:pt>
                <c:pt idx="5">
                  <c:v>150</c:v>
                </c:pt>
                <c:pt idx="6">
                  <c:v>120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Metros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Potencia MT
6,6/13,2 kV</c:v>
                  </c:pt>
                  <c:pt idx="1">
                    <c:v>Potencia BT
(todas las secciones)</c:v>
                  </c:pt>
                  <c:pt idx="2">
                    <c:v>Control y
señales</c:v>
                  </c:pt>
                  <c:pt idx="3">
                    <c:v>Fibra óptica
red PMS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2110</c:v>
                </c:pt>
                <c:pt idx="1">
                  <c:v>50595</c:v>
                </c:pt>
                <c:pt idx="2">
                  <c:v>28126</c:v>
                </c:pt>
                <c:pt idx="3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Instrumentos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4B5F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46E7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922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Compra AESA</c:v>
                </c:pt>
                <c:pt idx="1">
                  <c:v>Equipo paquete / PPSA — montaje AESA</c:v>
                </c:pt>
                <c:pt idx="2">
                  <c:v>Equipo paquete / PPSA — premontado en skid</c:v>
                </c:pt>
                <c:pt idx="3">
                  <c:v>Existentes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897</c:v>
                </c:pt>
                <c:pt idx="1">
                  <c:v>266</c:v>
                </c:pt>
                <c:pt idx="2">
                  <c:v>1628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03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6400800" cy="6400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120640" cy="5120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GERENCIAL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Electricidad e Instrumentación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015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 ·  Vaca Muerta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9502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 ABB · Cargas y cableado MT/BT · Instrumentación AESA/PPSA · Integración PMS – PCS/SCADA – HIMA · Cronograma integrado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60167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60167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6016752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6016752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60167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5943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5989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Rev. 2 · 13-Ago-2026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FÍSICO E&amp;I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físico de suministro y montaje de Electricidad e Instrumentación, según ingeniería de detalle, esquema unifilar (ACAL-00100-EE-E-0001) y listados de equipos ABB/AESA. Cifras indicativas, en revisión por ingeniería.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1831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1907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Salas Eléctricas ABB — potencia instalada y equipamiento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SE#3 · BT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74520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#3 — Baja Tensión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instalados — 6 transformadores exteriores (2×1.600 + 2×2.000 + 2×2.000 kVA)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Equipamiento: 3 CCM (102-CCM-005/006/007) · 2 UPS · ≈9 tableros de distribución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231636" y="206654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6231636" y="206654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SE#4 · MT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28916" y="2029968"/>
            <a:ext cx="4082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#4 — Media Tensión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31636" y="2414016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kVA  </a:t>
            </a:r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instalados — 2 transformadores TRMT-001 A/B exteriores (2.500 kVA c/u)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231636" y="2743200"/>
            <a:ext cx="51800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Equipamiento: 25 celdas MT (TGMT-001: 15 + TGMT-002: 10) · 1 UPS · ≈4 tableros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094476" y="2029968"/>
            <a:ext cx="0" cy="969264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751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Transformadores de potencia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activos + 4 en reserva · 16.200 kVA instalados (fuera de las salas)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334899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31870" y="347472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25" name="Text 23"/>
          <p:cNvSpPr/>
          <p:nvPr/>
        </p:nvSpPr>
        <p:spPr>
          <a:xfrm>
            <a:off x="351358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1.500 kW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51358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Motogeneradores G10 / G11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planta de generación (área 670) — Provisión PPSA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19506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7794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7"/>
          <p:cNvSpPr/>
          <p:nvPr/>
        </p:nvSpPr>
        <p:spPr>
          <a:xfrm>
            <a:off x="635965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35965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eléctricas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motores · 6 variadores · resto instrumentos, SS.AA., iluminación, control y calefacción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9041130" y="332841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224010" y="3474720"/>
            <a:ext cx="384048" cy="457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9205722" y="351129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 / 81.231 m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205722" y="398678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eléctricos a tender y conectar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MT/BT, control y señales, fibra óptica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0292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8580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2.798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66751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 a instalar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 compra AESA · 1.894 vendor/equipos paquete (PPSA) · 7 existentes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334899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531870" y="4937760"/>
            <a:ext cx="384048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351358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 / 65.315 m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51358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de instrumentación a comprar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15.752 puntas de conexión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19506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77940" y="4937760"/>
            <a:ext cx="384048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5" name="Text 43"/>
          <p:cNvSpPr/>
          <p:nvPr/>
        </p:nvSpPr>
        <p:spPr>
          <a:xfrm>
            <a:off x="635965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80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635965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de interconexionado (JB)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· PSS · F&amp;G · ESD · USS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9041130" y="4791456"/>
            <a:ext cx="264490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224010" y="4937760"/>
            <a:ext cx="384048" cy="4572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49" name="Text 47"/>
          <p:cNvSpPr/>
          <p:nvPr/>
        </p:nvSpPr>
        <p:spPr>
          <a:xfrm>
            <a:off x="9205722" y="4974336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16.280 kW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9205722" y="5449824"/>
            <a:ext cx="231571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total — área 670</a:t>
            </a:r>
            <a:endParaRPr lang="en-US" sz="86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motogeneradores (9 existentes + 2 de ampliación)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ABB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Electricidad — Salas eléctricas y cargas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618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6184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SE#3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19842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#3 — Baja Tensión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23134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11.200 kVA instalados · 6 transformadores exteriores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6060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CCM (102-CCM-005/006/007) — 4.000 A, 65 kA, 380/220 V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UPS doble + bypass (40 kW) y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Rectificador/cargador 110 Vcc (20 kVA) + banco de baterías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VFD — bombas inyección de agua (373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emergencia diesel MAN-90006 (1.250 kW, vía ATS a CCM-006)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" y="41330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413308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SE#4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" y="4498848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 Eléctrica #4 — Media Tensión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8952" y="482803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kVA instalados · 2 transformadores exteriores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" y="5120640"/>
            <a:ext cx="4562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celdas MT — TGMT-001 (15, 13,2 kV) + TGMT-002 (10, 6,6 kV) · 630 A · 25 kA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VFD MT — bombas de condensado (600 kW c/u)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UPS + rectificador 110 Vcc</a:t>
            </a:r>
            <a:endParaRPr lang="en-US" sz="940" dirty="0"/>
          </a:p>
          <a:p>
            <a:pPr marL="139700" indent="-139700">
              <a:lnSpc>
                <a:spcPct val="114000"/>
              </a:lnSpc>
              <a:spcAft>
                <a:spcPts val="300"/>
              </a:spcAft>
              <a:buSzPct val="100000"/>
              <a:buChar char="•"/>
            </a:pPr>
            <a:r>
              <a:rPr lang="en-US" sz="94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PMS, detección de incendio, control de accesos, HVAC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806440" y="1417320"/>
            <a:ext cx="5897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99048" y="157276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instalada por tipo de carga — SE#3 + SE#4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9048" y="1819656"/>
            <a:ext cx="5312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de cargas eléctricas — área 102 (114 equipos)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080760" y="2029968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6080760" y="3063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6.325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6080760" y="34472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 instalados</a:t>
            </a:r>
            <a:endParaRPr lang="en-US" sz="870" dirty="0"/>
          </a:p>
        </p:txBody>
      </p:sp>
      <p:sp>
        <p:nvSpPr>
          <p:cNvPr id="23" name="Shape 20"/>
          <p:cNvSpPr/>
          <p:nvPr/>
        </p:nvSpPr>
        <p:spPr>
          <a:xfrm>
            <a:off x="8869680" y="2011680"/>
            <a:ext cx="118872" cy="11887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4" name="Text 21"/>
          <p:cNvSpPr/>
          <p:nvPr/>
        </p:nvSpPr>
        <p:spPr>
          <a:xfrm>
            <a:off x="9052560" y="1975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10744200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4.426,7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8869680" y="2304288"/>
            <a:ext cx="118872" cy="118872"/>
          </a:xfrm>
          <a:prstGeom prst="rect">
            <a:avLst/>
          </a:prstGeom>
          <a:solidFill>
            <a:srgbClr val="5C6B7A"/>
          </a:solidFill>
          <a:ln/>
        </p:spPr>
      </p:sp>
      <p:sp>
        <p:nvSpPr>
          <p:cNvPr id="27" name="Text 24"/>
          <p:cNvSpPr/>
          <p:nvPr/>
        </p:nvSpPr>
        <p:spPr>
          <a:xfrm>
            <a:off x="9052560" y="22677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Tableros SS.AA. / HVAC</a:t>
            </a:r>
            <a:endParaRPr lang="en-US" sz="860" dirty="0"/>
          </a:p>
        </p:txBody>
      </p:sp>
      <p:sp>
        <p:nvSpPr>
          <p:cNvPr id="28" name="Text 25"/>
          <p:cNvSpPr/>
          <p:nvPr/>
        </p:nvSpPr>
        <p:spPr>
          <a:xfrm>
            <a:off x="107442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710,0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8869680" y="2596896"/>
            <a:ext cx="118872" cy="1188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0" name="Text 27"/>
          <p:cNvSpPr/>
          <p:nvPr/>
        </p:nvSpPr>
        <p:spPr>
          <a:xfrm>
            <a:off x="9052560" y="25603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generales (skids)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10744200" y="2560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508,6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8869680" y="2889504"/>
            <a:ext cx="118872" cy="118872"/>
          </a:xfrm>
          <a:prstGeom prst="rect">
            <a:avLst/>
          </a:prstGeom>
          <a:solidFill>
            <a:srgbClr val="9C4500"/>
          </a:solidFill>
          <a:ln/>
        </p:spPr>
      </p:sp>
      <p:sp>
        <p:nvSpPr>
          <p:cNvPr id="33" name="Text 30"/>
          <p:cNvSpPr/>
          <p:nvPr/>
        </p:nvSpPr>
        <p:spPr>
          <a:xfrm>
            <a:off x="9052560" y="28529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Calentadores eléctricos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10744200" y="28529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260,0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8869680" y="3182112"/>
            <a:ext cx="118872" cy="118872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36" name="Text 33"/>
          <p:cNvSpPr/>
          <p:nvPr/>
        </p:nvSpPr>
        <p:spPr>
          <a:xfrm>
            <a:off x="9052560" y="314553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/ UPS</a:t>
            </a:r>
            <a:endParaRPr lang="en-US" sz="860" dirty="0"/>
          </a:p>
        </p:txBody>
      </p:sp>
      <p:sp>
        <p:nvSpPr>
          <p:cNvPr id="37" name="Text 34"/>
          <p:cNvSpPr/>
          <p:nvPr/>
        </p:nvSpPr>
        <p:spPr>
          <a:xfrm>
            <a:off x="1074420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8869680" y="3474720"/>
            <a:ext cx="118872" cy="118872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39" name="Text 36"/>
          <p:cNvSpPr/>
          <p:nvPr/>
        </p:nvSpPr>
        <p:spPr>
          <a:xfrm>
            <a:off x="9052560" y="343814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(calefacción)</a:t>
            </a:r>
            <a:endParaRPr lang="en-US" sz="860" dirty="0"/>
          </a:p>
        </p:txBody>
      </p:sp>
      <p:sp>
        <p:nvSpPr>
          <p:cNvPr id="40" name="Text 37"/>
          <p:cNvSpPr/>
          <p:nvPr/>
        </p:nvSpPr>
        <p:spPr>
          <a:xfrm>
            <a:off x="10744200" y="3438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150,0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8869680" y="3767328"/>
            <a:ext cx="118872" cy="118872"/>
          </a:xfrm>
          <a:prstGeom prst="rect">
            <a:avLst/>
          </a:prstGeom>
          <a:solidFill>
            <a:srgbClr val="E57373"/>
          </a:solidFill>
          <a:ln/>
        </p:spPr>
      </p:sp>
      <p:sp>
        <p:nvSpPr>
          <p:cNvPr id="42" name="Text 39"/>
          <p:cNvSpPr/>
          <p:nvPr/>
        </p:nvSpPr>
        <p:spPr>
          <a:xfrm>
            <a:off x="9052560" y="37307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</a:t>
            </a:r>
            <a:endParaRPr lang="en-US" sz="860" dirty="0"/>
          </a:p>
        </p:txBody>
      </p:sp>
      <p:sp>
        <p:nvSpPr>
          <p:cNvPr id="43" name="Text 40"/>
          <p:cNvSpPr/>
          <p:nvPr/>
        </p:nvSpPr>
        <p:spPr>
          <a:xfrm>
            <a:off x="10744200" y="3730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5806440" y="4434840"/>
            <a:ext cx="5897880" cy="1965960"/>
          </a:xfrm>
          <a:prstGeom prst="roundRect">
            <a:avLst>
              <a:gd name="adj" fmla="val 3721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099048" y="4581144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 disponible por sala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099048" y="4937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7955280" y="4992624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48" name="Shape 45"/>
          <p:cNvSpPr/>
          <p:nvPr/>
        </p:nvSpPr>
        <p:spPr>
          <a:xfrm>
            <a:off x="7955280" y="4992624"/>
            <a:ext cx="954176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49" name="Text 46"/>
          <p:cNvSpPr/>
          <p:nvPr/>
        </p:nvSpPr>
        <p:spPr>
          <a:xfrm>
            <a:off x="8028432" y="4992624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usado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099048" y="5321808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2.260,8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5.600 kVA (demanda 3.339,2 kVA)</a:t>
            </a:r>
            <a:endParaRPr lang="en-US" sz="930" dirty="0"/>
          </a:p>
        </p:txBody>
      </p:sp>
      <p:sp>
        <p:nvSpPr>
          <p:cNvPr id="51" name="Text 48"/>
          <p:cNvSpPr/>
          <p:nvPr/>
        </p:nvSpPr>
        <p:spPr>
          <a:xfrm>
            <a:off x="6099048" y="56052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7955280" y="5660136"/>
            <a:ext cx="1600200" cy="292608"/>
          </a:xfrm>
          <a:prstGeom prst="roundRect">
            <a:avLst>
              <a:gd name="adj" fmla="val 15625"/>
            </a:avLst>
          </a:prstGeom>
          <a:solidFill>
            <a:srgbClr val="2A3E63"/>
          </a:solidFill>
          <a:ln/>
        </p:spPr>
      </p:sp>
      <p:sp>
        <p:nvSpPr>
          <p:cNvPr id="53" name="Shape 50"/>
          <p:cNvSpPr/>
          <p:nvPr/>
        </p:nvSpPr>
        <p:spPr>
          <a:xfrm>
            <a:off x="7955280" y="5660136"/>
            <a:ext cx="742045" cy="292608"/>
          </a:xfrm>
          <a:prstGeom prst="roundRect">
            <a:avLst>
              <a:gd name="adj" fmla="val 15625"/>
            </a:avLst>
          </a:prstGeom>
          <a:solidFill>
            <a:srgbClr val="C9922B"/>
          </a:solidFill>
          <a:ln/>
        </p:spPr>
      </p:sp>
      <p:sp>
        <p:nvSpPr>
          <p:cNvPr id="54" name="Text 51"/>
          <p:cNvSpPr/>
          <p:nvPr/>
        </p:nvSpPr>
        <p:spPr>
          <a:xfrm>
            <a:off x="8028432" y="56601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usado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099048" y="5989320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1.340,7 kVA disponibles</a:t>
            </a:r>
            <a:pPr indent="0" marL="0">
              <a:buNone/>
            </a:pPr>
            <a:r>
              <a:rPr lang="en-US" sz="930" dirty="0">
                <a:solidFill>
                  <a:srgbClr val="9B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 2.500 kVA (demanda 1.159,3 kVA)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TENDIDO Y CONEXIONADO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Electricidad — Volumen de cables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70408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276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Metros de cable a tender, por tipo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201168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417320"/>
            <a:ext cx="3867912" cy="128016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92440" y="1572768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 cables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92440" y="20116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81.231 metros totales a tender y conectar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2834640"/>
            <a:ext cx="3867912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74152" y="2999232"/>
            <a:ext cx="335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por tipo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74152" y="3310128"/>
          <a:ext cx="3355848" cy="2651760"/>
        </p:xfrm>
        <a:graphic>
          <a:graphicData uri="http://schemas.openxmlformats.org/drawingml/2006/table">
            <a:tbl>
              <a:tblPr/>
              <a:tblGrid>
                <a:gridCol w="1879275"/>
                <a:gridCol w="671170"/>
                <a:gridCol w="805404"/>
              </a:tblGrid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MT (6,6/13,2 kV)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BT ≥35 mm²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17.470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 BT med./peq.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33.125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y señales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28.126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Fibra óptica (red PMS SE#3↔SE#4)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8074152" y="6053328"/>
            <a:ext cx="3355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Conexionado: ≈5.178 puntas (terminales MT/BT + peinado y prueba de cables de control)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· PCS/SCADA · HIMA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 sistemas de control y seguridad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09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· PMS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209397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— Gestión de energía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800xA / controladores AC800M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#1/#2 existentes + #3/#4 nuevas (ampliación)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Deslastre de cargas, lógicas DAG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IEC 61850 y PROFINET redundantes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52544" y="1508760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1709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1144" y="209397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PCS / SCADA — Control de proceso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81144" y="26243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Rockwell ControlLogix 1756, backbone Stratix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remotas nuevas (7A + 7B) en Sala INS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Supervisión, adquisición de datos y control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Inauco hasta entrega; SAT en campo por AESA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202168" y="1508760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170992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17099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 · SIS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30768" y="2093976"/>
            <a:ext cx="3026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 — Seguridad de proceso (ESD/F&amp;G/PSS)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30768" y="2624328"/>
            <a:ext cx="3026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Planar4 existente, sin cambios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I/O en Shelter 7 (ampliación)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al SCADA de seguridad de Inauco</a:t>
            </a:r>
            <a:endParaRPr lang="en-US" sz="1030" dirty="0"/>
          </a:p>
          <a:p>
            <a:pPr marL="152400" indent="-152400">
              <a:lnSpc>
                <a:spcPct val="122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tableros marshalling — alcance AESA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3986784" y="2697480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849624" y="2313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redundante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7836408" y="2697480"/>
            <a:ext cx="365760" cy="0"/>
          </a:xfrm>
          <a:prstGeom prst="line">
            <a:avLst/>
          </a:prstGeom>
          <a:noFill/>
          <a:ln w="22225">
            <a:solidFill>
              <a:srgbClr val="5C6B7A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699248" y="2313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SIS ↔ SCADA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02920" y="420624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37083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y HIMA son AMPLIACIONES de sistemas ya instalados en CPF-1 / CPF-1.5 — no son sistemas nuevos.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22960" y="4828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ABB: arquitectura existente + expansión a Salas #3/#4 (Anexo III Expansión CPF2-F4). SIS HIMA: mismo Planar4, se agrega I/O de Shelter 7. Referencias: ACAL-100-PL-K-100 Rev 11 (PCS) · ACAL-100-PL-K-551 Rev A (SIS).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AESA / PPSA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Instrumentación — cantidad y origen de provisión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0350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Instrumentos a instalar por origen — 2.798 total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1965960"/>
          <a:ext cx="3291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2.798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89120" y="2185416"/>
            <a:ext cx="146304" cy="14630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21488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AESA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17720" y="24597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897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89120" y="3008376"/>
            <a:ext cx="146304" cy="146304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29718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Paquete/PPSA — montaje AESA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17720" y="32826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389120" y="3831336"/>
            <a:ext cx="146304" cy="146304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17" name="Text 14"/>
          <p:cNvSpPr/>
          <p:nvPr/>
        </p:nvSpPr>
        <p:spPr>
          <a:xfrm>
            <a:off x="4617720" y="37947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Paquete/PPSA — premontado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17720" y="410565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1628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389120" y="4654296"/>
            <a:ext cx="146304" cy="14630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0" name="Text 17"/>
          <p:cNvSpPr/>
          <p:nvPr/>
        </p:nvSpPr>
        <p:spPr>
          <a:xfrm>
            <a:off x="4617720" y="4617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Existentes (a definir)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17720" y="49286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" y="5806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 a cargo de AESA: ≈1.163 instrumentos (897 compra directa + 266 de equipos paquete)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766560" y="1417320"/>
            <a:ext cx="4919472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040880" y="160020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885 cables · 65.315 m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040880" y="2057400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comprar para instrumentación · 15.752 puntas de conexión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0" y="3017520"/>
            <a:ext cx="491947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40880" y="320040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Cajas de interconexionado (JB) — ≈80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040880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8275320" y="3703320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30" name="Shape 27"/>
          <p:cNvSpPr/>
          <p:nvPr/>
        </p:nvSpPr>
        <p:spPr>
          <a:xfrm>
            <a:off x="8275320" y="3703320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11183112" y="3630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04088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275320" y="4142232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34" name="Shape 31"/>
          <p:cNvSpPr/>
          <p:nvPr/>
        </p:nvSpPr>
        <p:spPr>
          <a:xfrm>
            <a:off x="8275320" y="4142232"/>
            <a:ext cx="1931670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5" name="Text 32"/>
          <p:cNvSpPr/>
          <p:nvPr/>
        </p:nvSpPr>
        <p:spPr>
          <a:xfrm>
            <a:off x="11183112" y="4069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040880" y="4535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F&amp;G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275320" y="4581144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38" name="Shape 35"/>
          <p:cNvSpPr/>
          <p:nvPr/>
        </p:nvSpPr>
        <p:spPr>
          <a:xfrm>
            <a:off x="8275320" y="4581144"/>
            <a:ext cx="2124837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9" name="Text 36"/>
          <p:cNvSpPr/>
          <p:nvPr/>
        </p:nvSpPr>
        <p:spPr>
          <a:xfrm>
            <a:off x="11183112" y="45079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7040880" y="4974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275320" y="5020056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42" name="Shape 39"/>
          <p:cNvSpPr/>
          <p:nvPr/>
        </p:nvSpPr>
        <p:spPr>
          <a:xfrm>
            <a:off x="8275320" y="5020056"/>
            <a:ext cx="386334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43" name="Text 40"/>
          <p:cNvSpPr/>
          <p:nvPr/>
        </p:nvSpPr>
        <p:spPr>
          <a:xfrm>
            <a:off x="11183112" y="49469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040880" y="5413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 / otras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8275320" y="5458968"/>
            <a:ext cx="3090672" cy="182880"/>
          </a:xfrm>
          <a:prstGeom prst="roundRect">
            <a:avLst>
              <a:gd name="adj" fmla="val 15000"/>
            </a:avLst>
          </a:prstGeom>
          <a:solidFill>
            <a:srgbClr val="F5F7FA"/>
          </a:solidFill>
          <a:ln/>
        </p:spPr>
      </p:sp>
      <p:sp>
        <p:nvSpPr>
          <p:cNvPr id="46" name="Shape 43"/>
          <p:cNvSpPr/>
          <p:nvPr/>
        </p:nvSpPr>
        <p:spPr>
          <a:xfrm>
            <a:off x="8275320" y="5458968"/>
            <a:ext cx="193167" cy="18288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47" name="Text 44"/>
          <p:cNvSpPr/>
          <p:nvPr/>
        </p:nvSpPr>
        <p:spPr>
          <a:xfrm>
            <a:off x="11183112" y="5385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7040880" y="589788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fundición aluminio IP66, canalizaciones troncales relevadas a la fecha; el cómputo podrá ampliarse en próximas revisiones.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ESPECIAL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HIMA — ampliación y provisión contractual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37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PPSA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y software HIMA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HIMA Planar4 (existente) — hardware y software provistos por PPSA (Pluspetrol)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racks de I/O nuevos — ESD / PSS / USS (Shelter 7), marcados como Provisión PP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 de un sistema YA INSTALADO, no un sistema nuevo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463040"/>
            <a:ext cx="5431536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28816" y="173736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17373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CONTRACTUAL AESA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176272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tableros de marshalling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28816" y="2633472"/>
            <a:ext cx="4882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 / F&amp;G (1) + PSS 07A (1) + PSS 07B (1) — único alcance contractual de AESA respecto de HIMA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Montaje, conexionado e integración en campo de los tableros</a:t>
            </a:r>
            <a:endParaRPr lang="en-US" sz="12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HIMA para FAT / SAT / iFAT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BF3E3"/>
          </a:solidFill>
          <a:ln w="12700">
            <a:solidFill>
              <a:srgbClr val="C9922B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A64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atención — reajuste de hardware y software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" y="527608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6B4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lo informado por el equipo de proyecto, la re-adecuación del proyecto no incorporó en su alcance original el reajuste de hardware y software de HIMA. Como consecuencia, AESA debe reajustar el hardware y software del sistema para la ampliación. (Nota de alcance del equipo de proyecto — a validar contractualmente contra el pliego vigente.)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PROVISIÓN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integrado — convergencia hacia el RFSU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CPF2 La Calera II · Vaca Muerta · Rev. 2 · 13-Ago-2026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965960" y="2432304"/>
            <a:ext cx="9720072" cy="713232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6" name="Shape 4"/>
          <p:cNvSpPr/>
          <p:nvPr/>
        </p:nvSpPr>
        <p:spPr>
          <a:xfrm>
            <a:off x="1965960" y="4041648"/>
            <a:ext cx="9720072" cy="713232"/>
          </a:xfrm>
          <a:prstGeom prst="rect">
            <a:avLst/>
          </a:prstGeom>
          <a:solidFill>
            <a:srgbClr val="EDF1F6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80969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5978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0987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25996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1005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56014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1023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86032" y="1627632"/>
            <a:ext cx="914" cy="411480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80969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95978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10987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25996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1005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6014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71023" y="1298448"/>
            <a:ext cx="12150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627632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Salas Eléctricas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243230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23697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/ SCADA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04164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/ EPC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16466" y="1847088"/>
            <a:ext cx="1944014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60481" y="1847088"/>
            <a:ext cx="1944014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1" name="Shape 29"/>
          <p:cNvSpPr/>
          <p:nvPr/>
        </p:nvSpPr>
        <p:spPr>
          <a:xfrm>
            <a:off x="6704495" y="1847088"/>
            <a:ext cx="729005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2" name="Shape 30"/>
          <p:cNvSpPr/>
          <p:nvPr/>
        </p:nvSpPr>
        <p:spPr>
          <a:xfrm>
            <a:off x="7314629" y="1865376"/>
            <a:ext cx="237744" cy="237744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7661" y="2130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S#3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14-May-27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16466" y="2651760"/>
            <a:ext cx="2673020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9486" y="2651760"/>
            <a:ext cx="1215009" cy="274320"/>
          </a:xfrm>
          <a:prstGeom prst="roundRect">
            <a:avLst>
              <a:gd name="adj" fmla="val 13333"/>
            </a:avLst>
          </a:prstGeom>
          <a:solidFill>
            <a:srgbClr val="C62828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5623" y="2670048"/>
            <a:ext cx="237744" cy="237744"/>
          </a:xfrm>
          <a:prstGeom prst="diamond">
            <a:avLst/>
          </a:prstGeom>
          <a:solidFill>
            <a:srgbClr val="C628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98655" y="2935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Integral PMS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31-Mar-27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59468" y="3456432"/>
            <a:ext cx="3280524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39" name="Shape 37"/>
          <p:cNvSpPr/>
          <p:nvPr/>
        </p:nvSpPr>
        <p:spPr>
          <a:xfrm>
            <a:off x="6704495" y="3456432"/>
            <a:ext cx="486004" cy="27432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40" name="Shape 38"/>
          <p:cNvSpPr/>
          <p:nvPr/>
        </p:nvSpPr>
        <p:spPr>
          <a:xfrm>
            <a:off x="7190499" y="3456432"/>
            <a:ext cx="2430018" cy="274320"/>
          </a:xfrm>
          <a:prstGeom prst="roundRect">
            <a:avLst>
              <a:gd name="adj" fmla="val 13333"/>
            </a:avLst>
          </a:prstGeom>
          <a:solidFill>
            <a:srgbClr val="1565C0">
              <a:alpha val="5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071627" y="3474720"/>
            <a:ext cx="237744" cy="237744"/>
          </a:xfrm>
          <a:prstGeom prst="diamond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4659" y="3739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FAT integral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04-May-27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59468" y="4261104"/>
            <a:ext cx="2308517" cy="27432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44" name="Shape 42"/>
          <p:cNvSpPr/>
          <p:nvPr/>
        </p:nvSpPr>
        <p:spPr>
          <a:xfrm>
            <a:off x="5249113" y="4279392"/>
            <a:ext cx="237744" cy="237744"/>
          </a:xfrm>
          <a:prstGeom prst="diamond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2145" y="4544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tablero</a:t>
            </a:r>
            <a:endParaRPr lang="en-US" sz="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25-Dic-26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67985" y="4261104"/>
            <a:ext cx="607504" cy="274320"/>
          </a:xfrm>
          <a:prstGeom prst="roundRect">
            <a:avLst>
              <a:gd name="adj" fmla="val 13333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704495" y="4261104"/>
            <a:ext cx="486004" cy="27432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48" name="Shape 46"/>
          <p:cNvSpPr/>
          <p:nvPr/>
        </p:nvSpPr>
        <p:spPr>
          <a:xfrm>
            <a:off x="7190499" y="4261104"/>
            <a:ext cx="2430018" cy="274320"/>
          </a:xfrm>
          <a:prstGeom prst="roundRect">
            <a:avLst>
              <a:gd name="adj" fmla="val 13333"/>
            </a:avLst>
          </a:prstGeom>
          <a:solidFill>
            <a:srgbClr val="6A1B9A">
              <a:alpha val="5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190499" y="5065776"/>
            <a:ext cx="4009530" cy="274320"/>
          </a:xfrm>
          <a:prstGeom prst="roundRect">
            <a:avLst>
              <a:gd name="adj" fmla="val 13333"/>
            </a:avLst>
          </a:prstGeom>
          <a:solidFill>
            <a:srgbClr val="2E7D32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43634" y="5084064"/>
            <a:ext cx="237744" cy="237744"/>
          </a:xfrm>
          <a:prstGeom prst="diamond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11262" y="5074920"/>
            <a:ext cx="256032" cy="256032"/>
          </a:xfrm>
          <a:prstGeom prst="star5">
            <a:avLst/>
          </a:prstGeom>
          <a:solidFill>
            <a:srgbClr val="C992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87718" y="535838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RFSU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31-Ene-28</a:t>
            </a:r>
            <a:endParaRPr lang="en-US" sz="830" dirty="0"/>
          </a:p>
        </p:txBody>
      </p:sp>
      <p:sp>
        <p:nvSpPr>
          <p:cNvPr id="53" name="Text 51"/>
          <p:cNvSpPr/>
          <p:nvPr/>
        </p:nvSpPr>
        <p:spPr>
          <a:xfrm>
            <a:off x="6973786" y="4480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iFAT — Integración total</a:t>
            </a:r>
            <a:endParaRPr lang="en-US" sz="8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25-Jun → 14-Jul-27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7433501" y="1984248"/>
            <a:ext cx="729005" cy="3191256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704495" y="2788920"/>
            <a:ext cx="1458011" cy="2386584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190499" y="3593592"/>
            <a:ext cx="972007" cy="1581912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190499" y="4398264"/>
            <a:ext cx="972007" cy="777240"/>
          </a:xfrm>
          <a:prstGeom prst="line">
            <a:avLst/>
          </a:prstGeom>
          <a:noFill/>
          <a:ln w="15875">
            <a:solidFill>
              <a:srgbClr val="9AA7B8"/>
            </a:solidFill>
            <a:prstDash val="dash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02920" y="601675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59" name="Text 57"/>
          <p:cNvSpPr/>
          <p:nvPr/>
        </p:nvSpPr>
        <p:spPr>
          <a:xfrm>
            <a:off x="6858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874520" y="6016752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1" name="Text 59"/>
          <p:cNvSpPr/>
          <p:nvPr/>
        </p:nvSpPr>
        <p:spPr>
          <a:xfrm>
            <a:off x="20574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INAUCO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246120" y="6016752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63" name="Text 61"/>
          <p:cNvSpPr/>
          <p:nvPr/>
        </p:nvSpPr>
        <p:spPr>
          <a:xfrm>
            <a:off x="34290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617720" y="6016752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5" name="Text 63"/>
          <p:cNvSpPr/>
          <p:nvPr/>
        </p:nvSpPr>
        <p:spPr>
          <a:xfrm>
            <a:off x="4800600" y="5943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AESA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394960" y="5989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de referencia según Cronograma Integrado CPF2 Rev2 (06-08-2026), sujetas a OC y freezing points.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2026-08-13T14:32:05Z</dcterms:created>
  <dcterms:modified xsi:type="dcterms:W3CDTF">2026-08-13T14:32:05Z</dcterms:modified>
</cp:coreProperties>
</file>