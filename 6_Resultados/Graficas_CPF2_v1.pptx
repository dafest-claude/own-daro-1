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grafica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GRÁFICO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Cableado y Arquitecturas de Sistemas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772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0" y="5495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1 · 14-Ago-2026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grafica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4360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4360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4360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436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— SE#3 y SE#4 (modelo 3D)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graficas/assets/sala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0"/>
            <a:ext cx="5308092" cy="26802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423160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4" name="Image 2" descr="/tmp/claude-0/-home-user-OWN-Daro-1/a5c78a85-7f37-586c-8f2d-662506f55282/scratchpad/graficas/assets/sala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554480"/>
            <a:ext cx="5308092" cy="268029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14516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1"/>
          <p:cNvSpPr/>
          <p:nvPr/>
        </p:nvSpPr>
        <p:spPr>
          <a:xfrm>
            <a:off x="6414516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151876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4600533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8580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4899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56844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0"/>
          <p:cNvSpPr/>
          <p:nvPr/>
        </p:nvSpPr>
        <p:spPr>
          <a:xfrm>
            <a:off x="353187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353187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19506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1451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4"/>
          <p:cNvSpPr/>
          <p:nvPr/>
        </p:nvSpPr>
        <p:spPr>
          <a:xfrm>
            <a:off x="637794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637794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BT/CCM (SE#3) + celdas MT (SE#4)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04113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6058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28"/>
          <p:cNvSpPr/>
          <p:nvPr/>
        </p:nvSpPr>
        <p:spPr>
          <a:xfrm>
            <a:off x="922401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· 16.200 kVA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922401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Transformadores de potencia totales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(fuera de las salas)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 de cables y bandejas portacables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81328"/>
            <a:ext cx="534924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6642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Volumen de cables a tender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16712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1671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48840" y="20939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513 cables · 81.231 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" y="25328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MT/BT, control y señales, fibra óptica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77240" y="28986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8986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48840" y="28254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885 cables · 65.315 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32644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PCS/SIS/F&amp;G — pares, multipares y fibra óptica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77240" y="3630168"/>
            <a:ext cx="480060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813048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3931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1.398 cables · 146.546 m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960120" y="43159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 combinado Electricidad + Instrumentación a tender y conectar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" y="49103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Puntas de conexión: ≈5.178 (EL) + 15.752 (IN) ≈ 20.930 en total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26480" y="1481328"/>
            <a:ext cx="5559552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0" y="166420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Bandejas portacables y canalizaciones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0" y="191109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Cantidades consolidadas — pliego E&amp;I (LM-E-0018 / LM-K-0002)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937260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(LM-E-0018)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56132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(LM-K-0002)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00800" y="2350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Bandeja tipo escalera (tramos de 6 m)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372600" y="2404872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9372600" y="2404872"/>
            <a:ext cx="184441" cy="118872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31" name="Text 28"/>
          <p:cNvSpPr/>
          <p:nvPr/>
        </p:nvSpPr>
        <p:spPr>
          <a:xfrm>
            <a:off x="9372600" y="2542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827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10561320" y="2404872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61320" y="2404872"/>
            <a:ext cx="177750" cy="118872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34" name="Text 31"/>
          <p:cNvSpPr/>
          <p:nvPr/>
        </p:nvSpPr>
        <p:spPr>
          <a:xfrm>
            <a:off x="10561320" y="25420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797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40080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Curvas y accesorios (horiz./vert./tees)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372600" y="2935224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37" name="Shape 34"/>
          <p:cNvSpPr/>
          <p:nvPr/>
        </p:nvSpPr>
        <p:spPr>
          <a:xfrm>
            <a:off x="9372600" y="2935224"/>
            <a:ext cx="54864" cy="118872"/>
          </a:xfrm>
          <a:prstGeom prst="roundRect">
            <a:avLst>
              <a:gd name="adj" fmla="val 33333"/>
            </a:avLst>
          </a:prstGeom>
          <a:solidFill>
            <a:srgbClr val="C62828"/>
          </a:solidFill>
          <a:ln/>
        </p:spPr>
      </p:sp>
      <p:sp>
        <p:nvSpPr>
          <p:cNvPr id="38" name="Text 35"/>
          <p:cNvSpPr/>
          <p:nvPr/>
        </p:nvSpPr>
        <p:spPr>
          <a:xfrm>
            <a:off x="9372600" y="30723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227</a:t>
            </a:r>
            <a:endParaRPr lang="en-US" sz="830" dirty="0"/>
          </a:p>
        </p:txBody>
      </p:sp>
      <p:sp>
        <p:nvSpPr>
          <p:cNvPr id="39" name="Shape 36"/>
          <p:cNvSpPr/>
          <p:nvPr/>
        </p:nvSpPr>
        <p:spPr>
          <a:xfrm>
            <a:off x="10561320" y="2935224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40" name="Shape 37"/>
          <p:cNvSpPr/>
          <p:nvPr/>
        </p:nvSpPr>
        <p:spPr>
          <a:xfrm>
            <a:off x="10561320" y="2935224"/>
            <a:ext cx="54864" cy="118872"/>
          </a:xfrm>
          <a:prstGeom prst="roundRect">
            <a:avLst>
              <a:gd name="adj" fmla="val 33333"/>
            </a:avLst>
          </a:prstGeom>
          <a:solidFill>
            <a:srgbClr val="1565C0"/>
          </a:solidFill>
          <a:ln/>
        </p:spPr>
      </p:sp>
      <p:sp>
        <p:nvSpPr>
          <p:cNvPr id="41" name="Text 38"/>
          <p:cNvSpPr/>
          <p:nvPr/>
        </p:nvSpPr>
        <p:spPr>
          <a:xfrm>
            <a:off x="10561320" y="30723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219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6400800" y="34107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Tapas de bandeja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9372600" y="3465576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44" name="Shape 41"/>
          <p:cNvSpPr/>
          <p:nvPr/>
        </p:nvSpPr>
        <p:spPr>
          <a:xfrm>
            <a:off x="9372600" y="3465576"/>
            <a:ext cx="253133" cy="118872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45" name="Text 42"/>
          <p:cNvSpPr/>
          <p:nvPr/>
        </p:nvSpPr>
        <p:spPr>
          <a:xfrm>
            <a:off x="9372600" y="36027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1.135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10561320" y="3465576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47" name="Shape 44"/>
          <p:cNvSpPr/>
          <p:nvPr/>
        </p:nvSpPr>
        <p:spPr>
          <a:xfrm>
            <a:off x="10561320" y="3465576"/>
            <a:ext cx="402782" cy="118872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48" name="Text 45"/>
          <p:cNvSpPr/>
          <p:nvPr/>
        </p:nvSpPr>
        <p:spPr>
          <a:xfrm>
            <a:off x="10561320" y="36027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1.806</a:t>
            </a:r>
            <a:endParaRPr lang="en-US" sz="830" dirty="0"/>
          </a:p>
        </p:txBody>
      </p:sp>
      <p:sp>
        <p:nvSpPr>
          <p:cNvPr id="49" name="Text 46"/>
          <p:cNvSpPr/>
          <p:nvPr/>
        </p:nvSpPr>
        <p:spPr>
          <a:xfrm>
            <a:off x="6400800" y="394106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Fijaciones (grapas + cuplas)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372600" y="3995928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F5F7FA"/>
          </a:solidFill>
          <a:ln/>
        </p:spPr>
      </p:sp>
      <p:sp>
        <p:nvSpPr>
          <p:cNvPr id="51" name="Shape 48"/>
          <p:cNvSpPr/>
          <p:nvPr/>
        </p:nvSpPr>
        <p:spPr>
          <a:xfrm>
            <a:off x="9372600" y="3995928"/>
            <a:ext cx="1005840" cy="118872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52" name="Text 49"/>
          <p:cNvSpPr/>
          <p:nvPr/>
        </p:nvSpPr>
        <p:spPr>
          <a:xfrm>
            <a:off x="9372600" y="41330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4.510</a:t>
            </a:r>
            <a:endParaRPr lang="en-US" sz="830" dirty="0"/>
          </a:p>
        </p:txBody>
      </p:sp>
      <p:sp>
        <p:nvSpPr>
          <p:cNvPr id="53" name="Text 50"/>
          <p:cNvSpPr/>
          <p:nvPr/>
        </p:nvSpPr>
        <p:spPr>
          <a:xfrm>
            <a:off x="10561320" y="3995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</a:t>
            </a:r>
            <a:endParaRPr lang="en-US" sz="830" dirty="0"/>
          </a:p>
        </p:txBody>
      </p:sp>
      <p:sp>
        <p:nvSpPr>
          <p:cNvPr id="54" name="Shape 51"/>
          <p:cNvSpPr/>
          <p:nvPr/>
        </p:nvSpPr>
        <p:spPr>
          <a:xfrm>
            <a:off x="6400800" y="4562856"/>
            <a:ext cx="501091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583680" y="4672584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1.624 tramos de bandeja escalera</a:t>
            </a:r>
            <a:endParaRPr lang="en-US" sz="1550" dirty="0"/>
          </a:p>
        </p:txBody>
      </p:sp>
      <p:sp>
        <p:nvSpPr>
          <p:cNvPr id="56" name="Text 53"/>
          <p:cNvSpPr/>
          <p:nvPr/>
        </p:nvSpPr>
        <p:spPr>
          <a:xfrm>
            <a:off x="6583680" y="5020056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827 (EL) + 797 (IN) — más 1.575 m de conduit RMC/PVC (EL)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Arquitecturas de sistemas — PMS · PCS/SCADA · PSS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1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4592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" y="18836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" y="2304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952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 Management System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8952" y="31821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800xA / controladores AC800M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#1/#2 existentes + #3/#4 nuevas — ampliación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Comunica 28 tableros (25 celdas MT + 3 CCM) vía IEC 61850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Deslastre de cargas y lógicas DAG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52544" y="164592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8576" y="18836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4608576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08576" y="2304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608576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 de proceso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08576" y="31821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 · backbone Stratix 5800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remotas nuevas 7A/7B — 330 señales I/O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skids de equipos paquete vía Modbus (≈500 var.)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Supervisión, adquisición de datos y control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02168" y="1645920"/>
            <a:ext cx="3483864" cy="356616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58200" y="1883664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58200" y="23042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PSS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45820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Seguridad de proceso (ESD/F&amp;G/PSS)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58200" y="31821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Planar4 existente — ampliación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Nuevo I/O en Shelter 7 — 887 señales (ESD 243 + PSS 644)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marshalling — alcance contractual AESA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Integrado al SCADA de seguridad de Inauco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986784" y="342900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836408" y="3429000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3803904" y="31181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Modbus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TCP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653528" y="31181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↔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SCADA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02920" y="539496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22960" y="552297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y PSS (HIMA) son ampliaciones de sistemas ya instalados en CPF-1 / CPF-1.5 — no son sistemas nuevos.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22960" y="58521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Fuente: esquema unifilar ACAL-00100-EE-E-0001 · arquitectura de ampliación Inauco OFT-128-008 Rev3 · pliego de subcontratación E&amp;I.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2026-08-14T13:31:00Z</dcterms:created>
  <dcterms:modified xsi:type="dcterms:W3CDTF">2026-08-14T13:31:00Z</dcterms:modified>
</cp:coreProperties>
</file>