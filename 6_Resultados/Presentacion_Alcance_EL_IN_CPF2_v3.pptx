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Potencia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C6B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C45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E5737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Motores</c:v>
                </c:pt>
                <c:pt idx="1">
                  <c:v>Tableros SS.AA. / HVAC</c:v>
                </c:pt>
                <c:pt idx="2">
                  <c:v>Equipos generales (skids)</c:v>
                </c:pt>
                <c:pt idx="3">
                  <c:v>Calentadores eléctricos</c:v>
                </c:pt>
                <c:pt idx="4">
                  <c:v>SAI / UPS</c:v>
                </c:pt>
                <c:pt idx="5">
                  <c:v>Tracing (calefacción)</c:v>
                </c:pt>
                <c:pt idx="6">
                  <c:v>Iluminación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4426.7</c:v>
                </c:pt>
                <c:pt idx="1">
                  <c:v>710</c:v>
                </c:pt>
                <c:pt idx="2">
                  <c:v>508.6</c:v>
                </c:pt>
                <c:pt idx="3">
                  <c:v>260</c:v>
                </c:pt>
                <c:pt idx="4">
                  <c:v>150</c:v>
                </c:pt>
                <c:pt idx="5">
                  <c:v>150</c:v>
                </c:pt>
                <c:pt idx="6">
                  <c:v>120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Potencia MT
6,6/13,2 kV</c:v>
                  </c:pt>
                  <c:pt idx="1">
                    <c:v>Potencia BT
(todas las secciones)</c:v>
                  </c:pt>
                  <c:pt idx="2">
                    <c:v>Control y
señales</c:v>
                  </c:pt>
                  <c:pt idx="3">
                    <c:v>Fibra óptica
red PMS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2110</c:v>
                </c:pt>
                <c:pt idx="1">
                  <c:v>50595</c:v>
                </c:pt>
                <c:pt idx="2">
                  <c:v>28126</c:v>
                </c:pt>
                <c:pt idx="3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Instrumentos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BC98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Compra AESA (contractual)</c:v>
                </c:pt>
                <c:pt idx="1">
                  <c:v>Paquete PPSA — montaje AESA (contractual)</c:v>
                </c:pt>
                <c:pt idx="2">
                  <c:v>Paquete PPSA — premontado (fuera de alcance)</c:v>
                </c:pt>
                <c:pt idx="3">
                  <c:v>Existentes (a definir)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897</c:v>
                </c:pt>
                <c:pt idx="1">
                  <c:v>266</c:v>
                </c:pt>
                <c:pt idx="2">
                  <c:v>1628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3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Pares simples
(1P, analógicos)</c:v>
                  </c:pt>
                  <c:pt idx="1">
                    <c:v>Multipares
(4P–24P)</c:v>
                  </c:pt>
                  <c:pt idx="2">
                    <c:v>Ternas
(1T, 8T)</c:v>
                  </c:pt>
                  <c:pt idx="3">
                    <c:v>Pares dobles
(2P)</c:v>
                  </c:pt>
                  <c:pt idx="4">
                    <c:v>Fibra óptica
/ FTP</c:v>
                  </c:pt>
                  <c:pt idx="5">
                    <c:v>Otras
formaciones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13980</c:v>
                </c:pt>
                <c:pt idx="1">
                  <c:v>24170</c:v>
                </c:pt>
                <c:pt idx="2">
                  <c:v>5155</c:v>
                </c:pt>
                <c:pt idx="3">
                  <c:v>2145</c:v>
                </c:pt>
                <c:pt idx="4">
                  <c:v>3300</c:v>
                </c:pt>
                <c:pt idx="5">
                  <c:v>16565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3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7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GERENCIAL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 Electricidad e Instrumentación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01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 ·  Vaca Muerta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9502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eléctricas ABB · Cargas y cableado MT/BT · Instrumentación AESA/PPSA · Integración PMS – PCS/SCADA – HIMA · Cronograma integrado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601675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601675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6016752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6016752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601675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5989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3 · 13-Ago-2026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FÍSICO E&amp;I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físico de suministro y montaje de Electricidad e Instrumentación, según ingeniería de detalle, esquema unifilar (ACAL-00100-EE-E-0001) y listados de equipos ABB/AESA. Cifras indicativas, en revisión por ingeniería.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831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1907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Salas Eléctricas ABB — potencia instalada y equipamiento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0665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66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SE#3 · BT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74520" y="202996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#3 — Baja Tensión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414016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11.200 kVA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instalados — 6 transformadores exteriores (2×1.600 + 2×2.000 + 2×2.000 kVA)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Equipamiento: 3 CCM (102-CCM-005/006/007) · 2 UPS · ≈9 tableros de distribución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231636" y="20665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231636" y="2066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SE#4 · MT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28916" y="202996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#4 — Media Tensión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31636" y="2414016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kVA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instalados — 2 transformadores TRMT-001 A/B exteriores (2.500 kVA c/u)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231636" y="2743200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Equipamiento: 25 celdas MT (TGMT-001: 15 + TGMT-002: 10) · 1 UPS · ≈4 tableros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094476" y="2029968"/>
            <a:ext cx="0" cy="96926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751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Transformadores de potencia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activos + 4 en reserva · 16.200 kVA instalados (fuera de las salas)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334899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31870" y="3474720"/>
            <a:ext cx="384048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5" name="Text 23"/>
          <p:cNvSpPr/>
          <p:nvPr/>
        </p:nvSpPr>
        <p:spPr>
          <a:xfrm>
            <a:off x="351358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1.500 kW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51358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Motogeneradores G10 / G11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planta de generación (área 670) — Provisión PPSA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19506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7794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635965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35965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eléctricas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motores · 6 variadores · resto instrumentos, SS.AA., iluminación, control y calefacción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904113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2401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920572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513 / 81.231 m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20572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eléctricos a tender y conectar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MT/BT, control y señales, fibra óptica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0292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" y="4937760"/>
            <a:ext cx="384048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2.798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6751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a instalar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 compra AESA · 1.894 vendor/equipos paquete (PPSA) · 7 existentes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334899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531870" y="4937760"/>
            <a:ext cx="384048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351358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885 / 65.315 m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351358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de instrumentación a comprar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15.752 puntas de conexión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19506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77940" y="4937760"/>
            <a:ext cx="384048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5" name="Text 43"/>
          <p:cNvSpPr/>
          <p:nvPr/>
        </p:nvSpPr>
        <p:spPr>
          <a:xfrm>
            <a:off x="635965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80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635965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de interconexionado (JB)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· PSS · F&amp;G · ESD · USS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904113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24010" y="4937760"/>
            <a:ext cx="384048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49" name="Text 47"/>
          <p:cNvSpPr/>
          <p:nvPr/>
        </p:nvSpPr>
        <p:spPr>
          <a:xfrm>
            <a:off x="920572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16.280 kW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920572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total — área 670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motogeneradores (9 existentes + 2 de ampliación)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ABB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Electricidad — Salas eléctricas y cargas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618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184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SE#3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19842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#3 — Baja Tensión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8952" y="23134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11.200 kVA instalados · 6 transformadores exteriores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6060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CCM (102-CCM-005/006/007) — 4.000 A, 65 kA, 380/220 V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UPS doble + bypass (40 kW) y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Rectificador/cargador 110 Vcc (20 kVA) +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VFD — bombas inyección de agua (373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emergencia diesel MAN-90006 (1.250 kW, vía ATS a CCM-006)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41330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41330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SE#4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" y="44988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#4 — Media Tensión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8952" y="48280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kVA instalados · 2 transformadores exteriores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" y="51206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celdas MT — TGMT-001 (15, 13,2 kV) + TGMT-002 (10, 6,6 kV) · 630 A · 25 kA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VFD MT — bombas de condensado (600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UPS + rectificador 110 Vcc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806440" y="1417320"/>
            <a:ext cx="5897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99048" y="157276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 instalada por tipo de carga — SE#3 + SE#4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9048" y="1819656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cargas eléctricas — área 102 (114 equipos)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080760" y="2029968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08076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6.325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080760" y="3447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instalados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8869680" y="2011680"/>
            <a:ext cx="118872" cy="1188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1"/>
          <p:cNvSpPr/>
          <p:nvPr/>
        </p:nvSpPr>
        <p:spPr>
          <a:xfrm>
            <a:off x="9052560" y="1975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10744200" y="1975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4.426,7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8869680" y="2304288"/>
            <a:ext cx="118872" cy="118872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27" name="Text 24"/>
          <p:cNvSpPr/>
          <p:nvPr/>
        </p:nvSpPr>
        <p:spPr>
          <a:xfrm>
            <a:off x="9052560" y="2267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SS.AA. / HVAC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10744200" y="2267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710,0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8869680" y="2596896"/>
            <a:ext cx="118872" cy="1188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7"/>
          <p:cNvSpPr/>
          <p:nvPr/>
        </p:nvSpPr>
        <p:spPr>
          <a:xfrm>
            <a:off x="9052560" y="2560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generales (skids)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10744200" y="2560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508,6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8869680" y="2889504"/>
            <a:ext cx="118872" cy="118872"/>
          </a:xfrm>
          <a:prstGeom prst="rect">
            <a:avLst/>
          </a:prstGeom>
          <a:solidFill>
            <a:srgbClr val="9C4500"/>
          </a:solidFill>
          <a:ln/>
        </p:spPr>
      </p:sp>
      <p:sp>
        <p:nvSpPr>
          <p:cNvPr id="33" name="Text 30"/>
          <p:cNvSpPr/>
          <p:nvPr/>
        </p:nvSpPr>
        <p:spPr>
          <a:xfrm>
            <a:off x="905256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Calentadores eléctricos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10744200" y="28529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260,0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8869680" y="3182112"/>
            <a:ext cx="118872" cy="1188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6" name="Text 33"/>
          <p:cNvSpPr/>
          <p:nvPr/>
        </p:nvSpPr>
        <p:spPr>
          <a:xfrm>
            <a:off x="9052560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/ UPS</a:t>
            </a:r>
            <a:endParaRPr lang="en-US" sz="860" dirty="0"/>
          </a:p>
        </p:txBody>
      </p:sp>
      <p:sp>
        <p:nvSpPr>
          <p:cNvPr id="37" name="Text 34"/>
          <p:cNvSpPr/>
          <p:nvPr/>
        </p:nvSpPr>
        <p:spPr>
          <a:xfrm>
            <a:off x="10744200" y="3145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8869680" y="3474720"/>
            <a:ext cx="118872" cy="11887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39" name="Text 36"/>
          <p:cNvSpPr/>
          <p:nvPr/>
        </p:nvSpPr>
        <p:spPr>
          <a:xfrm>
            <a:off x="9052560" y="34381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(calefacción)</a:t>
            </a:r>
            <a:endParaRPr lang="en-US" sz="860" dirty="0"/>
          </a:p>
        </p:txBody>
      </p:sp>
      <p:sp>
        <p:nvSpPr>
          <p:cNvPr id="40" name="Text 37"/>
          <p:cNvSpPr/>
          <p:nvPr/>
        </p:nvSpPr>
        <p:spPr>
          <a:xfrm>
            <a:off x="10744200" y="34381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8869680" y="3767328"/>
            <a:ext cx="118872" cy="118872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42" name="Text 39"/>
          <p:cNvSpPr/>
          <p:nvPr/>
        </p:nvSpPr>
        <p:spPr>
          <a:xfrm>
            <a:off x="9052560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</a:t>
            </a:r>
            <a:endParaRPr lang="en-US" sz="860" dirty="0"/>
          </a:p>
        </p:txBody>
      </p:sp>
      <p:sp>
        <p:nvSpPr>
          <p:cNvPr id="43" name="Text 40"/>
          <p:cNvSpPr/>
          <p:nvPr/>
        </p:nvSpPr>
        <p:spPr>
          <a:xfrm>
            <a:off x="10744200" y="3730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</a:t>
            </a:r>
            <a:endParaRPr lang="en-US" sz="860" dirty="0"/>
          </a:p>
        </p:txBody>
      </p:sp>
      <p:sp>
        <p:nvSpPr>
          <p:cNvPr id="44" name="Shape 41"/>
          <p:cNvSpPr/>
          <p:nvPr/>
        </p:nvSpPr>
        <p:spPr>
          <a:xfrm>
            <a:off x="5806440" y="4434840"/>
            <a:ext cx="5897880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099048" y="4581144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 disponible por sala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6099048" y="4937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SE#3 · BT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955280" y="499262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</p:sp>
      <p:sp>
        <p:nvSpPr>
          <p:cNvPr id="48" name="Shape 45"/>
          <p:cNvSpPr/>
          <p:nvPr/>
        </p:nvSpPr>
        <p:spPr>
          <a:xfrm>
            <a:off x="7955280" y="4992624"/>
            <a:ext cx="954176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</p:sp>
      <p:sp>
        <p:nvSpPr>
          <p:cNvPr id="49" name="Text 46"/>
          <p:cNvSpPr/>
          <p:nvPr/>
        </p:nvSpPr>
        <p:spPr>
          <a:xfrm>
            <a:off x="8028432" y="49926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usado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099048" y="532180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2.260,8 kVA disponibles</a:t>
            </a:r>
            <a:pPr indent="0" marL="0">
              <a:buNone/>
            </a:pPr>
            <a:r>
              <a:rPr lang="en-US" sz="93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5.600 kVA (demanda 3.339,2 kVA)</a:t>
            </a:r>
            <a:endParaRPr lang="en-US" sz="930" dirty="0"/>
          </a:p>
        </p:txBody>
      </p:sp>
      <p:sp>
        <p:nvSpPr>
          <p:cNvPr id="51" name="Text 48"/>
          <p:cNvSpPr/>
          <p:nvPr/>
        </p:nvSpPr>
        <p:spPr>
          <a:xfrm>
            <a:off x="6099048" y="5605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SE#4 · MT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7955280" y="5660136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</p:sp>
      <p:sp>
        <p:nvSpPr>
          <p:cNvPr id="53" name="Shape 50"/>
          <p:cNvSpPr/>
          <p:nvPr/>
        </p:nvSpPr>
        <p:spPr>
          <a:xfrm>
            <a:off x="7955280" y="5660136"/>
            <a:ext cx="742045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</p:sp>
      <p:sp>
        <p:nvSpPr>
          <p:cNvPr id="54" name="Text 51"/>
          <p:cNvSpPr/>
          <p:nvPr/>
        </p:nvSpPr>
        <p:spPr>
          <a:xfrm>
            <a:off x="8028432" y="5660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usado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099048" y="598932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1.340,7 kVA disponibles</a:t>
            </a:r>
            <a:pPr indent="0" marL="0">
              <a:buNone/>
            </a:pPr>
            <a:r>
              <a:rPr lang="en-US" sz="93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2.500 kVA (demanda 1.159,3 kVA)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TENDIDO Y CONEXIONADO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Electricidad — Volumen de cables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70408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Metros de cable a tender, por tipo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01168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41732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157276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513 cables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92440" y="20116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81.231 metros totales a tender y conectar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2834640"/>
            <a:ext cx="386791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74152" y="299923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por tipo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4152" y="3310128"/>
          <a:ext cx="3355848" cy="2651760"/>
        </p:xfrm>
        <a:graphic>
          <a:graphicData uri="http://schemas.openxmlformats.org/drawingml/2006/table">
            <a:tbl>
              <a:tblPr/>
              <a:tblGrid>
                <a:gridCol w="1879275"/>
                <a:gridCol w="671170"/>
                <a:gridCol w="805404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MT (6,6/13,2 kV)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BT ≥35 mm²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17.470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BT med./peq.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33.125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y señales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28.126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Fibra óptica (red PMS SE#3↔SE#4)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8074152" y="6053328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Conexionado: ≈5.178 puntas (terminales MT/BT + peinado y prueba de cables de control)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ELECTRICIDAD + INSTRUMENTACIÓN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PMS, PCS/SCADA e HIMA — Sistemas integrados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PMS (provisión eléctrica ABB) se integra con los sistemas de control y seguridad de Instrumentación — PCS/SCADA e HIMA — bajo un único esquema de comunicaciones.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PMS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— Gestión de energía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tableros supervisados (25 celdas MT + 3 CCM)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731520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800xA / AC800M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#1/#2 existentes + #3/#4 nuevas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I/O propio — vía IEC 61850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Deslastre de cargas, lógicas DAG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352544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81144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PCS / SCADA — Control de proceso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81144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señales I/O + ≈500 var. equipos paquete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4581144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Rockwell ControlLogix 1756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remotas nuevas: 175 AI · 65 AO · 38 DI · 32 DO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skids de equipos paquete vía Modbus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Inauco hasta entrega; SAT por AESA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202168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30768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 · 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30768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 — Seguridad de proceso (ESD/F&amp;G/PSS)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430768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 señales I/O (ESD 243 + PSS 644)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8430768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Planar4 existente, sin cambios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I/O en Shelter 7 (ampliación)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al SCADA de seguridad de Inauco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marshalling — alcance AESA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3986784" y="2875788"/>
            <a:ext cx="365760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849624" y="24917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redundante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836408" y="2875788"/>
            <a:ext cx="365760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699248" y="24917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SIS ↔ SCADA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02920" y="4407408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4535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y HIMA son AMPLIACIONES de sistemas ya instalados en CPF-1 / CPF-1.5 — no son sistemas nuevos.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2960" y="4901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ABB: arquitectura existente + expansión a Salas #3/#4 (Anexo III Expansión CPF2-F4). SIS HIMA: mismo Planar4, se agrega I/O de Shelter 7. Referencias: ACAL-100-PL-K-100 Rev 11 (PCS) · ACAL-100-PL-K-551 Rev A (SIS).</a:t>
            </a:r>
            <a:endParaRPr lang="en-US" sz="9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AESA / PPSA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Instrumentación — cantidad y tipo de instrumentos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58191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a instalar por origen — 2.798 total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95528" y="1920240"/>
          <a:ext cx="27889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95528" y="28803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2.798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5528" y="32735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94760" y="2002536"/>
            <a:ext cx="128016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3977640" y="1947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AESA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77640" y="22585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94760" y="2715768"/>
            <a:ext cx="128016" cy="128016"/>
          </a:xfrm>
          <a:prstGeom prst="rect">
            <a:avLst/>
          </a:prstGeom>
          <a:solidFill>
            <a:srgbClr val="8BC98F"/>
          </a:solidFill>
          <a:ln/>
        </p:spPr>
      </p:sp>
      <p:sp>
        <p:nvSpPr>
          <p:cNvPr id="14" name="Text 11"/>
          <p:cNvSpPr/>
          <p:nvPr/>
        </p:nvSpPr>
        <p:spPr>
          <a:xfrm>
            <a:off x="3977640" y="2660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PPSA — montaje AESA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977640" y="29718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794760" y="3429000"/>
            <a:ext cx="128016" cy="12801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Text 14"/>
          <p:cNvSpPr/>
          <p:nvPr/>
        </p:nvSpPr>
        <p:spPr>
          <a:xfrm>
            <a:off x="3977640" y="33741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PPSA — premontado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36850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1628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794760" y="4142232"/>
            <a:ext cx="128016" cy="128016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0" name="Text 17"/>
          <p:cNvSpPr/>
          <p:nvPr/>
        </p:nvSpPr>
        <p:spPr>
          <a:xfrm>
            <a:off x="3977640" y="4087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Existentes (a definir)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977640" y="43982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95528" y="4846320"/>
            <a:ext cx="4764024" cy="566928"/>
          </a:xfrm>
          <a:prstGeom prst="roundRect">
            <a:avLst>
              <a:gd name="adj" fmla="val 9677"/>
            </a:avLst>
          </a:prstGeom>
          <a:solidFill>
            <a:srgbClr val="E8F3E9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48463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1.163 instrumentos </a:t>
            </a:r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alcance contractual AESA (897 compra + 266 montaje s/equipo paquete)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795528" y="5486400"/>
            <a:ext cx="4764024" cy="566928"/>
          </a:xfrm>
          <a:prstGeom prst="roundRect">
            <a:avLst>
              <a:gd name="adj" fmla="val 9677"/>
            </a:avLst>
          </a:prstGeom>
          <a:solidFill>
            <a:srgbClr val="EEF0F2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54864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1.635 instrumentos </a:t>
            </a:r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provisión y montaje PPSA/vendor (fuera de alcance AESA)</a:t>
            </a:r>
            <a:endParaRPr lang="en-US" sz="970" dirty="0"/>
          </a:p>
        </p:txBody>
      </p:sp>
      <p:sp>
        <p:nvSpPr>
          <p:cNvPr id="26" name="Shape 23"/>
          <p:cNvSpPr/>
          <p:nvPr/>
        </p:nvSpPr>
        <p:spPr>
          <a:xfrm>
            <a:off x="6080760" y="1417320"/>
            <a:ext cx="560527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73368" y="1581912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tipos de instrumentos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373368" y="1819656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por cantidad, sobre 2.798 totales (pliego E&amp;I, Anexo I)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73368" y="21579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— Manómetro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8778240" y="2194560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31" name="Shape 28"/>
          <p:cNvSpPr/>
          <p:nvPr/>
        </p:nvSpPr>
        <p:spPr>
          <a:xfrm>
            <a:off x="8778240" y="2194560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32" name="Text 29"/>
          <p:cNvSpPr/>
          <p:nvPr/>
        </p:nvSpPr>
        <p:spPr>
          <a:xfrm>
            <a:off x="11183112" y="21396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930" dirty="0"/>
          </a:p>
        </p:txBody>
      </p:sp>
      <p:sp>
        <p:nvSpPr>
          <p:cNvPr id="33" name="Text 30"/>
          <p:cNvSpPr/>
          <p:nvPr/>
        </p:nvSpPr>
        <p:spPr>
          <a:xfrm>
            <a:off x="6373368" y="24643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— Termovaina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8778240" y="2500884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35" name="Shape 32"/>
          <p:cNvSpPr/>
          <p:nvPr/>
        </p:nvSpPr>
        <p:spPr>
          <a:xfrm>
            <a:off x="8778240" y="2500884"/>
            <a:ext cx="1938188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36" name="Text 33"/>
          <p:cNvSpPr/>
          <p:nvPr/>
        </p:nvSpPr>
        <p:spPr>
          <a:xfrm>
            <a:off x="11183112" y="24460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</a:t>
            </a:r>
            <a:endParaRPr lang="en-US" sz="930" dirty="0"/>
          </a:p>
        </p:txBody>
      </p:sp>
      <p:sp>
        <p:nvSpPr>
          <p:cNvPr id="37" name="Text 34"/>
          <p:cNvSpPr/>
          <p:nvPr/>
        </p:nvSpPr>
        <p:spPr>
          <a:xfrm>
            <a:off x="6373368" y="27706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— Sensor de temperatura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8778240" y="2807208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39" name="Shape 36"/>
          <p:cNvSpPr/>
          <p:nvPr/>
        </p:nvSpPr>
        <p:spPr>
          <a:xfrm>
            <a:off x="8778240" y="2807208"/>
            <a:ext cx="1561075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40" name="Text 37"/>
          <p:cNvSpPr/>
          <p:nvPr/>
        </p:nvSpPr>
        <p:spPr>
          <a:xfrm>
            <a:off x="11183112" y="27523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930" dirty="0"/>
          </a:p>
        </p:txBody>
      </p:sp>
      <p:sp>
        <p:nvSpPr>
          <p:cNvPr id="41" name="Text 38"/>
          <p:cNvSpPr/>
          <p:nvPr/>
        </p:nvSpPr>
        <p:spPr>
          <a:xfrm>
            <a:off x="6373368" y="30769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PSV — Válvula de seguridad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8778240" y="3113532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43" name="Shape 40"/>
          <p:cNvSpPr/>
          <p:nvPr/>
        </p:nvSpPr>
        <p:spPr>
          <a:xfrm>
            <a:off x="8778240" y="3113532"/>
            <a:ext cx="1420753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44" name="Text 41"/>
          <p:cNvSpPr/>
          <p:nvPr/>
        </p:nvSpPr>
        <p:spPr>
          <a:xfrm>
            <a:off x="11183112" y="30586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930" dirty="0"/>
          </a:p>
        </p:txBody>
      </p:sp>
      <p:sp>
        <p:nvSpPr>
          <p:cNvPr id="45" name="Text 42"/>
          <p:cNvSpPr/>
          <p:nvPr/>
        </p:nvSpPr>
        <p:spPr>
          <a:xfrm>
            <a:off x="6373368" y="33832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— Transmisor de presión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8778240" y="3419856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47" name="Shape 44"/>
          <p:cNvSpPr/>
          <p:nvPr/>
        </p:nvSpPr>
        <p:spPr>
          <a:xfrm>
            <a:off x="8778240" y="3419856"/>
            <a:ext cx="1403213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48" name="Text 45"/>
          <p:cNvSpPr/>
          <p:nvPr/>
        </p:nvSpPr>
        <p:spPr>
          <a:xfrm>
            <a:off x="11183112" y="33649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930" dirty="0"/>
          </a:p>
        </p:txBody>
      </p:sp>
      <p:sp>
        <p:nvSpPr>
          <p:cNvPr id="49" name="Text 46"/>
          <p:cNvSpPr/>
          <p:nvPr/>
        </p:nvSpPr>
        <p:spPr>
          <a:xfrm>
            <a:off x="6373368" y="36896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— Orificio de restricción</a:t>
            </a:r>
            <a:endParaRPr lang="en-US" sz="930" dirty="0"/>
          </a:p>
        </p:txBody>
      </p:sp>
      <p:sp>
        <p:nvSpPr>
          <p:cNvPr id="50" name="Shape 47"/>
          <p:cNvSpPr/>
          <p:nvPr/>
        </p:nvSpPr>
        <p:spPr>
          <a:xfrm>
            <a:off x="8778240" y="3726180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51" name="Shape 48"/>
          <p:cNvSpPr/>
          <p:nvPr/>
        </p:nvSpPr>
        <p:spPr>
          <a:xfrm>
            <a:off x="8778240" y="3726180"/>
            <a:ext cx="1113800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52" name="Text 49"/>
          <p:cNvSpPr/>
          <p:nvPr/>
        </p:nvSpPr>
        <p:spPr>
          <a:xfrm>
            <a:off x="11183112" y="36713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930" dirty="0"/>
          </a:p>
        </p:txBody>
      </p:sp>
      <p:sp>
        <p:nvSpPr>
          <p:cNvPr id="53" name="Text 50"/>
          <p:cNvSpPr/>
          <p:nvPr/>
        </p:nvSpPr>
        <p:spPr>
          <a:xfrm>
            <a:off x="6373368" y="39959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— Indicador de nivel magnético</a:t>
            </a:r>
            <a:endParaRPr lang="en-US" sz="930" dirty="0"/>
          </a:p>
        </p:txBody>
      </p:sp>
      <p:sp>
        <p:nvSpPr>
          <p:cNvPr id="54" name="Shape 51"/>
          <p:cNvSpPr/>
          <p:nvPr/>
        </p:nvSpPr>
        <p:spPr>
          <a:xfrm>
            <a:off x="8778240" y="4032504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55" name="Shape 52"/>
          <p:cNvSpPr/>
          <p:nvPr/>
        </p:nvSpPr>
        <p:spPr>
          <a:xfrm>
            <a:off x="8778240" y="4032504"/>
            <a:ext cx="1105030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56" name="Text 53"/>
          <p:cNvSpPr/>
          <p:nvPr/>
        </p:nvSpPr>
        <p:spPr>
          <a:xfrm>
            <a:off x="11183112" y="39776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930" dirty="0"/>
          </a:p>
        </p:txBody>
      </p:sp>
      <p:sp>
        <p:nvSpPr>
          <p:cNvPr id="57" name="Text 54"/>
          <p:cNvSpPr/>
          <p:nvPr/>
        </p:nvSpPr>
        <p:spPr>
          <a:xfrm>
            <a:off x="6373368" y="43022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 — Transmisor de temperatura</a:t>
            </a:r>
            <a:endParaRPr lang="en-US" sz="930" dirty="0"/>
          </a:p>
        </p:txBody>
      </p:sp>
      <p:sp>
        <p:nvSpPr>
          <p:cNvPr id="58" name="Shape 55"/>
          <p:cNvSpPr/>
          <p:nvPr/>
        </p:nvSpPr>
        <p:spPr>
          <a:xfrm>
            <a:off x="8778240" y="4338828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59" name="Shape 56"/>
          <p:cNvSpPr/>
          <p:nvPr/>
        </p:nvSpPr>
        <p:spPr>
          <a:xfrm>
            <a:off x="8778240" y="4338828"/>
            <a:ext cx="762997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60" name="Text 57"/>
          <p:cNvSpPr/>
          <p:nvPr/>
        </p:nvSpPr>
        <p:spPr>
          <a:xfrm>
            <a:off x="11183112" y="42839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30" dirty="0"/>
          </a:p>
        </p:txBody>
      </p:sp>
      <p:sp>
        <p:nvSpPr>
          <p:cNvPr id="61" name="Text 58"/>
          <p:cNvSpPr/>
          <p:nvPr/>
        </p:nvSpPr>
        <p:spPr>
          <a:xfrm>
            <a:off x="6373368" y="46085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— Termómetro</a:t>
            </a:r>
            <a:endParaRPr lang="en-US" sz="930" dirty="0"/>
          </a:p>
        </p:txBody>
      </p:sp>
      <p:sp>
        <p:nvSpPr>
          <p:cNvPr id="62" name="Shape 59"/>
          <p:cNvSpPr/>
          <p:nvPr/>
        </p:nvSpPr>
        <p:spPr>
          <a:xfrm>
            <a:off x="8778240" y="4645152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63" name="Shape 60"/>
          <p:cNvSpPr/>
          <p:nvPr/>
        </p:nvSpPr>
        <p:spPr>
          <a:xfrm>
            <a:off x="8778240" y="4645152"/>
            <a:ext cx="666526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64" name="Text 61"/>
          <p:cNvSpPr/>
          <p:nvPr/>
        </p:nvSpPr>
        <p:spPr>
          <a:xfrm>
            <a:off x="11183112" y="4590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30" dirty="0"/>
          </a:p>
        </p:txBody>
      </p:sp>
      <p:sp>
        <p:nvSpPr>
          <p:cNvPr id="65" name="Text 62"/>
          <p:cNvSpPr/>
          <p:nvPr/>
        </p:nvSpPr>
        <p:spPr>
          <a:xfrm>
            <a:off x="6373368" y="49149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— Transmisor de nivel</a:t>
            </a:r>
            <a:endParaRPr lang="en-US" sz="930" dirty="0"/>
          </a:p>
        </p:txBody>
      </p:sp>
      <p:sp>
        <p:nvSpPr>
          <p:cNvPr id="66" name="Shape 63"/>
          <p:cNvSpPr/>
          <p:nvPr/>
        </p:nvSpPr>
        <p:spPr>
          <a:xfrm>
            <a:off x="8778240" y="4951476"/>
            <a:ext cx="235915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67" name="Shape 64"/>
          <p:cNvSpPr/>
          <p:nvPr/>
        </p:nvSpPr>
        <p:spPr>
          <a:xfrm>
            <a:off x="8778240" y="4951476"/>
            <a:ext cx="578825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68" name="Text 65"/>
          <p:cNvSpPr/>
          <p:nvPr/>
        </p:nvSpPr>
        <p:spPr>
          <a:xfrm>
            <a:off x="11183112" y="48966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30" dirty="0"/>
          </a:p>
        </p:txBody>
      </p:sp>
      <p:sp>
        <p:nvSpPr>
          <p:cNvPr id="69" name="Text 66"/>
          <p:cNvSpPr/>
          <p:nvPr/>
        </p:nvSpPr>
        <p:spPr>
          <a:xfrm>
            <a:off x="6373368" y="5294376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+ 1.326 instrumentos en otros ~30 tipos menores (válvulas de control, switches, analizadores, etc.)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6373368" y="5724144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modalidad de montaje: en línea (920) — válvulas 485 + elementos 435 · montaje específico (1.878) — soportes, sobre equipo/válvula, estructura F&amp;G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TENDIDO, CONEXIONADO Y COMUNICACIONES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Instrumentación — cables y señales por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600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Metros de cable a tender, por formación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96596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1417320"/>
            <a:ext cx="423367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08392" y="1554480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885 cables · 65.315 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08392" y="193852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15.752 puntas de conexión (conductor + pantalla + prensacables)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452360" y="2514600"/>
            <a:ext cx="423367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08392" y="2651760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I/O por sistema — Remota 7 (≈1.717)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08392" y="3200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(Rockwell)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9418320" y="3236976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15" name="Shape 12"/>
          <p:cNvSpPr/>
          <p:nvPr/>
        </p:nvSpPr>
        <p:spPr>
          <a:xfrm>
            <a:off x="9418320" y="3236976"/>
            <a:ext cx="639565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16" name="Text 13"/>
          <p:cNvSpPr/>
          <p:nvPr/>
        </p:nvSpPr>
        <p:spPr>
          <a:xfrm>
            <a:off x="11183112" y="31821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7708392" y="36027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/ HIMA (ESD+PSS)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9418320" y="3639312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19" name="Shape 16"/>
          <p:cNvSpPr/>
          <p:nvPr/>
        </p:nvSpPr>
        <p:spPr>
          <a:xfrm>
            <a:off x="9418320" y="3639312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6A1B9A"/>
          </a:solidFill>
          <a:ln/>
        </p:spPr>
      </p:sp>
      <p:sp>
        <p:nvSpPr>
          <p:cNvPr id="20" name="Text 17"/>
          <p:cNvSpPr/>
          <p:nvPr/>
        </p:nvSpPr>
        <p:spPr>
          <a:xfrm>
            <a:off x="11183112" y="35844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7708392" y="4005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paquete (10 skids)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9418320" y="4041648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23" name="Shape 20"/>
          <p:cNvSpPr/>
          <p:nvPr/>
        </p:nvSpPr>
        <p:spPr>
          <a:xfrm>
            <a:off x="9418320" y="4041648"/>
            <a:ext cx="969037" cy="164592"/>
          </a:xfrm>
          <a:prstGeom prst="roundRect">
            <a:avLst>
              <a:gd name="adj" fmla="val 16667"/>
            </a:avLst>
          </a:prstGeom>
          <a:solidFill>
            <a:srgbClr val="546E7A"/>
          </a:solidFill>
          <a:ln/>
        </p:spPr>
      </p:sp>
      <p:sp>
        <p:nvSpPr>
          <p:cNvPr id="24" name="Text 21"/>
          <p:cNvSpPr/>
          <p:nvPr/>
        </p:nvSpPr>
        <p:spPr>
          <a:xfrm>
            <a:off x="11183112" y="39867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7452360" y="4526280"/>
            <a:ext cx="42336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08392" y="466344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Cajas de interconexionado (JB) — ≈80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08392" y="49926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732520" y="5020056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29" name="Shape 26"/>
          <p:cNvSpPr/>
          <p:nvPr/>
        </p:nvSpPr>
        <p:spPr>
          <a:xfrm>
            <a:off x="8732520" y="5020056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30" name="Text 27"/>
          <p:cNvSpPr/>
          <p:nvPr/>
        </p:nvSpPr>
        <p:spPr>
          <a:xfrm>
            <a:off x="11228832" y="49651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08392" y="5276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732520" y="5303520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33" name="Shape 30"/>
          <p:cNvSpPr/>
          <p:nvPr/>
        </p:nvSpPr>
        <p:spPr>
          <a:xfrm>
            <a:off x="8732520" y="5303520"/>
            <a:ext cx="1531620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34" name="Text 31"/>
          <p:cNvSpPr/>
          <p:nvPr/>
        </p:nvSpPr>
        <p:spPr>
          <a:xfrm>
            <a:off x="11228832" y="52486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708392" y="55595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F&amp;G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732520" y="5586984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37" name="Shape 34"/>
          <p:cNvSpPr/>
          <p:nvPr/>
        </p:nvSpPr>
        <p:spPr>
          <a:xfrm>
            <a:off x="8732520" y="5586984"/>
            <a:ext cx="168478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38" name="Text 35"/>
          <p:cNvSpPr/>
          <p:nvPr/>
        </p:nvSpPr>
        <p:spPr>
          <a:xfrm>
            <a:off x="11228832" y="55321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708392" y="58430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732520" y="5870448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41" name="Shape 38"/>
          <p:cNvSpPr/>
          <p:nvPr/>
        </p:nvSpPr>
        <p:spPr>
          <a:xfrm>
            <a:off x="8732520" y="5870448"/>
            <a:ext cx="306324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42" name="Text 39"/>
          <p:cNvSpPr/>
          <p:nvPr/>
        </p:nvSpPr>
        <p:spPr>
          <a:xfrm>
            <a:off x="11228832" y="58155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708392" y="6126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USS/otras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732520" y="6153912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45" name="Shape 42"/>
          <p:cNvSpPr/>
          <p:nvPr/>
        </p:nvSpPr>
        <p:spPr>
          <a:xfrm>
            <a:off x="8732520" y="6153912"/>
            <a:ext cx="15316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46" name="Text 43"/>
          <p:cNvSpPr/>
          <p:nvPr/>
        </p:nvSpPr>
        <p:spPr>
          <a:xfrm>
            <a:off x="11228832" y="60990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708392" y="643737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por área de planta: no disponible en la documentación relevada a la fecha.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ESPECIAL · PROVISIÓN INAUCO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PCS / SCADA — provisión y alcance contractual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Controladores (CPU Rockwell)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 control — CPU y chasis ControlLogix 1756 (1756-A13) — provisión de PPSA (Pluspetrol), equipo del cliente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Ingeniería, configuración y puesta en marcha del sistema a cargo de Inauco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de comunicaciones Stratix 5800 — red PRP redundante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CONTRACTUAL AESA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Tableros y módulos de E/S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de las remotas 7A / 7B — suministro, montaje y cableado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entradas/salidas: 330 señales (175 AI · 65 AO · 38 DI · 32 DO)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Inauco para FAT / SAT / iFAT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4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atención — adecuación del SCADA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 los controladores, el SCADA debe adecuarse / reconfigurarse para completar la provisión conjunta de PCS y SCADA: nuevas pantallas para ESD/F&amp;G/PSS de Shelter 7, matriz de causa-efecto (C&amp;E) y tags de la Remota 7 y de los equipos paquete. (Nota del equipo de proyecto — a confirmar alcance con Inauco.)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ESPECIAL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HIMA — ampliación y provisión contractual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y software HIMA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HIMA Planar4 (existente) — hardware y software provistos por PPSA (Pluspetrol)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racks de I/O nuevos — ESD / PSS / USS (Shelter 7), marcados como Provisión PP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 un sistema YA INSTALADO, no un sistema nuevo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CONTRACTUAL AESA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tableros de marshalling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 / F&amp;G (1) + PSS 07A (1) + PSS 07B (1) — único alcance contractual de AESA respecto de HIMA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Montaje, conexionado e integración en campo de los tableros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HIMA para FAT / SAT / iFAT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4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atención — reajuste de hardware y software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lo informado por el equipo de proyecto, la re-adecuación del proyecto no incorporó en su alcance original el reajuste de hardware y software de HIMA. Como consecuencia, AESA debe reajustar el hardware y software del sistema para la ampliación. (Nota de alcance del equipo de proyecto — a validar contractualmente contra el pliego vigente.)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PROVISIÓN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integrado — convergencia hacia el RFSU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3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965960" y="2286000"/>
            <a:ext cx="9720072" cy="64008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3712464"/>
            <a:ext cx="9720072" cy="64008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5138928"/>
            <a:ext cx="9720072" cy="640080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0969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5978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0987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25996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1005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56014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71023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86032" y="1572768"/>
            <a:ext cx="914" cy="4233672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1280160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80969" y="1280160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95978" y="1280160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10987" y="1280160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25996" y="1280160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1005" y="1280160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56014" y="1280160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471023" y="1280160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Eléctricas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2286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29992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/ SCADA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71246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42569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cables EL+IN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1389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EPC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16466" y="176936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32" name="Shape 30"/>
          <p:cNvSpPr/>
          <p:nvPr/>
        </p:nvSpPr>
        <p:spPr>
          <a:xfrm>
            <a:off x="4760481" y="176936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33" name="Shape 31"/>
          <p:cNvSpPr/>
          <p:nvPr/>
        </p:nvSpPr>
        <p:spPr>
          <a:xfrm>
            <a:off x="6704495" y="1769364"/>
            <a:ext cx="729005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34" name="Shape 32"/>
          <p:cNvSpPr/>
          <p:nvPr/>
        </p:nvSpPr>
        <p:spPr>
          <a:xfrm>
            <a:off x="7328344" y="1787652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7661" y="20162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S#3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14-May-27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2816466" y="2482596"/>
            <a:ext cx="2673020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9486" y="2482596"/>
            <a:ext cx="1215009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38" name="Shape 36"/>
          <p:cNvSpPr/>
          <p:nvPr/>
        </p:nvSpPr>
        <p:spPr>
          <a:xfrm>
            <a:off x="6599339" y="2500884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98655" y="27294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Integral PMS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31-Mar-27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3059468" y="3195828"/>
            <a:ext cx="328052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41" name="Shape 39"/>
          <p:cNvSpPr/>
          <p:nvPr/>
        </p:nvSpPr>
        <p:spPr>
          <a:xfrm>
            <a:off x="6704495" y="3195828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42" name="Shape 40"/>
          <p:cNvSpPr/>
          <p:nvPr/>
        </p:nvSpPr>
        <p:spPr>
          <a:xfrm>
            <a:off x="7190499" y="3195828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1565C0">
              <a:alpha val="5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85343" y="3214116"/>
            <a:ext cx="210312" cy="210312"/>
          </a:xfrm>
          <a:prstGeom prst="diamond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84659" y="34427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FAT integral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04-May-27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3059468" y="3909060"/>
            <a:ext cx="2308517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46" name="Shape 44"/>
          <p:cNvSpPr/>
          <p:nvPr/>
        </p:nvSpPr>
        <p:spPr>
          <a:xfrm>
            <a:off x="5262829" y="3927348"/>
            <a:ext cx="210312" cy="210312"/>
          </a:xfrm>
          <a:prstGeom prst="diamond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62145" y="41559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tablero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25-Dic-26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5367985" y="3909060"/>
            <a:ext cx="607504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704495" y="3909060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50" name="Shape 48"/>
          <p:cNvSpPr/>
          <p:nvPr/>
        </p:nvSpPr>
        <p:spPr>
          <a:xfrm>
            <a:off x="7190499" y="3909060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594072" y="4622292"/>
            <a:ext cx="2806671" cy="246888"/>
          </a:xfrm>
          <a:prstGeom prst="roundRect">
            <a:avLst>
              <a:gd name="adj" fmla="val 14815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068428" y="4640580"/>
            <a:ext cx="210312" cy="21031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7744" y="48691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IN a sitio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28-Nov-26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6295587" y="4640580"/>
            <a:ext cx="210312" cy="21031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03" y="48691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EL a sitio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28-Feb-27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7190499" y="5335524"/>
            <a:ext cx="4009530" cy="246888"/>
          </a:xfrm>
          <a:prstGeom prst="roundRect">
            <a:avLst>
              <a:gd name="adj" fmla="val 14815"/>
            </a:avLst>
          </a:prstGeom>
          <a:solidFill>
            <a:srgbClr val="2E7D32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57350" y="5353812"/>
            <a:ext cx="210312" cy="21031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20406" y="5340096"/>
            <a:ext cx="237744" cy="237744"/>
          </a:xfrm>
          <a:prstGeom prst="star5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87718" y="5596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RFSU</a:t>
            </a:r>
            <a:endParaRPr lang="en-US" sz="76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31-Ene-28</a:t>
            </a:r>
            <a:endParaRPr lang="en-US" sz="760" dirty="0"/>
          </a:p>
        </p:txBody>
      </p:sp>
      <p:sp>
        <p:nvSpPr>
          <p:cNvPr id="60" name="Text 58"/>
          <p:cNvSpPr/>
          <p:nvPr/>
        </p:nvSpPr>
        <p:spPr>
          <a:xfrm>
            <a:off x="6973786" y="4791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iFAT — Integración total</a:t>
            </a:r>
            <a:endParaRPr lang="en-US" sz="7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25-Jun → 14-Jul-27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7433501" y="1892808"/>
            <a:ext cx="729005" cy="3538728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704495" y="2606040"/>
            <a:ext cx="1458011" cy="2825496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190499" y="3319272"/>
            <a:ext cx="972007" cy="2112264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190499" y="4032504"/>
            <a:ext cx="972007" cy="1399032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02920" y="608076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66" name="Text 64"/>
          <p:cNvSpPr/>
          <p:nvPr/>
        </p:nvSpPr>
        <p:spPr>
          <a:xfrm>
            <a:off x="685800" y="6007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874520" y="608076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8" name="Text 66"/>
          <p:cNvSpPr/>
          <p:nvPr/>
        </p:nvSpPr>
        <p:spPr>
          <a:xfrm>
            <a:off x="2057400" y="6007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246120" y="6080760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70" name="Text 68"/>
          <p:cNvSpPr/>
          <p:nvPr/>
        </p:nvSpPr>
        <p:spPr>
          <a:xfrm>
            <a:off x="3429000" y="6007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617720" y="6080760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2" name="Text 70"/>
          <p:cNvSpPr/>
          <p:nvPr/>
        </p:nvSpPr>
        <p:spPr>
          <a:xfrm>
            <a:off x="4800600" y="6007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937760" y="60533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referencia según Cronograma Integrado CPF2 Rev2 (06-08-2026) y plan de compras E&amp;I, sujetas a OC y freezing points.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2026-08-13T17:31:59Z</dcterms:created>
  <dcterms:modified xsi:type="dcterms:W3CDTF">2026-08-13T17:31:59Z</dcterms:modified>
</cp:coreProperties>
</file>