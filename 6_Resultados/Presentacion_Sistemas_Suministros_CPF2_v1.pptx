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WN-Daro-1/a5c78a85-7f37-586c-8f2d-662506f55282/scratchpad/suministros/assets/aesa_cover_b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34840"/>
            <a:ext cx="12191695" cy="2423160"/>
          </a:xfrm>
          <a:prstGeom prst="rect">
            <a:avLst/>
          </a:prstGeom>
          <a:solidFill>
            <a:srgbClr val="005392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379976"/>
            <a:ext cx="12191695" cy="54864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617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COMPRAS Y SUMINISTROS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85800" y="491032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Sistemas Críticos de Electricidad e Instrumentación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85800" y="54955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Magnitud, alcance contractual y camino crítico — CPF2 La Calera II · Vaca Muerta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5513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EDF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Rev. 1 · 25-Ago-2026</a:t>
            </a:r>
            <a:endParaRPr lang="en-US" sz="1050" dirty="0"/>
          </a:p>
        </p:txBody>
      </p:sp>
      <p:pic>
        <p:nvPicPr>
          <p:cNvPr id="9" name="Image 1" descr="/tmp/claude-0/-home-user-OWN-Daro-1/a5c78a85-7f37-586c-8f2d-662506f55282/scratchpad/suministros/assets/aesa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234440" cy="63459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5961888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103120" y="5961888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9"/>
          <p:cNvSpPr/>
          <p:nvPr/>
        </p:nvSpPr>
        <p:spPr>
          <a:xfrm>
            <a:off x="228600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520440" y="5961888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5" name="Text 11"/>
          <p:cNvSpPr/>
          <p:nvPr/>
        </p:nvSpPr>
        <p:spPr>
          <a:xfrm>
            <a:off x="370332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37760" y="5961888"/>
            <a:ext cx="128016" cy="128016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17" name="Text 13"/>
          <p:cNvSpPr/>
          <p:nvPr/>
        </p:nvSpPr>
        <p:spPr>
          <a:xfrm>
            <a:off x="512064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PPSA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355080" y="5961888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5"/>
          <p:cNvSpPr/>
          <p:nvPr/>
        </p:nvSpPr>
        <p:spPr>
          <a:xfrm>
            <a:off x="653796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RESUMEN EJECUTIVO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 qué estos sistemas son camino crítico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1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264490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1581912"/>
            <a:ext cx="38404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" y="1655064"/>
            <a:ext cx="231571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16.200 kVA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67512" y="2395728"/>
            <a:ext cx="2315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Potencia instalada en Salas Eléctricas #3/#4 (ABB) — la mayor provisión física de Electricidad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3348990" y="1417320"/>
            <a:ext cx="264490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31870" y="1581912"/>
            <a:ext cx="384048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1"/>
          <p:cNvSpPr/>
          <p:nvPr/>
        </p:nvSpPr>
        <p:spPr>
          <a:xfrm>
            <a:off x="3513582" y="1655064"/>
            <a:ext cx="231571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1.217 señales I/O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513582" y="2395728"/>
            <a:ext cx="2315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Bajo control de Instrumentación — 330 en PCS/SCADA (Inauco) + 887 en SIS (HIMA)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6195060" y="1417320"/>
            <a:ext cx="264490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77940" y="1581912"/>
            <a:ext cx="384048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5"/>
          <p:cNvSpPr/>
          <p:nvPr/>
        </p:nvSpPr>
        <p:spPr>
          <a:xfrm>
            <a:off x="6359652" y="1655064"/>
            <a:ext cx="231571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proveedores únicos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359652" y="2395728"/>
            <a:ext cx="2315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 · Inauco · HIMA — sin sustitutos calificados a esta altura del proyecto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9041130" y="1417320"/>
            <a:ext cx="264490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224010" y="1581912"/>
            <a:ext cx="384048" cy="54864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22" name="Text 19"/>
          <p:cNvSpPr/>
          <p:nvPr/>
        </p:nvSpPr>
        <p:spPr>
          <a:xfrm>
            <a:off x="9205722" y="1655064"/>
            <a:ext cx="231571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RFSU 31-Ene-28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9205722" y="2395728"/>
            <a:ext cx="2315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≈ 524 días restantes — depende en cadena de estos 3 sistemas</a:t>
            </a:r>
            <a:endParaRPr lang="en-US" sz="870" dirty="0"/>
          </a:p>
        </p:txBody>
      </p:sp>
      <p:sp>
        <p:nvSpPr>
          <p:cNvPr id="24" name="Shape 21"/>
          <p:cNvSpPr/>
          <p:nvPr/>
        </p:nvSpPr>
        <p:spPr>
          <a:xfrm>
            <a:off x="502920" y="3063240"/>
            <a:ext cx="11183112" cy="1051560"/>
          </a:xfrm>
          <a:prstGeom prst="roundRect">
            <a:avLst>
              <a:gd name="adj" fmla="val 5217"/>
            </a:avLst>
          </a:prstGeom>
          <a:solidFill>
            <a:srgbClr val="005392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318211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atraso en cualquiera de los tres sistemas desplaza el RFSU del proyecto.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77240" y="3511296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Eléctricas, PMS, PCS/SCADA y SIS son de fabricación e ingeniería especializada, con plazos de entrega largos y proveedores sin alternativa a esta etapa del contrato. Su cadena de FAT / iFAT es secuencial: un retraso de suministro en un eslabón consume directamente el margen hasta el arranque.</a:t>
            </a:r>
            <a:endParaRPr lang="en-US" sz="960" dirty="0"/>
          </a:p>
        </p:txBody>
      </p:sp>
      <p:sp>
        <p:nvSpPr>
          <p:cNvPr id="27" name="Shape 24"/>
          <p:cNvSpPr/>
          <p:nvPr/>
        </p:nvSpPr>
        <p:spPr>
          <a:xfrm>
            <a:off x="502920" y="4343400"/>
            <a:ext cx="1118311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58952" y="45079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Qué significa esto para Suministros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58952" y="4928616"/>
            <a:ext cx="73152" cy="73152"/>
          </a:xfrm>
          <a:prstGeom prst="ellipse">
            <a:avLst/>
          </a:prstGeom>
          <a:solidFill>
            <a:srgbClr val="0094D3"/>
          </a:solidFill>
          <a:ln/>
        </p:spPr>
      </p:sp>
      <p:sp>
        <p:nvSpPr>
          <p:cNvPr id="30" name="Text 27"/>
          <p:cNvSpPr/>
          <p:nvPr/>
        </p:nvSpPr>
        <p:spPr>
          <a:xfrm>
            <a:off x="941832" y="4864608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Estos 3 sistemas concentran la mayor parte del valor y del riesgo de plazo de la provisión E&amp;I — su seguimiento debe ser semanal, no mensual.</a:t>
            </a:r>
            <a:endParaRPr lang="en-US" sz="1030" dirty="0"/>
          </a:p>
        </p:txBody>
      </p:sp>
      <p:sp>
        <p:nvSpPr>
          <p:cNvPr id="31" name="Shape 28"/>
          <p:cNvSpPr/>
          <p:nvPr/>
        </p:nvSpPr>
        <p:spPr>
          <a:xfrm>
            <a:off x="758952" y="5312664"/>
            <a:ext cx="73152" cy="73152"/>
          </a:xfrm>
          <a:prstGeom prst="ellipse">
            <a:avLst/>
          </a:prstGeom>
          <a:solidFill>
            <a:srgbClr val="0094D3"/>
          </a:solidFill>
          <a:ln/>
        </p:spPr>
      </p:sp>
      <p:sp>
        <p:nvSpPr>
          <p:cNvPr id="32" name="Text 29"/>
          <p:cNvSpPr/>
          <p:nvPr/>
        </p:nvSpPr>
        <p:spPr>
          <a:xfrm>
            <a:off x="941832" y="5248656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OC de estos sistemas lleva asociados hitos de ingeniería, FAT y montaje que no admiten reprogramación sin impacto directo en el RFSU.</a:t>
            </a:r>
            <a:endParaRPr lang="en-US" sz="1030" dirty="0"/>
          </a:p>
        </p:txBody>
      </p:sp>
      <p:sp>
        <p:nvSpPr>
          <p:cNvPr id="33" name="Shape 30"/>
          <p:cNvSpPr/>
          <p:nvPr/>
        </p:nvSpPr>
        <p:spPr>
          <a:xfrm>
            <a:off x="758952" y="5696712"/>
            <a:ext cx="73152" cy="73152"/>
          </a:xfrm>
          <a:prstGeom prst="ellipse">
            <a:avLst/>
          </a:prstGeom>
          <a:solidFill>
            <a:srgbClr val="0094D3"/>
          </a:solidFill>
          <a:ln/>
        </p:spPr>
      </p:sp>
      <p:sp>
        <p:nvSpPr>
          <p:cNvPr id="34" name="Text 31"/>
          <p:cNvSpPr/>
          <p:nvPr/>
        </p:nvSpPr>
        <p:spPr>
          <a:xfrm>
            <a:off x="941832" y="5632704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Las diapositivas siguientes muestran la magnitud física, el alcance contractual exacto (qué compra/gestiona AESA vs. qué provee el cliente) y el estado actual de adjudicación de cada uno.</a:t>
            </a:r>
            <a:endParaRPr lang="en-US" sz="10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· PROVISIÓN ABB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 #3 y #4 — la base de todo el sistema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1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37033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pic>
        <p:nvPicPr>
          <p:cNvPr id="9" name="Image 1" descr="/tmp/claude-0/-home-user-OWN-Daro-1/a5c78a85-7f37-586c-8f2d-662506f55282/scratchpad/suministros/assets/sala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7784" y="1426464"/>
            <a:ext cx="3593592" cy="17647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" y="28986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1" name="Text 7"/>
          <p:cNvSpPr/>
          <p:nvPr/>
        </p:nvSpPr>
        <p:spPr>
          <a:xfrm>
            <a:off x="630936" y="2898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 · BT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407408" y="1371600"/>
            <a:ext cx="37033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pic>
        <p:nvPicPr>
          <p:cNvPr id="13" name="Image 2" descr="/tmp/claude-0/-home-user-OWN-Daro-1/a5c78a85-7f37-586c-8f2d-662506f55282/scratchpad/suministros/assets/sala4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62272" y="1426464"/>
            <a:ext cx="3593592" cy="176479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535424" y="28986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5" name="Text 10"/>
          <p:cNvSpPr/>
          <p:nvPr/>
        </p:nvSpPr>
        <p:spPr>
          <a:xfrm>
            <a:off x="4535424" y="2898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SE#4 · MT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8311896" y="1371600"/>
            <a:ext cx="3376879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513064" y="1554480"/>
            <a:ext cx="29745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16.200 kVA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8513064" y="2029968"/>
            <a:ext cx="29745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potencia total instalada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(8 transformadores, fuera de las salas)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513064" y="2670048"/>
            <a:ext cx="2974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37 + 25 tableros BT/CCM (SE#3) + celdas MT (SE#4)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02920" y="3337560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Capturas de referencia del modelo 3D (BIM) — shelters premontados de fábrica por ABB, sobre estructura elevada con bandejas de vinculación.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502920" y="3685032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667512" y="3813048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11.200 kVA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67512" y="4197096"/>
            <a:ext cx="23157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 · instalados</a:t>
            </a:r>
            <a:endParaRPr lang="en-US" sz="8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transformadores exteriores</a:t>
            </a:r>
            <a:endParaRPr lang="en-US" sz="830" dirty="0"/>
          </a:p>
        </p:txBody>
      </p:sp>
      <p:sp>
        <p:nvSpPr>
          <p:cNvPr id="24" name="Shape 19"/>
          <p:cNvSpPr/>
          <p:nvPr/>
        </p:nvSpPr>
        <p:spPr>
          <a:xfrm>
            <a:off x="3348990" y="3685032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3513582" y="3813048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5.000 kVA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3513582" y="4197096"/>
            <a:ext cx="23157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SE#4 · instalados</a:t>
            </a:r>
            <a:endParaRPr lang="en-US" sz="8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transformadores TRMT-001 A/B</a:t>
            </a:r>
            <a:endParaRPr lang="en-US" sz="830" dirty="0"/>
          </a:p>
        </p:txBody>
      </p:sp>
      <p:sp>
        <p:nvSpPr>
          <p:cNvPr id="27" name="Shape 22"/>
          <p:cNvSpPr/>
          <p:nvPr/>
        </p:nvSpPr>
        <p:spPr>
          <a:xfrm>
            <a:off x="6195060" y="3685032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6359652" y="3813048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CCM · 25 celdas MT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359652" y="4197096"/>
            <a:ext cx="23157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SE#3: 4.000 A / 65 kA · SE#4: 630 A / 25 kA</a:t>
            </a:r>
            <a:endParaRPr lang="en-US" sz="830" dirty="0"/>
          </a:p>
        </p:txBody>
      </p:sp>
      <p:sp>
        <p:nvSpPr>
          <p:cNvPr id="30" name="Shape 25"/>
          <p:cNvSpPr/>
          <p:nvPr/>
        </p:nvSpPr>
        <p:spPr>
          <a:xfrm>
            <a:off x="9041130" y="3685032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9205722" y="3813048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6.325 kW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9205722" y="4197096"/>
            <a:ext cx="23157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Carga instalada SE#3 — motores, VFD, HVAC, UPS</a:t>
            </a:r>
            <a:endParaRPr lang="en-US" sz="830" dirty="0"/>
          </a:p>
        </p:txBody>
      </p:sp>
      <p:sp>
        <p:nvSpPr>
          <p:cNvPr id="33" name="Shape 28"/>
          <p:cNvSpPr/>
          <p:nvPr/>
        </p:nvSpPr>
        <p:spPr>
          <a:xfrm>
            <a:off x="502920" y="4901184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005392"/>
          </a:solidFill>
          <a:ln/>
        </p:spPr>
      </p:sp>
      <p:sp>
        <p:nvSpPr>
          <p:cNvPr id="34" name="Text 29"/>
          <p:cNvSpPr/>
          <p:nvPr/>
        </p:nvSpPr>
        <p:spPr>
          <a:xfrm>
            <a:off x="777240" y="5020056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PMS (gestión de energía) supervisa las 28 tableros de ambas salas.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777240" y="534924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integra al PCS/SCADA de Instrumentación vía Modbus TCP redundante — es la ampliación de un sistema ya instalado en CPF-1/CPF-1.5. Cualquier demora en shelters o transformadores retrasa directamente la Entrega SE#3 (14-May-27), primer hito de la cadena de FAT.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INSTRUMENTACIÓN · PROVISIÓN INAUCO / HIMA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PCS/SCADA y SIS — 1.217 señales bajo control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1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5454396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2376" y="1600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1600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 · PCS/SCADA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" y="2020824"/>
            <a:ext cx="49423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330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58952" y="2606040"/>
            <a:ext cx="4942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señales I/O nuevas (175 AI · 65 AO · 38 DI · 32 DO)</a:t>
            </a:r>
            <a:endParaRPr lang="en-US" sz="9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≈500 variables de equipos paquete vía Modbus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758952" y="3300984"/>
            <a:ext cx="64008" cy="640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4" name="Text 11"/>
          <p:cNvSpPr/>
          <p:nvPr/>
        </p:nvSpPr>
        <p:spPr>
          <a:xfrm>
            <a:off x="923544" y="3246120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Rockwell ControlLogix 1756 — 2 remotas nuevas: 7A y 7B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758952" y="3611880"/>
            <a:ext cx="64008" cy="640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6" name="Text 13"/>
          <p:cNvSpPr/>
          <p:nvPr/>
        </p:nvSpPr>
        <p:spPr>
          <a:xfrm>
            <a:off x="923544" y="3557016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Backbone Stratix 5800, red PRP redundante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758952" y="3922776"/>
            <a:ext cx="64008" cy="640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5"/>
          <p:cNvSpPr/>
          <p:nvPr/>
        </p:nvSpPr>
        <p:spPr>
          <a:xfrm>
            <a:off x="923544" y="3867912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Inauco hasta entrega; SAT a cargo de AESA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231636" y="1417320"/>
            <a:ext cx="5454396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51092" y="1600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21" name="Text 18"/>
          <p:cNvSpPr/>
          <p:nvPr/>
        </p:nvSpPr>
        <p:spPr>
          <a:xfrm>
            <a:off x="6451092" y="1600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 · SIS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487668" y="2020824"/>
            <a:ext cx="49423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887</a:t>
            </a:r>
            <a:endParaRPr lang="en-US" sz="4000" dirty="0"/>
          </a:p>
        </p:txBody>
      </p:sp>
      <p:sp>
        <p:nvSpPr>
          <p:cNvPr id="23" name="Text 20"/>
          <p:cNvSpPr/>
          <p:nvPr/>
        </p:nvSpPr>
        <p:spPr>
          <a:xfrm>
            <a:off x="6487668" y="2606040"/>
            <a:ext cx="4942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señales I/O de seguridad (ESD 243 + PSS 644)</a:t>
            </a:r>
            <a:endParaRPr lang="en-US" sz="9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protegen personas, proceso y activos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6487668" y="3300984"/>
            <a:ext cx="64008" cy="6400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5" name="Text 22"/>
          <p:cNvSpPr/>
          <p:nvPr/>
        </p:nvSpPr>
        <p:spPr>
          <a:xfrm>
            <a:off x="6652260" y="3246120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Ampliación de la plataforma Planar4 ya instalada — no es un sistema nuevo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6487668" y="3611880"/>
            <a:ext cx="64008" cy="6400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7" name="Text 24"/>
          <p:cNvSpPr/>
          <p:nvPr/>
        </p:nvSpPr>
        <p:spPr>
          <a:xfrm>
            <a:off x="6652260" y="3557016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racks de I/O nuevos en Shelter 7 (provisión PPSA)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6487668" y="3922776"/>
            <a:ext cx="64008" cy="6400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9" name="Text 26"/>
          <p:cNvSpPr/>
          <p:nvPr/>
        </p:nvSpPr>
        <p:spPr>
          <a:xfrm>
            <a:off x="6652260" y="3867912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de marshalling — único alcance contractual de AESA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502920" y="4681728"/>
            <a:ext cx="11183112" cy="914400"/>
          </a:xfrm>
          <a:prstGeom prst="roundRect">
            <a:avLst>
              <a:gd name="adj" fmla="val 6000"/>
            </a:avLst>
          </a:prstGeom>
          <a:solidFill>
            <a:srgbClr val="005392"/>
          </a:solidFill>
          <a:ln/>
        </p:spPr>
      </p:sp>
      <p:sp>
        <p:nvSpPr>
          <p:cNvPr id="31" name="Text 28"/>
          <p:cNvSpPr/>
          <p:nvPr/>
        </p:nvSpPr>
        <p:spPr>
          <a:xfrm>
            <a:off x="777240" y="480060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Ninguno de los dos arranca sin el otro.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777240" y="5129784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SIS (HIMA) protege personas y activos ante desvíos de proceso (ESD/F&amp;G/PSS); el PCS (Inauco) gobierna el proceso completo y recibe la señalización del PMS. Los tres sistemas — PMS, PCS y SIS — deben estar integrados y probados (iFAT) antes del RFSU.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CONTRACTUAL · COMPRAS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Qué compra y gestiona AESA vs. qué provee el cliente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1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5454396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53619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1536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 · PCS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22376" y="1938528"/>
            <a:ext cx="50154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contractual AESA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40664" y="2286000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905256" y="2231136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Backbone Stratix 5800 — red PRP redundante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740664" y="2578608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2"/>
          <p:cNvSpPr/>
          <p:nvPr/>
        </p:nvSpPr>
        <p:spPr>
          <a:xfrm>
            <a:off x="905256" y="2523744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Tableros remotas 7A/7B — suministro, montaje, cableado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740664" y="2871216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4"/>
          <p:cNvSpPr/>
          <p:nvPr/>
        </p:nvSpPr>
        <p:spPr>
          <a:xfrm>
            <a:off x="905256" y="2816352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 de E/S: 330 señales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740664" y="3163824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905256" y="3108960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Coordinación FAT / SAT / iFAT con Inauco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667512" y="3511296"/>
            <a:ext cx="5125212" cy="1088136"/>
          </a:xfrm>
          <a:prstGeom prst="roundRect">
            <a:avLst>
              <a:gd name="adj" fmla="val 5042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813816" y="3602736"/>
            <a:ext cx="48326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546E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PPSA (cliente)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832104" y="3950208"/>
            <a:ext cx="64008" cy="64008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23" name="Text 20"/>
          <p:cNvSpPr/>
          <p:nvPr/>
        </p:nvSpPr>
        <p:spPr>
          <a:xfrm>
            <a:off x="996696" y="3895344"/>
            <a:ext cx="4631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Controladores CPU Rockwell ControlLogix 1756-A13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832104" y="4261104"/>
            <a:ext cx="64008" cy="64008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25" name="Text 22"/>
          <p:cNvSpPr/>
          <p:nvPr/>
        </p:nvSpPr>
        <p:spPr>
          <a:xfrm>
            <a:off x="996696" y="4206240"/>
            <a:ext cx="4631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Ingeniería, configuración y puesta en marcha (Inauco)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67512" y="4709160"/>
            <a:ext cx="5125212" cy="694944"/>
          </a:xfrm>
          <a:prstGeom prst="rect">
            <a:avLst/>
          </a:prstGeom>
          <a:solidFill>
            <a:srgbClr val="FBF3E4"/>
          </a:solidFill>
          <a:ln w="9525">
            <a:solidFill>
              <a:srgbClr val="C992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4782312"/>
            <a:ext cx="49057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00" kern="0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PUNTO DE ATENCIÓN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795528" y="4965192"/>
            <a:ext cx="48874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i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SCADA debe adecuarse/reconfigurarse (pantallas ESD/F&amp;G/PSS, matriz C&amp;E, tags Remota 7) — alcance a confirmar con Inauco.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6231636" y="1371600"/>
            <a:ext cx="5454396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32804" y="153619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31" name="Text 28"/>
          <p:cNvSpPr/>
          <p:nvPr/>
        </p:nvSpPr>
        <p:spPr>
          <a:xfrm>
            <a:off x="6432804" y="1536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 · SIS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451092" y="1938528"/>
            <a:ext cx="50154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contractual AESA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6469380" y="2286000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4" name="Text 31"/>
          <p:cNvSpPr/>
          <p:nvPr/>
        </p:nvSpPr>
        <p:spPr>
          <a:xfrm>
            <a:off x="6633972" y="2231136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de marshalling (ESD/F&amp;G · PSS 07A · PSS 07B)</a:t>
            </a:r>
            <a:endParaRPr lang="en-US" sz="870" dirty="0"/>
          </a:p>
        </p:txBody>
      </p:sp>
      <p:sp>
        <p:nvSpPr>
          <p:cNvPr id="35" name="Shape 32"/>
          <p:cNvSpPr/>
          <p:nvPr/>
        </p:nvSpPr>
        <p:spPr>
          <a:xfrm>
            <a:off x="6469380" y="2578608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6" name="Text 33"/>
          <p:cNvSpPr/>
          <p:nvPr/>
        </p:nvSpPr>
        <p:spPr>
          <a:xfrm>
            <a:off x="6633972" y="2523744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Montaje, conexionado e integración de campo</a:t>
            </a:r>
            <a:endParaRPr lang="en-US" sz="870" dirty="0"/>
          </a:p>
        </p:txBody>
      </p:sp>
      <p:sp>
        <p:nvSpPr>
          <p:cNvPr id="37" name="Shape 34"/>
          <p:cNvSpPr/>
          <p:nvPr/>
        </p:nvSpPr>
        <p:spPr>
          <a:xfrm>
            <a:off x="6469380" y="2871216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8" name="Text 35"/>
          <p:cNvSpPr/>
          <p:nvPr/>
        </p:nvSpPr>
        <p:spPr>
          <a:xfrm>
            <a:off x="6633972" y="2816352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Coordinación FAT / SAT / iFAT con HIMA</a:t>
            </a:r>
            <a:endParaRPr lang="en-US" sz="870" dirty="0"/>
          </a:p>
        </p:txBody>
      </p:sp>
      <p:sp>
        <p:nvSpPr>
          <p:cNvPr id="39" name="Shape 36"/>
          <p:cNvSpPr/>
          <p:nvPr/>
        </p:nvSpPr>
        <p:spPr>
          <a:xfrm>
            <a:off x="6396228" y="3218688"/>
            <a:ext cx="5125212" cy="1088136"/>
          </a:xfrm>
          <a:prstGeom prst="roundRect">
            <a:avLst>
              <a:gd name="adj" fmla="val 5042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</p:sp>
      <p:sp>
        <p:nvSpPr>
          <p:cNvPr id="40" name="Text 37"/>
          <p:cNvSpPr/>
          <p:nvPr/>
        </p:nvSpPr>
        <p:spPr>
          <a:xfrm>
            <a:off x="6542532" y="3310128"/>
            <a:ext cx="48326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546E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PPSA (cliente)</a:t>
            </a:r>
            <a:endParaRPr lang="en-US" sz="1080" dirty="0"/>
          </a:p>
        </p:txBody>
      </p:sp>
      <p:sp>
        <p:nvSpPr>
          <p:cNvPr id="41" name="Shape 38"/>
          <p:cNvSpPr/>
          <p:nvPr/>
        </p:nvSpPr>
        <p:spPr>
          <a:xfrm>
            <a:off x="6560820" y="3657600"/>
            <a:ext cx="64008" cy="64008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42" name="Text 39"/>
          <p:cNvSpPr/>
          <p:nvPr/>
        </p:nvSpPr>
        <p:spPr>
          <a:xfrm>
            <a:off x="6725412" y="3602736"/>
            <a:ext cx="4631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Hardware y software HIMA — plataforma Planar4 (existente)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560820" y="3968496"/>
            <a:ext cx="64008" cy="64008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44" name="Text 41"/>
          <p:cNvSpPr/>
          <p:nvPr/>
        </p:nvSpPr>
        <p:spPr>
          <a:xfrm>
            <a:off x="6725412" y="3913632"/>
            <a:ext cx="4631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racks de I/O nuevos ESD/PSS/USS (Shelter 7)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396228" y="4416552"/>
            <a:ext cx="5125212" cy="987552"/>
          </a:xfrm>
          <a:prstGeom prst="rect">
            <a:avLst/>
          </a:prstGeom>
          <a:solidFill>
            <a:srgbClr val="FBF3E4"/>
          </a:solidFill>
          <a:ln w="9525">
            <a:solidFill>
              <a:srgbClr val="C9922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524244" y="4489704"/>
            <a:ext cx="49057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00" kern="0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PUNTO DE ATENCIÓN</a:t>
            </a:r>
            <a:endParaRPr lang="en-US" sz="780" dirty="0"/>
          </a:p>
        </p:txBody>
      </p:sp>
      <p:sp>
        <p:nvSpPr>
          <p:cNvPr id="47" name="Text 44"/>
          <p:cNvSpPr/>
          <p:nvPr/>
        </p:nvSpPr>
        <p:spPr>
          <a:xfrm>
            <a:off x="6524244" y="4672584"/>
            <a:ext cx="48874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i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reajuste de hardware y software HIMA no estaba en el alcance original — AESA debe asumirlo. A validar contractualmente contra el pliego vigente.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CAMINO CRÍTICO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cadena de hitos hacia el RFSU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1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537460"/>
            <a:ext cx="11183112" cy="0"/>
          </a:xfrm>
          <a:prstGeom prst="line">
            <a:avLst/>
          </a:prstGeom>
          <a:noFill/>
          <a:ln w="25400">
            <a:solidFill>
              <a:srgbClr val="DCE3EC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692368" y="1828800"/>
            <a:ext cx="148495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2368" y="1828800"/>
            <a:ext cx="1484955" cy="640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1" name="Text 8"/>
          <p:cNvSpPr/>
          <p:nvPr/>
        </p:nvSpPr>
        <p:spPr>
          <a:xfrm>
            <a:off x="820384" y="2011680"/>
            <a:ext cx="12289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Recepción tablero HIMA</a:t>
            </a:r>
            <a:endParaRPr lang="en-US" sz="1030" dirty="0"/>
          </a:p>
        </p:txBody>
      </p:sp>
      <p:sp>
        <p:nvSpPr>
          <p:cNvPr id="12" name="Text 9"/>
          <p:cNvSpPr/>
          <p:nvPr/>
        </p:nvSpPr>
        <p:spPr>
          <a:xfrm>
            <a:off x="820384" y="2862072"/>
            <a:ext cx="12289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25-Dic-26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 rot="5400000">
            <a:off x="2195612" y="2473452"/>
            <a:ext cx="128016" cy="128016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4" name="Shape 11"/>
          <p:cNvSpPr/>
          <p:nvPr/>
        </p:nvSpPr>
        <p:spPr>
          <a:xfrm>
            <a:off x="2556220" y="1828800"/>
            <a:ext cx="148495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56220" y="1828800"/>
            <a:ext cx="1484955" cy="640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3"/>
          <p:cNvSpPr/>
          <p:nvPr/>
        </p:nvSpPr>
        <p:spPr>
          <a:xfrm>
            <a:off x="2684236" y="2011680"/>
            <a:ext cx="12289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FAT Integral PMS</a:t>
            </a:r>
            <a:endParaRPr lang="en-US" sz="1030" dirty="0"/>
          </a:p>
        </p:txBody>
      </p:sp>
      <p:sp>
        <p:nvSpPr>
          <p:cNvPr id="17" name="Text 14"/>
          <p:cNvSpPr/>
          <p:nvPr/>
        </p:nvSpPr>
        <p:spPr>
          <a:xfrm>
            <a:off x="2684236" y="2862072"/>
            <a:ext cx="12289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31-Mar-27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 rot="5400000">
            <a:off x="4059464" y="2473452"/>
            <a:ext cx="128016" cy="128016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9" name="Shape 16"/>
          <p:cNvSpPr/>
          <p:nvPr/>
        </p:nvSpPr>
        <p:spPr>
          <a:xfrm>
            <a:off x="4420072" y="1828800"/>
            <a:ext cx="148495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420072" y="1828800"/>
            <a:ext cx="1484955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8"/>
          <p:cNvSpPr/>
          <p:nvPr/>
        </p:nvSpPr>
        <p:spPr>
          <a:xfrm>
            <a:off x="4548088" y="2011680"/>
            <a:ext cx="12289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 FAT integral PCS</a:t>
            </a:r>
            <a:endParaRPr lang="en-US" sz="1030" dirty="0"/>
          </a:p>
        </p:txBody>
      </p:sp>
      <p:sp>
        <p:nvSpPr>
          <p:cNvPr id="22" name="Text 19"/>
          <p:cNvSpPr/>
          <p:nvPr/>
        </p:nvSpPr>
        <p:spPr>
          <a:xfrm>
            <a:off x="4548088" y="2862072"/>
            <a:ext cx="12289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04-May-27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 rot="5400000">
            <a:off x="5923316" y="2473452"/>
            <a:ext cx="128016" cy="128016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24" name="Shape 21"/>
          <p:cNvSpPr/>
          <p:nvPr/>
        </p:nvSpPr>
        <p:spPr>
          <a:xfrm>
            <a:off x="6283924" y="1828800"/>
            <a:ext cx="148495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83924" y="1828800"/>
            <a:ext cx="1484955" cy="640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6" name="Text 23"/>
          <p:cNvSpPr/>
          <p:nvPr/>
        </p:nvSpPr>
        <p:spPr>
          <a:xfrm>
            <a:off x="6411940" y="2011680"/>
            <a:ext cx="12289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Entrega SE#3</a:t>
            </a:r>
            <a:endParaRPr lang="en-US" sz="1030" dirty="0"/>
          </a:p>
        </p:txBody>
      </p:sp>
      <p:sp>
        <p:nvSpPr>
          <p:cNvPr id="27" name="Text 24"/>
          <p:cNvSpPr/>
          <p:nvPr/>
        </p:nvSpPr>
        <p:spPr>
          <a:xfrm>
            <a:off x="6411940" y="2862072"/>
            <a:ext cx="12289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14-May-27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 rot="5400000">
            <a:off x="7787168" y="2473452"/>
            <a:ext cx="128016" cy="128016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29" name="Shape 26"/>
          <p:cNvSpPr/>
          <p:nvPr/>
        </p:nvSpPr>
        <p:spPr>
          <a:xfrm>
            <a:off x="8147776" y="1828800"/>
            <a:ext cx="148495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147776" y="1828800"/>
            <a:ext cx="1484955" cy="64008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31" name="Text 28"/>
          <p:cNvSpPr/>
          <p:nvPr/>
        </p:nvSpPr>
        <p:spPr>
          <a:xfrm>
            <a:off x="8275792" y="2011680"/>
            <a:ext cx="12289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iFAT — integración total</a:t>
            </a:r>
            <a:endParaRPr lang="en-US" sz="1030" dirty="0"/>
          </a:p>
        </p:txBody>
      </p:sp>
      <p:sp>
        <p:nvSpPr>
          <p:cNvPr id="32" name="Text 29"/>
          <p:cNvSpPr/>
          <p:nvPr/>
        </p:nvSpPr>
        <p:spPr>
          <a:xfrm>
            <a:off x="8275792" y="2862072"/>
            <a:ext cx="12289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25-Jun → 14-Jul-27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 rot="5400000">
            <a:off x="9651020" y="2473452"/>
            <a:ext cx="128016" cy="128016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34" name="Shape 31"/>
          <p:cNvSpPr/>
          <p:nvPr/>
        </p:nvSpPr>
        <p:spPr>
          <a:xfrm>
            <a:off x="10011628" y="1828800"/>
            <a:ext cx="148495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10011628" y="1828800"/>
            <a:ext cx="1484955" cy="640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6" name="Text 33"/>
          <p:cNvSpPr/>
          <p:nvPr/>
        </p:nvSpPr>
        <p:spPr>
          <a:xfrm>
            <a:off x="10139644" y="2011680"/>
            <a:ext cx="12289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RFSU</a:t>
            </a:r>
            <a:endParaRPr lang="en-US" sz="1030" dirty="0"/>
          </a:p>
        </p:txBody>
      </p:sp>
      <p:sp>
        <p:nvSpPr>
          <p:cNvPr id="37" name="Text 34"/>
          <p:cNvSpPr/>
          <p:nvPr/>
        </p:nvSpPr>
        <p:spPr>
          <a:xfrm>
            <a:off x="10139644" y="2862072"/>
            <a:ext cx="12289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31-Ene-28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02920" y="3566160"/>
            <a:ext cx="11183112" cy="1051560"/>
          </a:xfrm>
          <a:prstGeom prst="roundRect">
            <a:avLst>
              <a:gd name="adj" fmla="val 5217"/>
            </a:avLst>
          </a:prstGeom>
          <a:solidFill>
            <a:srgbClr val="005392"/>
          </a:solidFill>
          <a:ln/>
        </p:spPr>
      </p:sp>
      <p:sp>
        <p:nvSpPr>
          <p:cNvPr id="39" name="Text 36"/>
          <p:cNvSpPr/>
          <p:nvPr/>
        </p:nvSpPr>
        <p:spPr>
          <a:xfrm>
            <a:off x="777240" y="368503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eslabón depende del anterior.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777240" y="4014216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atraso de proveedor en cualquier punto de esta cadena consume directamente el margen hasta el RFSU (31-Ene-28, a ≈524 días de hoy). Por eso el seguimiento de OC de Salas Eléctricas, PMS, PCS/SCADA y SIS debe priorizarse por sobre otras provisiones de menor impacto en la fecha de arranque.</a:t>
            </a:r>
            <a:endParaRPr lang="en-US" sz="960" dirty="0"/>
          </a:p>
        </p:txBody>
      </p:sp>
      <p:sp>
        <p:nvSpPr>
          <p:cNvPr id="41" name="Text 38"/>
          <p:cNvSpPr/>
          <p:nvPr/>
        </p:nvSpPr>
        <p:spPr>
          <a:xfrm>
            <a:off x="502920" y="4727448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Fechas según Cronograma Integrado CPF2 Rev2 (06-08-2026), sujetas a OC y freezing points.</a:t>
            </a:r>
            <a:endParaRPr lang="en-US" sz="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ESTADO ACTUAL · CORTE 14-AGO-2026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Qué necesitamos priorizar en Suministros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1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111831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1536192"/>
            <a:ext cx="10671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Ítems críticos aún sin OC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58952" y="1993392"/>
            <a:ext cx="100584" cy="1005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8"/>
          <p:cNvSpPr/>
          <p:nvPr/>
        </p:nvSpPr>
        <p:spPr>
          <a:xfrm>
            <a:off x="941832" y="19385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Válvulas de control y autorreguladoras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37760" y="193852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40680" y="1938528"/>
            <a:ext cx="5971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OC · 113 días — VENCIDO (NecOC 26-Jul-26)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58952" y="2377440"/>
            <a:ext cx="100584" cy="1005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941832" y="232257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Cables Instrumentación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937760" y="23225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40680" y="2322576"/>
            <a:ext cx="5971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OC · 91 días — AT cerrado, en revisión de RI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58952" y="2761488"/>
            <a:ext cx="100584" cy="100584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19" name="Text 16"/>
          <p:cNvSpPr/>
          <p:nvPr/>
        </p:nvSpPr>
        <p:spPr>
          <a:xfrm>
            <a:off x="941832" y="27066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Cables Eléctricos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937760" y="270662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40680" y="2706624"/>
            <a:ext cx="5971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OC · 64 días — negociación final en curso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58952" y="3182112"/>
            <a:ext cx="10671048" cy="566928"/>
          </a:xfrm>
          <a:prstGeom prst="rect">
            <a:avLst/>
          </a:prstGeom>
          <a:solidFill>
            <a:srgbClr val="FBF3E4"/>
          </a:solidFill>
          <a:ln w="9525">
            <a:solidFill>
              <a:srgbClr val="C992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5256" y="3273552"/>
            <a:ext cx="10378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i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Puntos de atención contractual: </a:t>
            </a:r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adecuación del SCADA (Inauco) y reajuste de hardware/software HIMA — ambos requieren validar alcance y presupuesto antes de comprometer la próxima OC.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02920" y="3931920"/>
            <a:ext cx="11183112" cy="1417320"/>
          </a:xfrm>
          <a:prstGeom prst="roundRect">
            <a:avLst>
              <a:gd name="adj" fmla="val 3871"/>
            </a:avLst>
          </a:prstGeom>
          <a:solidFill>
            <a:srgbClr val="005392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405079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Pedido a Compras y Gerencia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77240" y="4379976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Acelerar el cierre de OC de Válvulas de Control y Cables de Instrumentación — ambos ya en zona de riesgo y con impacto directo en la cadena de FAT/iFAT hacia el RFSU. En paralelo, definir con Inauco y HIMA el alcance final de los dos puntos de atención contractual antes de la próxima ronda de compromisos de fecha.</a:t>
            </a:r>
            <a:endParaRPr lang="en-US" sz="960" dirty="0"/>
          </a:p>
        </p:txBody>
      </p:sp>
      <p:sp>
        <p:nvSpPr>
          <p:cNvPr id="27" name="Text 24"/>
          <p:cNvSpPr/>
          <p:nvPr/>
        </p:nvSpPr>
        <p:spPr>
          <a:xfrm>
            <a:off x="502920" y="5486400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Fuente: tablero de gestión de suministros IN+EL (App_Suministros Rev5, corte 14-Ago-2026) y Cronograma Integrado CPF2 Rev2.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2026-08-25T19:12:31Z</dcterms:created>
  <dcterms:modified xsi:type="dcterms:W3CDTF">2026-08-25T19:12:31Z</dcterms:modified>
</cp:coreProperties>
</file>