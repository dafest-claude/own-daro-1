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OWN-Daro-1/a5c78a85-7f37-586c-8f2d-662506f55282/scratchpad/graficas/assets/aesa_cover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05392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4379976"/>
            <a:ext cx="12191695" cy="54864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RESUMEN GRÁFICO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85800" y="491032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Eléctricas, Cableado y Arquitecturas de Sistemas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85800" y="547725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0" y="5495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EDFF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Rev. 2 · 14-Ago-2026</a:t>
            </a:r>
            <a:endParaRPr lang="en-US" sz="1050" dirty="0"/>
          </a:p>
        </p:txBody>
      </p:sp>
      <p:pic>
        <p:nvPicPr>
          <p:cNvPr id="9" name="Image 1" descr="/tmp/claude-0/-home-user-OWN-Daro-1/a5c78a85-7f37-586c-8f2d-662506f55282/scratchpad/graficas/assets/aesa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65760"/>
            <a:ext cx="1234440" cy="6345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594360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5943600"/>
            <a:ext cx="128016" cy="128016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13" name="Text 9"/>
          <p:cNvSpPr/>
          <p:nvPr/>
        </p:nvSpPr>
        <p:spPr>
          <a:xfrm>
            <a:off x="228600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520440" y="5943600"/>
            <a:ext cx="128016" cy="128016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15" name="Text 11"/>
          <p:cNvSpPr/>
          <p:nvPr/>
        </p:nvSpPr>
        <p:spPr>
          <a:xfrm>
            <a:off x="370332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937760" y="5943600"/>
            <a:ext cx="128016" cy="128016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7" name="Text 13"/>
          <p:cNvSpPr/>
          <p:nvPr/>
        </p:nvSpPr>
        <p:spPr>
          <a:xfrm>
            <a:off x="5120640" y="58704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AESA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PROVISIÓN ABB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Salas Eléctricas — SE#3 y SE#4 (modelo 3D)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graficas/assets/sala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554480"/>
            <a:ext cx="5308092" cy="268029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5800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BT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423160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#3 — Baja Tensión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31636" y="1481328"/>
            <a:ext cx="5454396" cy="3137493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14" name="Image 2" descr="/tmp/claude-0/-home-user-OWN-Daro-1/a5c78a85-7f37-586c-8f2d-662506f55282/scratchpad/graficas/assets/sala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4788" y="1554480"/>
            <a:ext cx="5308092" cy="2680293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414516" y="4298781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6" name="Text 11"/>
          <p:cNvSpPr/>
          <p:nvPr/>
        </p:nvSpPr>
        <p:spPr>
          <a:xfrm>
            <a:off x="6414516" y="429878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MT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8151876" y="4298781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Sala Eléctrica #4 — Media Tensión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02920" y="4600533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Capturas de referencia del modelo 3D (BIM) — shelters premontados de fábrica por ABB, sobre estructura elevada con bandejas de vinculación</a:t>
            </a:r>
            <a:endParaRPr lang="en-US" sz="830" dirty="0"/>
          </a:p>
        </p:txBody>
      </p:sp>
      <p:sp>
        <p:nvSpPr>
          <p:cNvPr id="19" name="Shape 14"/>
          <p:cNvSpPr/>
          <p:nvPr/>
        </p:nvSpPr>
        <p:spPr>
          <a:xfrm>
            <a:off x="50292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237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11.200 kVA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8580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SE#3 · instalados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transformadores exteriores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4899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56844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5" name="Text 20"/>
          <p:cNvSpPr/>
          <p:nvPr/>
        </p:nvSpPr>
        <p:spPr>
          <a:xfrm>
            <a:off x="353187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5.000 kVA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353187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SE#4 · instalados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transformadores TRMT-001 A/B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619506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41451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9" name="Text 24"/>
          <p:cNvSpPr/>
          <p:nvPr/>
        </p:nvSpPr>
        <p:spPr>
          <a:xfrm>
            <a:off x="637794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 + 25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637794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Tableros BT/CCM (SE#3) + celdas MT (SE#4)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9041130" y="4911429"/>
            <a:ext cx="264490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9260586" y="5094309"/>
            <a:ext cx="402336" cy="5029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3" name="Text 28"/>
          <p:cNvSpPr/>
          <p:nvPr/>
        </p:nvSpPr>
        <p:spPr>
          <a:xfrm>
            <a:off x="9224010" y="5158317"/>
            <a:ext cx="22791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· 16.200 kVA</a:t>
            </a:r>
            <a:endParaRPr lang="en-US" sz="2200" dirty="0"/>
          </a:p>
        </p:txBody>
      </p:sp>
      <p:sp>
        <p:nvSpPr>
          <p:cNvPr id="34" name="Text 29"/>
          <p:cNvSpPr/>
          <p:nvPr/>
        </p:nvSpPr>
        <p:spPr>
          <a:xfrm>
            <a:off x="9224010" y="5450925"/>
            <a:ext cx="2279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Transformadores de potencia totales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(fuera de las salas)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 + 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Tendido de cables y bandejas portacables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31490" y="1298448"/>
            <a:ext cx="5728716" cy="2889504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pic>
        <p:nvPicPr>
          <p:cNvPr id="9" name="Image 1" descr="/tmp/claude-0/-home-user-OWN-Daro-1/a5c78a85-7f37-586c-8f2d-662506f55282/scratchpad/graficas/assets/sala3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642" y="1371600"/>
            <a:ext cx="5582412" cy="274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4242816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Pasarela y bandejas portacables — vinculación elevada entre SE#3 y SE#4 (modelo 3D, ABB)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02920" y="461772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77240" y="478231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Cables a tender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77240" y="5038344"/>
            <a:ext cx="49057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146.546 m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777240" y="5532120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1.398 cables en total — Electricidad + Instrumentación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777240" y="5824728"/>
            <a:ext cx="4905756" cy="21945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824728"/>
            <a:ext cx="2719279" cy="21945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Shape 13"/>
          <p:cNvSpPr/>
          <p:nvPr/>
        </p:nvSpPr>
        <p:spPr>
          <a:xfrm>
            <a:off x="3496519" y="5824728"/>
            <a:ext cx="2186477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4"/>
          <p:cNvSpPr/>
          <p:nvPr/>
        </p:nvSpPr>
        <p:spPr>
          <a:xfrm>
            <a:off x="777240" y="6099048"/>
            <a:ext cx="2452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EL: 81.231 m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230118" y="6099048"/>
            <a:ext cx="2452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IN: 65.315 m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31636" y="4617720"/>
            <a:ext cx="545439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505956" y="4782312"/>
            <a:ext cx="4905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Bandejas portacables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05956" y="5038344"/>
            <a:ext cx="49057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94D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≈ 9.744 m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6505956" y="5532120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Tramos de bandeja escalera (6 m c/u) — pliego E&amp;I</a:t>
            </a:r>
            <a:endParaRPr lang="en-US" sz="870" dirty="0"/>
          </a:p>
        </p:txBody>
      </p:sp>
      <p:sp>
        <p:nvSpPr>
          <p:cNvPr id="24" name="Shape 20"/>
          <p:cNvSpPr/>
          <p:nvPr/>
        </p:nvSpPr>
        <p:spPr>
          <a:xfrm>
            <a:off x="6505956" y="5824728"/>
            <a:ext cx="4905756" cy="219456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/>
        </p:spPr>
      </p:sp>
      <p:sp>
        <p:nvSpPr>
          <p:cNvPr id="25" name="Shape 21"/>
          <p:cNvSpPr/>
          <p:nvPr/>
        </p:nvSpPr>
        <p:spPr>
          <a:xfrm>
            <a:off x="6505956" y="5824728"/>
            <a:ext cx="2498190" cy="21945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Shape 22"/>
          <p:cNvSpPr/>
          <p:nvPr/>
        </p:nvSpPr>
        <p:spPr>
          <a:xfrm>
            <a:off x="9004146" y="5824728"/>
            <a:ext cx="2407566" cy="219456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3"/>
          <p:cNvSpPr/>
          <p:nvPr/>
        </p:nvSpPr>
        <p:spPr>
          <a:xfrm>
            <a:off x="6505956" y="6099048"/>
            <a:ext cx="2452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EL: ≈ 4.962 m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8958834" y="6099048"/>
            <a:ext cx="245287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IN: ≈ 4.782 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ELECTRICIDAD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— PMS (ABB)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17320"/>
            <a:ext cx="11183112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58191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5819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ABB · PMS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10324" y="1965960"/>
            <a:ext cx="4368304" cy="30998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graficas/assets/arq_p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612" y="1984248"/>
            <a:ext cx="4331728" cy="30632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" y="5074920"/>
            <a:ext cx="10780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SCADA ELE/PMS — expansión CPF2, Salas Eléctricas #3/#4 (ABB, ACAL-100-PL-E-536)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502920" y="553212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22960" y="5660136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PMS es una ampliación del sistema existente en CPF-1 / CPF-1.5 — no es un sistema nuevo.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22960" y="5989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9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 integra al PCS/SCADA de Inauco vía Modbus TCP redundante y a las IEDs de protección vía IEC 61850.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961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0B0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INSTRUMENTACIÓN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149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26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Arquitecturas de sistemas — PCS/SCADA y SIS (HIMA)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863840" y="65105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CPF2 La Calera II · Vaca Muerta · Rev. 2 · 14-Ago-2026</a:t>
            </a:r>
            <a:endParaRPr lang="en-US" sz="900" dirty="0"/>
          </a:p>
        </p:txBody>
      </p:sp>
      <p:pic>
        <p:nvPicPr>
          <p:cNvPr id="5" name="Image 0" descr="/tmp/claude-0/-home-user-OWN-Daro-1/a5c78a85-7f37-586c-8f2d-662506f55282/scratchpad/graficas/assets/aes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0" y="292608"/>
            <a:ext cx="1024128" cy="5266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solidFill>
            <a:srgbClr val="0094D3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6547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463040"/>
            <a:ext cx="5431536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4088" y="16276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10" name="Text 7"/>
          <p:cNvSpPr/>
          <p:nvPr/>
        </p:nvSpPr>
        <p:spPr>
          <a:xfrm>
            <a:off x="704088" y="1627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INAUCO · PCS/SCADA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10921" y="2011680"/>
            <a:ext cx="5015534" cy="3557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pic>
        <p:nvPicPr>
          <p:cNvPr id="12" name="Image 1" descr="/tmp/claude-0/-home-user-OWN-Daro-1/a5c78a85-7f37-586c-8f2d-662506f55282/scratchpad/graficas/assets/arq_p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09" y="2029968"/>
            <a:ext cx="4978958" cy="3520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" y="5605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Arquitectura de sistemas PCS — Rockwell (Inauco, ACAL-100-PL-K-100)</a:t>
            </a:r>
            <a:endParaRPr lang="en-US" sz="830" dirty="0"/>
          </a:p>
        </p:txBody>
      </p:sp>
      <p:sp>
        <p:nvSpPr>
          <p:cNvPr id="14" name="Shape 10"/>
          <p:cNvSpPr/>
          <p:nvPr/>
        </p:nvSpPr>
        <p:spPr>
          <a:xfrm>
            <a:off x="6254496" y="1463040"/>
            <a:ext cx="5431536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55664" y="1627632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6A1B9A"/>
          </a:solidFill>
          <a:ln/>
        </p:spPr>
      </p:sp>
      <p:sp>
        <p:nvSpPr>
          <p:cNvPr id="16" name="Text 12"/>
          <p:cNvSpPr/>
          <p:nvPr/>
        </p:nvSpPr>
        <p:spPr>
          <a:xfrm>
            <a:off x="6455664" y="162763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HIMA · SIS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674251" y="2011680"/>
            <a:ext cx="4592025" cy="3557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pic>
        <p:nvPicPr>
          <p:cNvPr id="18" name="Image 2" descr="/tmp/claude-0/-home-user-OWN-Daro-1/a5c78a85-7f37-586c-8f2d-662506f55282/scratchpad/graficas/assets/arq_hi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2539" y="2029968"/>
            <a:ext cx="4555449" cy="35204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55664" y="5605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Network architecture CPF y CPF 1.5 — SIS (Inauco/HIMA, ACAL-100-PL-K-551)</a:t>
            </a:r>
            <a:endParaRPr lang="en-US" sz="830" dirty="0"/>
          </a:p>
        </p:txBody>
      </p:sp>
      <p:sp>
        <p:nvSpPr>
          <p:cNvPr id="20" name="Shape 15"/>
          <p:cNvSpPr/>
          <p:nvPr/>
        </p:nvSpPr>
        <p:spPr>
          <a:xfrm>
            <a:off x="502920" y="608076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005392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0B122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22960" y="619048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PCS/SCADA integra las 2 remotas nuevas (7A/7B). El SIS (HIMA) mantiene su plataforma Planar4 y amplía I/O en Shelter 7 — 3 tableros marshalling son alcance contractual AESA.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2026-08-14T13:48:41Z</dcterms:created>
  <dcterms:modified xsi:type="dcterms:W3CDTF">2026-08-14T13:48:41Z</dcterms:modified>
</cp:coreProperties>
</file>