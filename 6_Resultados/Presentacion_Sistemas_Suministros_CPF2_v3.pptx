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suministro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COMPRAS Y SUMINISTROS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Sistemas Críticos de Electricidad e Instrumentación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95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Magnitud, alcance contractual y camino crítico — CPF2 La Calera II · Vaca Muerta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3 · 25-Ago-2026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suministro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6188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6188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61888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61888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61888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estos sistemas son camino crítico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81912"/>
            <a:ext cx="38404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en Salas Eléctricas #3/#4 (ABB) — la mayor provisión física de Electricidad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1870" y="1581912"/>
            <a:ext cx="38404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351358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1.217 señales I/O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1358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Bajo control de Instrumentación — 330 en PCS/SCADA (Inauco) + 887 en SIS (HIMA)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77940" y="1581912"/>
            <a:ext cx="38404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965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proveedores únicos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5965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Inauco · HIMA — sin sustitutos calificados a esta altura del proyecto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24010" y="1581912"/>
            <a:ext cx="384048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2" name="Text 19"/>
          <p:cNvSpPr/>
          <p:nvPr/>
        </p:nvSpPr>
        <p:spPr>
          <a:xfrm>
            <a:off x="920572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 31-Ene-28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20572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524 días restantes — depende en cadena de estos 3 sistemas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502920" y="30632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00539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821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en cualquiera de los tres sistemas desplaza el RFSU del proyecto.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51129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PMS, PCS/SCADA y SIS son de fabricación e ingeniería especializada, con plazos de entrega largos y proveedores sin alternativa a esta etapa del contrato. Su cadena de FAT / iFAT es secuencial: un retraso de suministro en un eslabón consume directamente el margen hasta el arranque.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02920" y="4343400"/>
            <a:ext cx="1118311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58952" y="45079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significa esto para Suministros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58952" y="4928616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0" name="Text 27"/>
          <p:cNvSpPr/>
          <p:nvPr/>
        </p:nvSpPr>
        <p:spPr>
          <a:xfrm>
            <a:off x="941832" y="486460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Estos 3 sistemas concentran la mayor parte del valor y del riesgo de plazo de la provisión E&amp;I — su seguimiento debe ser semanal, no mensual.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758952" y="5312664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2" name="Text 29"/>
          <p:cNvSpPr/>
          <p:nvPr/>
        </p:nvSpPr>
        <p:spPr>
          <a:xfrm>
            <a:off x="941832" y="5248656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OC de estos sistemas lleva asociados hitos de ingeniería, FAT y montaje que no admiten reprogramación sin impacto directo en el RFSU.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58952" y="5696712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4" name="Text 31"/>
          <p:cNvSpPr/>
          <p:nvPr/>
        </p:nvSpPr>
        <p:spPr>
          <a:xfrm>
            <a:off x="941832" y="56327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diapositivas siguientes muestran la magnitud física, el alcance contractual exacto (qué compra/gestiona AESA vs. qué provee el cliente) y el estado actual de adjudicación de cada uno.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#3/#4 y PMS — la base de todo 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suministros/assets/sala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426464"/>
            <a:ext cx="3593592" cy="17647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07408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3" name="Image 2" descr="/tmp/claude-0/-home-user-OWN-Daro-1/a5c78a85-7f37-586c-8f2d-662506f55282/scratchpad/suministros/assets/sala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2272" y="1426464"/>
            <a:ext cx="3593592" cy="17647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35424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5" name="Text 10"/>
          <p:cNvSpPr/>
          <p:nvPr/>
        </p:nvSpPr>
        <p:spPr>
          <a:xfrm>
            <a:off x="4535424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37687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494776" y="1499616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94776" y="1874520"/>
            <a:ext cx="30111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total instalada · 8 transformadores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 tableros BT/CCM (SE#3) + celdas MT (SE#4)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8311896" y="2395728"/>
            <a:ext cx="3376879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76488" y="252374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8476488" y="25237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830" dirty="0"/>
          </a:p>
        </p:txBody>
      </p:sp>
      <p:sp>
        <p:nvSpPr>
          <p:cNvPr id="22" name="Text 17"/>
          <p:cNvSpPr/>
          <p:nvPr/>
        </p:nvSpPr>
        <p:spPr>
          <a:xfrm>
            <a:off x="8494776" y="2816352"/>
            <a:ext cx="3011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 Management System — gestión de energía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8494776" y="3044952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de la provisión ABB, junto con las salas. Supervisa 28 tableros y se integra al PCS/SCADA.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502920" y="333756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292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6751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6751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830" dirty="0"/>
          </a:p>
        </p:txBody>
      </p:sp>
      <p:sp>
        <p:nvSpPr>
          <p:cNvPr id="28" name="Shape 23"/>
          <p:cNvSpPr/>
          <p:nvPr/>
        </p:nvSpPr>
        <p:spPr>
          <a:xfrm>
            <a:off x="334899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51358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351358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830" dirty="0"/>
          </a:p>
        </p:txBody>
      </p:sp>
      <p:sp>
        <p:nvSpPr>
          <p:cNvPr id="31" name="Shape 26"/>
          <p:cNvSpPr/>
          <p:nvPr/>
        </p:nvSpPr>
        <p:spPr>
          <a:xfrm>
            <a:off x="619506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35965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· 25 celdas MT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35965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SE#3: 4.000 A / 65 kA · SE#4: 630 A / 25 kA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904113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20572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 kW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20572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 instalada SE#3 — motores, VFD, HVAC, UPS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502920" y="4901184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005392"/>
          </a:solidFill>
          <a:ln/>
        </p:spPr>
      </p:sp>
      <p:sp>
        <p:nvSpPr>
          <p:cNvPr id="38" name="Text 33"/>
          <p:cNvSpPr/>
          <p:nvPr/>
        </p:nvSpPr>
        <p:spPr>
          <a:xfrm>
            <a:off x="777240" y="50200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+ PMS se prueban juntos en fábrica antes de viajar a obra.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se integra al PCS/SCADA de Instrumentación vía Modbus TCP redundante — es la ampliación de un sistema ya instalado en CPF-1/CPF-1.5. Toda la provisión ABB (shelters, transformadores y PMS) debe superar su FAT en fábrica antes de la Entrega SE#3 (14-May-27), primer hito físico de la cadena crítica.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PROVISIÓN INAUCO / HIMA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y SIS — 1.217 señales bajo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1600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58952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nuevas (175 AI · 65 AO · 38 DI · 32 DO)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≈500 variables de equipos paquete vía Modbus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58952" y="3300984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923544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 — 2 remotas nuevas: 7A y 7B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58952" y="3611880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5800, red PRP redundante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58952" y="3922776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923544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a cargo de AESA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31636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1092" y="1600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1" name="Text 18"/>
          <p:cNvSpPr/>
          <p:nvPr/>
        </p:nvSpPr>
        <p:spPr>
          <a:xfrm>
            <a:off x="6451092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87668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487668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de seguridad (ESD 243 + PSS 644)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protegen personas, proceso y activos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487668" y="3300984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6652260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la plataforma Planar4 ya instalada — no es un sistema nuevo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487668" y="3611880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4"/>
          <p:cNvSpPr/>
          <p:nvPr/>
        </p:nvSpPr>
        <p:spPr>
          <a:xfrm>
            <a:off x="6652260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en Shelter 7 (provisión PPSA)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487668" y="3922776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6"/>
          <p:cNvSpPr/>
          <p:nvPr/>
        </p:nvSpPr>
        <p:spPr>
          <a:xfrm>
            <a:off x="6652260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— único alcance contractual de AESA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4681728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8006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Ninguno de los dos arranca sin el otro.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77240" y="512978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SIS (HIMA) protege personas y activos ante desvíos de proceso (ESD/F&amp;G/PSS); el PCS (Inauco) gobierna el proceso completo y recibe la señalización del PMS. Los tres sistemas — PMS, PCS y SIS — deben estar integrados y probados (iFAT) antes del RFSU.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· COMPRAS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compra y gestiona AESA vs. qué provee el cliente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0664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 — red PRP redundante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40664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remotas 7A/7B — suministro, montaje, cableado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40664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905256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E/S: 330 señales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40664" y="3163824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" y="310896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Inauco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667512" y="3511296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13816" y="3602736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32104" y="3950208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3" name="Text 20"/>
          <p:cNvSpPr/>
          <p:nvPr/>
        </p:nvSpPr>
        <p:spPr>
          <a:xfrm>
            <a:off x="996696" y="3895344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CPU Rockwell ControlLogix 1756-A13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32104" y="4261104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" y="4206240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(Inauco)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7512" y="4709160"/>
            <a:ext cx="5125212" cy="694944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782312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95528" y="4965192"/>
            <a:ext cx="4887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SCADA debe adecuarse/reconfigurarse (pantallas ESD/F&amp;G/PSS, matriz C&amp;E, tags Remota 7) — alcance a confirmar con Inauco.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6231636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32804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6432804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51092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469380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6633972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(ESD/F&amp;G · PSS 07A · PSS 07B)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6469380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633972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de campo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6469380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6633972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HIMA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6396228" y="3218688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542532" y="3310128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560820" y="3657600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25412" y="3602736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 — plataforma Planar4 (existente)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560820" y="3968496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4" name="Text 41"/>
          <p:cNvSpPr/>
          <p:nvPr/>
        </p:nvSpPr>
        <p:spPr>
          <a:xfrm>
            <a:off x="6725412" y="3913632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ESD/PSS/USS (Shelter 7)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96228" y="4416552"/>
            <a:ext cx="5125212" cy="987552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24244" y="4489704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524244" y="4672584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reajuste de hardware y software HIMA no estaba en el alcance original — AESA debe asumirlo. A validar contractualmente contra el pliego vigente.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CRÍTICO — ABB, INAUCO E HIMA DESDE EL INICIO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cadena de hitos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91640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1819656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+ PMS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819656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18–22-May-26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 rot="5400000">
            <a:off x="38618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5" name="Shape 12"/>
          <p:cNvSpPr/>
          <p:nvPr/>
        </p:nvSpPr>
        <p:spPr>
          <a:xfrm>
            <a:off x="3989832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89832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4"/>
          <p:cNvSpPr/>
          <p:nvPr/>
        </p:nvSpPr>
        <p:spPr>
          <a:xfrm>
            <a:off x="4117848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ABB — Salas + PMS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(fábrica, antes de embarque)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4117848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 rot="5400000">
            <a:off x="6160008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8024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88024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416040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SE#3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6416040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02920" y="27249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2724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691640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91640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5"/>
          <p:cNvSpPr/>
          <p:nvPr/>
        </p:nvSpPr>
        <p:spPr>
          <a:xfrm>
            <a:off x="1819656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1819656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23-Jul-26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 rot="5400000">
            <a:off x="38618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1" name="Shape 28"/>
          <p:cNvSpPr/>
          <p:nvPr/>
        </p:nvSpPr>
        <p:spPr>
          <a:xfrm>
            <a:off x="3989832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989832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0"/>
          <p:cNvSpPr/>
          <p:nvPr/>
        </p:nvSpPr>
        <p:spPr>
          <a:xfrm>
            <a:off x="4117848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PCS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(fábrica)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4117848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02920" y="36941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6941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691640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691640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819656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1819656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03-Jul-26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 rot="5400000">
            <a:off x="38618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9832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989832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1"/>
          <p:cNvSpPr/>
          <p:nvPr/>
        </p:nvSpPr>
        <p:spPr>
          <a:xfrm>
            <a:off x="4117848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45" name="Text 42"/>
          <p:cNvSpPr/>
          <p:nvPr/>
        </p:nvSpPr>
        <p:spPr>
          <a:xfrm>
            <a:off x="4117848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8439912" y="1901952"/>
            <a:ext cx="16459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5400000">
            <a:off x="85862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5"/>
          <p:cNvSpPr/>
          <p:nvPr/>
        </p:nvSpPr>
        <p:spPr>
          <a:xfrm>
            <a:off x="6141720" y="2871216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rot="5400000">
            <a:off x="85862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0" name="Shape 47"/>
          <p:cNvSpPr/>
          <p:nvPr/>
        </p:nvSpPr>
        <p:spPr>
          <a:xfrm>
            <a:off x="6141720" y="3840480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5400000">
            <a:off x="85862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2" name="Shape 49"/>
          <p:cNvSpPr/>
          <p:nvPr/>
        </p:nvSpPr>
        <p:spPr>
          <a:xfrm>
            <a:off x="8732520" y="1481328"/>
            <a:ext cx="1417320" cy="2779776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732520" y="1481328"/>
            <a:ext cx="1417320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4" name="Text 51"/>
          <p:cNvSpPr/>
          <p:nvPr/>
        </p:nvSpPr>
        <p:spPr>
          <a:xfrm>
            <a:off x="8860536" y="1645920"/>
            <a:ext cx="11612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8860536" y="3803904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14-Jul-27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 rot="5400000">
            <a:off x="10168128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7" name="Shape 54"/>
          <p:cNvSpPr/>
          <p:nvPr/>
        </p:nvSpPr>
        <p:spPr>
          <a:xfrm>
            <a:off x="10351008" y="1481328"/>
            <a:ext cx="1335024" cy="2779776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10351008" y="1481328"/>
            <a:ext cx="1335024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9" name="Text 56"/>
          <p:cNvSpPr/>
          <p:nvPr/>
        </p:nvSpPr>
        <p:spPr>
          <a:xfrm>
            <a:off x="10442448" y="170078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10442448" y="380390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02920" y="4489704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62" name="Text 59"/>
          <p:cNvSpPr/>
          <p:nvPr/>
        </p:nvSpPr>
        <p:spPr>
          <a:xfrm>
            <a:off x="777240" y="46085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tres proveedores están en la cadena crítica desde su OC — no solo en el tramo final.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777240" y="49377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de ABB, Inauco o HIMA en cualquier etapa (OC, FAT en fábrica o entrega en obra) consume directamente el margen hasta el RFSU (31-Ene-28, a ≈524 días de hoy). El seguimiento de estas OC debe priorizarse por sobre otras provisiones de menor impacto en la fecha de arranque.</a:t>
            </a:r>
            <a:endParaRPr lang="en-US" sz="960" dirty="0"/>
          </a:p>
        </p:txBody>
      </p:sp>
      <p:sp>
        <p:nvSpPr>
          <p:cNvPr id="64" name="Text 61"/>
          <p:cNvSpPr/>
          <p:nvPr/>
        </p:nvSpPr>
        <p:spPr>
          <a:xfrm>
            <a:off x="502920" y="5468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Columnas = orden secuencial por etapa (no a escala de calendario). Fechas según Cronograma Integrado CPF2 Rev2 (06-08-2026) y tablero de suministros Rev5,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(ABB)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5039" y="2002536"/>
            <a:ext cx="4810157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ms_exist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9" y="2002536"/>
            <a:ext cx="4810157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SCADA ELE/PMS actual — CPF-1/CPF-1.5 (ABB, ACAL-100-PL-E-537)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31636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600200"/>
            <a:ext cx="2633472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2"/>
          <p:cNvSpPr/>
          <p:nvPr/>
        </p:nvSpPr>
        <p:spPr>
          <a:xfrm>
            <a:off x="6432804" y="16002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AMPLIACIÓN CPF2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53755" y="2002536"/>
            <a:ext cx="4810157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suministros/assets/arq_p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755" y="2002536"/>
            <a:ext cx="4810157" cy="3401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7668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a Salas Eléctricas #3/#4 (ABB, ACAL-100-PL-E-536)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ampliación mantiene los mismos criterios de redes y redundancia del sistema existente — se agregan los tableros de control de las Salas #3/#4 e integración PROFINET/Modbus TCP con el SCADA de Instrumentación.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(Inauco)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4699" y="2002536"/>
            <a:ext cx="481083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99" y="2002536"/>
            <a:ext cx="4810838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PCS actual — Shelters CPU, Remotas #2 a #5, Generación (Inauco, ACAL-100-PL-K-100)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31636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600200"/>
            <a:ext cx="3401568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6" name="Text 12"/>
          <p:cNvSpPr/>
          <p:nvPr/>
        </p:nvSpPr>
        <p:spPr>
          <a:xfrm>
            <a:off x="6432804" y="160020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AMPLIACIÓN — REMOTA 7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53075" y="2002536"/>
            <a:ext cx="481151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suministros/assets/arq_pcs_ampliac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5" y="2002536"/>
            <a:ext cx="4811518" cy="3401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7668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de Remotas 7A/7B a la red existente, junto a Remota #6 (Inauco, ACAL-100-PL-K-100)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ampliación conecta las 2 remotas nuevas (7A/7B) al mismo anillo PRP y backbone Stratix 5800 del sistema existente — no se reemplaza infraestructura, se extiende.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(HIMA)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69037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3273552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 · referencia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3966" y="2002536"/>
            <a:ext cx="4401629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hi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966" y="2002536"/>
            <a:ext cx="4401629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6391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architecture CPF y CPF 1.5 — SIS (Inauco/HIMA, ACAL-100-PL-K-551)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7680960" y="1417320"/>
            <a:ext cx="4005072" cy="42976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900416" y="1563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agrega la ampliación (Shelter 7)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00416" y="1929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Redes HIMA — ESD/F&amp;G/PSS/USS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00416" y="2185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HIMA Planar4 (sin cambios)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7900416" y="2496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I/O ESD/F&amp;G + I/O PSS en Shelter 7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7900416" y="3087624"/>
            <a:ext cx="356616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00416" y="3179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 OPC ↔ SCADA de Instrumentación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00416" y="3435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Vínculo OPC con plataforma HIMA</a:t>
            </a:r>
            <a:endParaRPr lang="en-US" sz="870" dirty="0"/>
          </a:p>
        </p:txBody>
      </p:sp>
      <p:sp>
        <p:nvSpPr>
          <p:cNvPr id="22" name="Text 18"/>
          <p:cNvSpPr/>
          <p:nvPr/>
        </p:nvSpPr>
        <p:spPr>
          <a:xfrm>
            <a:off x="7900416" y="3745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Tags de Shelter 7 (ESD, F&amp;G, PSS, USS)</a:t>
            </a:r>
            <a:endParaRPr lang="en-US" sz="870" dirty="0"/>
          </a:p>
        </p:txBody>
      </p:sp>
      <p:sp>
        <p:nvSpPr>
          <p:cNvPr id="23" name="Shape 19"/>
          <p:cNvSpPr/>
          <p:nvPr/>
        </p:nvSpPr>
        <p:spPr>
          <a:xfrm>
            <a:off x="7900416" y="4337304"/>
            <a:ext cx="356616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0416" y="4428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SCADA SIS — pantallas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900416" y="4684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Pantallas operativas CPF 1 / 1.5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7900416" y="4995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Pantallas ESD/F&amp;G/PSS Shelter 7 + matriz C&amp;E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plataforma HIMA Planar4 se mantiene sin cambios — la ampliación agrega I/O y pantallas para el nuevo Shelter 7, sin reemplazar el sistema existente.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VISTA POR PROVISIÓN · 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integrado — convergencia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3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65960" y="2267712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9" name="Shape 6"/>
          <p:cNvSpPr/>
          <p:nvPr/>
        </p:nvSpPr>
        <p:spPr>
          <a:xfrm>
            <a:off x="1965960" y="3767328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1965960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0969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5978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10987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25996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1005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56014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71023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 rot="19500000">
            <a:off x="167335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May'26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37096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 rot="19500000">
            <a:off x="207835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Jun'26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75966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 rot="19500000">
            <a:off x="248335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Jul'26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 rot="19500000">
            <a:off x="288836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Ago'26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58597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19500000">
            <a:off x="329336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Sep'26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990975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 rot="19500000">
            <a:off x="369836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Oct'26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 rot="19500000">
            <a:off x="410337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Nov'26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80098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 rot="19500000">
            <a:off x="450837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Dic'26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5205984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 rot="19500000">
            <a:off x="491337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Ene'27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 rot="19500000">
            <a:off x="531837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Feb'27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01599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 rot="19500000">
            <a:off x="572338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Mar'27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2099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 rot="19500000">
            <a:off x="612838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Abr'27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 rot="19500000">
            <a:off x="653338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May'27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230999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 rot="19500000">
            <a:off x="693839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Jun'27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63600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 rot="19500000">
            <a:off x="734339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Jul'27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 rot="19500000">
            <a:off x="774839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Ago'27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446008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 rot="19500000">
            <a:off x="815340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Sep'27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885101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 rot="19500000">
            <a:off x="855840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Oct'27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 rot="19500000">
            <a:off x="896340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Nov'27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9661017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 rot="19500000">
            <a:off x="936840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Dic'27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1006602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 rot="19500000">
            <a:off x="977341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Ene'28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 rot="19500000">
            <a:off x="1017841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Feb'28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57200" y="15179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57200" y="226771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57200" y="30175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3767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45171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2816466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1" name="Shape 58"/>
          <p:cNvSpPr/>
          <p:nvPr/>
        </p:nvSpPr>
        <p:spPr>
          <a:xfrm>
            <a:off x="4760481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2" name="Shape 59"/>
          <p:cNvSpPr/>
          <p:nvPr/>
        </p:nvSpPr>
        <p:spPr>
          <a:xfrm>
            <a:off x="6704495" y="172364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3" name="Shape 60"/>
          <p:cNvSpPr/>
          <p:nvPr/>
        </p:nvSpPr>
        <p:spPr>
          <a:xfrm>
            <a:off x="7328344" y="174193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27661" y="19705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2816466" y="2473452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6" name="Shape 63"/>
          <p:cNvSpPr/>
          <p:nvPr/>
        </p:nvSpPr>
        <p:spPr>
          <a:xfrm>
            <a:off x="5489486" y="2473452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7" name="Shape 64"/>
          <p:cNvSpPr/>
          <p:nvPr/>
        </p:nvSpPr>
        <p:spPr>
          <a:xfrm>
            <a:off x="6599339" y="2491740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98655" y="27203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059468" y="3223260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0" name="Shape 67"/>
          <p:cNvSpPr/>
          <p:nvPr/>
        </p:nvSpPr>
        <p:spPr>
          <a:xfrm>
            <a:off x="6704495" y="32232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1" name="Shape 68"/>
          <p:cNvSpPr/>
          <p:nvPr/>
        </p:nvSpPr>
        <p:spPr>
          <a:xfrm>
            <a:off x="7190499" y="32232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7085343" y="3241548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84659" y="3470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730" dirty="0"/>
          </a:p>
        </p:txBody>
      </p:sp>
      <p:sp>
        <p:nvSpPr>
          <p:cNvPr id="74" name="Shape 71"/>
          <p:cNvSpPr/>
          <p:nvPr/>
        </p:nvSpPr>
        <p:spPr>
          <a:xfrm>
            <a:off x="3059468" y="3973068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5" name="Shape 72"/>
          <p:cNvSpPr/>
          <p:nvPr/>
        </p:nvSpPr>
        <p:spPr>
          <a:xfrm>
            <a:off x="5262829" y="3991356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362145" y="42199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730" dirty="0"/>
          </a:p>
        </p:txBody>
      </p:sp>
      <p:sp>
        <p:nvSpPr>
          <p:cNvPr id="77" name="Shape 74"/>
          <p:cNvSpPr/>
          <p:nvPr/>
        </p:nvSpPr>
        <p:spPr>
          <a:xfrm>
            <a:off x="5367985" y="3973068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6704495" y="397306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9" name="Shape 76"/>
          <p:cNvSpPr/>
          <p:nvPr/>
        </p:nvSpPr>
        <p:spPr>
          <a:xfrm>
            <a:off x="7190499" y="397306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190499" y="4722876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8057350" y="4741164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1020406" y="4727448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087718" y="4983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76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760" dirty="0"/>
          </a:p>
        </p:txBody>
      </p:sp>
      <p:sp>
        <p:nvSpPr>
          <p:cNvPr id="84" name="Text 81"/>
          <p:cNvSpPr/>
          <p:nvPr/>
        </p:nvSpPr>
        <p:spPr>
          <a:xfrm>
            <a:off x="6973786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7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433501" y="1847088"/>
            <a:ext cx="729005" cy="297180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704495" y="2596896"/>
            <a:ext cx="1458011" cy="222199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7190499" y="3346704"/>
            <a:ext cx="972007" cy="14721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7190499" y="4096512"/>
            <a:ext cx="972007" cy="72237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9" name="Text 86"/>
          <p:cNvSpPr/>
          <p:nvPr/>
        </p:nvSpPr>
        <p:spPr>
          <a:xfrm>
            <a:off x="502920" y="5349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HITOS PRINCIPALES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1965960" y="5678424"/>
            <a:ext cx="9720072" cy="0"/>
          </a:xfrm>
          <a:prstGeom prst="line">
            <a:avLst/>
          </a:prstGeom>
          <a:noFill/>
          <a:ln w="19050">
            <a:solidFill>
              <a:srgbClr val="C7D0D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99405" y="5609844"/>
            <a:ext cx="137160" cy="137160"/>
          </a:xfrm>
          <a:prstGeom prst="diamond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682185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690" dirty="0"/>
          </a:p>
        </p:txBody>
      </p:sp>
      <p:sp>
        <p:nvSpPr>
          <p:cNvPr id="93" name="Shape 90"/>
          <p:cNvSpPr/>
          <p:nvPr/>
        </p:nvSpPr>
        <p:spPr>
          <a:xfrm>
            <a:off x="6635915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018695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690" dirty="0"/>
          </a:p>
        </p:txBody>
      </p:sp>
      <p:sp>
        <p:nvSpPr>
          <p:cNvPr id="95" name="Shape 92"/>
          <p:cNvSpPr/>
          <p:nvPr/>
        </p:nvSpPr>
        <p:spPr>
          <a:xfrm>
            <a:off x="7121919" y="5609844"/>
            <a:ext cx="137160" cy="137160"/>
          </a:xfrm>
          <a:prstGeom prst="diamond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504699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690" dirty="0"/>
          </a:p>
        </p:txBody>
      </p:sp>
      <p:sp>
        <p:nvSpPr>
          <p:cNvPr id="97" name="Shape 94"/>
          <p:cNvSpPr/>
          <p:nvPr/>
        </p:nvSpPr>
        <p:spPr>
          <a:xfrm>
            <a:off x="7364921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747701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690" dirty="0"/>
          </a:p>
        </p:txBody>
      </p:sp>
      <p:sp>
        <p:nvSpPr>
          <p:cNvPr id="99" name="Shape 96"/>
          <p:cNvSpPr/>
          <p:nvPr/>
        </p:nvSpPr>
        <p:spPr>
          <a:xfrm>
            <a:off x="8093926" y="5609844"/>
            <a:ext cx="137160" cy="137160"/>
          </a:xfrm>
          <a:prstGeom prst="diamond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476706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25-Jun→14-Jul-27</a:t>
            </a:r>
            <a:endParaRPr lang="en-US" sz="690" dirty="0"/>
          </a:p>
        </p:txBody>
      </p:sp>
      <p:sp>
        <p:nvSpPr>
          <p:cNvPr id="101" name="Shape 98"/>
          <p:cNvSpPr/>
          <p:nvPr/>
        </p:nvSpPr>
        <p:spPr>
          <a:xfrm>
            <a:off x="11047838" y="5586984"/>
            <a:ext cx="182880" cy="182880"/>
          </a:xfrm>
          <a:prstGeom prst="star5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453478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690" dirty="0"/>
          </a:p>
        </p:txBody>
      </p:sp>
      <p:sp>
        <p:nvSpPr>
          <p:cNvPr id="103" name="Shape 100"/>
          <p:cNvSpPr/>
          <p:nvPr/>
        </p:nvSpPr>
        <p:spPr>
          <a:xfrm>
            <a:off x="502920" y="640994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4" name="Text 101"/>
          <p:cNvSpPr/>
          <p:nvPr/>
        </p:nvSpPr>
        <p:spPr>
          <a:xfrm>
            <a:off x="6858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1874520" y="6409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6" name="Text 103"/>
          <p:cNvSpPr/>
          <p:nvPr/>
        </p:nvSpPr>
        <p:spPr>
          <a:xfrm>
            <a:off x="20574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3246120" y="640994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08" name="Text 105"/>
          <p:cNvSpPr/>
          <p:nvPr/>
        </p:nvSpPr>
        <p:spPr>
          <a:xfrm>
            <a:off x="34290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4617720" y="640994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0" name="Text 107"/>
          <p:cNvSpPr/>
          <p:nvPr/>
        </p:nvSpPr>
        <p:spPr>
          <a:xfrm>
            <a:off x="48006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5943600" y="63825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2026-08-25T22:54:32Z</dcterms:created>
  <dcterms:modified xsi:type="dcterms:W3CDTF">2026-08-25T22:54:32Z</dcterms:modified>
</cp:coreProperties>
</file>