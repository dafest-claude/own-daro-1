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Potencia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282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5C6B7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1565C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C450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46E7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C9922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E5737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Motores</c:v>
                </c:pt>
                <c:pt idx="1">
                  <c:v>Tableros SS.AA. / HVAC</c:v>
                </c:pt>
                <c:pt idx="2">
                  <c:v>Equipos generales (skids)</c:v>
                </c:pt>
                <c:pt idx="3">
                  <c:v>Calentadores eléctricos</c:v>
                </c:pt>
                <c:pt idx="4">
                  <c:v>SAI / UPS</c:v>
                </c:pt>
                <c:pt idx="5">
                  <c:v>Tracing (calefacción)</c:v>
                </c:pt>
                <c:pt idx="6">
                  <c:v>Iluminación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4426.7</c:v>
                </c:pt>
                <c:pt idx="1">
                  <c:v>710</c:v>
                </c:pt>
                <c:pt idx="2">
                  <c:v>508.6</c:v>
                </c:pt>
                <c:pt idx="3">
                  <c:v>260</c:v>
                </c:pt>
                <c:pt idx="4">
                  <c:v>150</c:v>
                </c:pt>
                <c:pt idx="5">
                  <c:v>150</c:v>
                </c:pt>
                <c:pt idx="6">
                  <c:v>120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Metros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Potencia MT
6,6/13,2 kV</c:v>
                  </c:pt>
                  <c:pt idx="1">
                    <c:v>Potencia BT
(todas las secciones)</c:v>
                  </c:pt>
                  <c:pt idx="2">
                    <c:v>Control y
señales</c:v>
                  </c:pt>
                  <c:pt idx="3">
                    <c:v>Fibra óptica
red PMS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2110</c:v>
                </c:pt>
                <c:pt idx="1">
                  <c:v>50595</c:v>
                </c:pt>
                <c:pt idx="2">
                  <c:v>28126</c:v>
                </c:pt>
                <c:pt idx="3">
                  <c:v>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Instrumentos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8BC98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546E7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C9922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Compra AESA (contractual)</c:v>
                </c:pt>
                <c:pt idx="1">
                  <c:v>Paquete PPSA — montaje AESA (contractual)</c:v>
                </c:pt>
                <c:pt idx="2">
                  <c:v>Paquete PPSA — premontado (fuera de alcance)</c:v>
                </c:pt>
                <c:pt idx="3">
                  <c:v>Existentes (a definir)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897</c:v>
                </c:pt>
                <c:pt idx="1">
                  <c:v>266</c:v>
                </c:pt>
                <c:pt idx="2">
                  <c:v>1628</c:v>
                </c:pt>
                <c:pt idx="3">
                  <c:v>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Metros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3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Pares simples
(1P, analógicos)</c:v>
                  </c:pt>
                  <c:pt idx="1">
                    <c:v>Multipares
(4P–24P)</c:v>
                  </c:pt>
                  <c:pt idx="2">
                    <c:v>Ternas
(1T, 8T)</c:v>
                  </c:pt>
                  <c:pt idx="3">
                    <c:v>Pares dobles
(2P)</c:v>
                  </c:pt>
                  <c:pt idx="4">
                    <c:v>Fibra óptica
/ FTP</c:v>
                  </c:pt>
                  <c:pt idx="5">
                    <c:v>Otras
formaciones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13980</c:v>
                </c:pt>
                <c:pt idx="1">
                  <c:v>24170</c:v>
                </c:pt>
                <c:pt idx="2">
                  <c:v>5155</c:v>
                </c:pt>
                <c:pt idx="3">
                  <c:v>2145</c:v>
                </c:pt>
                <c:pt idx="4">
                  <c:v>3300</c:v>
                </c:pt>
                <c:pt idx="5">
                  <c:v>16565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3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7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WN-Daro-1/a5c78a85-7f37-586c-8f2d-662506f55282/scratchpad/deck/assets/aesa_cover_b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34840"/>
            <a:ext cx="12191695" cy="2423160"/>
          </a:xfrm>
          <a:prstGeom prst="rect">
            <a:avLst/>
          </a:prstGeom>
          <a:solidFill>
            <a:srgbClr val="005392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379976"/>
            <a:ext cx="12191695" cy="54864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617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PRESENTACIÓN GERENCIAL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85800" y="49103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de Electricidad e Instrumentación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85800" y="54772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0" y="54955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EDF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Rev. 5 · 14-Ago-2026</a:t>
            </a:r>
            <a:endParaRPr lang="en-US" sz="1050" dirty="0"/>
          </a:p>
        </p:txBody>
      </p:sp>
      <p:pic>
        <p:nvPicPr>
          <p:cNvPr id="9" name="Image 1" descr="/tmp/claude-0/-home-user-OWN-Daro-1/a5c78a85-7f37-586c-8f2d-662506f55282/scratchpad/deck/assets/aesa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234440" cy="63459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5943600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5870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103120" y="5943600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9"/>
          <p:cNvSpPr/>
          <p:nvPr/>
        </p:nvSpPr>
        <p:spPr>
          <a:xfrm>
            <a:off x="2286000" y="5870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520440" y="5943600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5" name="Text 11"/>
          <p:cNvSpPr/>
          <p:nvPr/>
        </p:nvSpPr>
        <p:spPr>
          <a:xfrm>
            <a:off x="3703320" y="5870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37760" y="5943600"/>
            <a:ext cx="128016" cy="128016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17" name="Text 13"/>
          <p:cNvSpPr/>
          <p:nvPr/>
        </p:nvSpPr>
        <p:spPr>
          <a:xfrm>
            <a:off x="5120640" y="5870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PPSA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355080" y="5943600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5"/>
          <p:cNvSpPr/>
          <p:nvPr/>
        </p:nvSpPr>
        <p:spPr>
          <a:xfrm>
            <a:off x="6537960" y="5870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FÍSICO E&amp;I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Resumen ejecutivo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5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Volumen físico de suministro y montaje de Electricidad e Instrumentación, según ingeniería de detalle, esquema unifilar (ACAL-00100-EE-E-0001) y listados de equipos ABB/AESA. Cifras indicativas, en revisión por ingeniería.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111831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1719072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 ABB — potencia instalada y equipamiento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7240" y="206654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0665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 · BT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874520" y="2029968"/>
            <a:ext cx="4082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 Eléctrica #3 — Baja Tensión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7240" y="2414016"/>
            <a:ext cx="5180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11.200 kVA  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instalados — 6 transformadores exteriores (2×1.600 + 2×2.000 + 2×2.000 kVA)</a:t>
            </a:r>
            <a:endParaRPr lang="en-US" sz="1030" dirty="0"/>
          </a:p>
        </p:txBody>
      </p:sp>
      <p:sp>
        <p:nvSpPr>
          <p:cNvPr id="15" name="Text 12"/>
          <p:cNvSpPr/>
          <p:nvPr/>
        </p:nvSpPr>
        <p:spPr>
          <a:xfrm>
            <a:off x="777240" y="2743200"/>
            <a:ext cx="5180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Equipamiento: 3 CCM (102-CCM-005/006/007) · 2 UPS · ≈9 tableros de distribución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6231636" y="206654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7" name="Text 14"/>
          <p:cNvSpPr/>
          <p:nvPr/>
        </p:nvSpPr>
        <p:spPr>
          <a:xfrm>
            <a:off x="6231636" y="20665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SE#4 · MT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328916" y="2029968"/>
            <a:ext cx="4082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 Eléctrica #4 — Media Tensión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231636" y="2414016"/>
            <a:ext cx="5180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5.000 kVA  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instalados — 2 transformadores TRMT-001 A/B exteriores (2.500 kVA c/u)</a:t>
            </a:r>
            <a:endParaRPr lang="en-US" sz="1030" dirty="0"/>
          </a:p>
        </p:txBody>
      </p:sp>
      <p:sp>
        <p:nvSpPr>
          <p:cNvPr id="20" name="Text 17"/>
          <p:cNvSpPr/>
          <p:nvPr/>
        </p:nvSpPr>
        <p:spPr>
          <a:xfrm>
            <a:off x="6231636" y="2743200"/>
            <a:ext cx="5180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Equipamiento: 25 celdas MT (TGMT-001: 15 + TGMT-002: 10) · 1 UPS · ≈4 tableros</a:t>
            </a:r>
            <a:endParaRPr lang="en-US" sz="1030" dirty="0"/>
          </a:p>
        </p:txBody>
      </p:sp>
      <p:sp>
        <p:nvSpPr>
          <p:cNvPr id="21" name="Shape 18"/>
          <p:cNvSpPr/>
          <p:nvPr/>
        </p:nvSpPr>
        <p:spPr>
          <a:xfrm>
            <a:off x="6094476" y="2029968"/>
            <a:ext cx="0" cy="96926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32841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85800" y="3474720"/>
            <a:ext cx="384048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Text 21"/>
          <p:cNvSpPr/>
          <p:nvPr/>
        </p:nvSpPr>
        <p:spPr>
          <a:xfrm>
            <a:off x="667512" y="351129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667512" y="398678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Transformadores de potencia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activos + 4 en reserva · 16.200 kVA instalados (fuera de las salas)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3348990" y="3328416"/>
            <a:ext cx="2644902" cy="1298448"/>
          </a:xfrm>
          <a:prstGeom prst="roundRect">
            <a:avLst>
              <a:gd name="adj" fmla="val 4225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3531870" y="3474720"/>
            <a:ext cx="384048" cy="4572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8" name="Text 25"/>
          <p:cNvSpPr/>
          <p:nvPr/>
        </p:nvSpPr>
        <p:spPr>
          <a:xfrm>
            <a:off x="3513582" y="351129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× 1.500 kW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3513582" y="398678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Motogeneradores G10 / G11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Ampliación planta de generación (área 670) — Provisión PPSA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6195060" y="332841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377940" y="3474720"/>
            <a:ext cx="384048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2" name="Text 29"/>
          <p:cNvSpPr/>
          <p:nvPr/>
        </p:nvSpPr>
        <p:spPr>
          <a:xfrm>
            <a:off x="6359652" y="351129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243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6359652" y="398678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Cargas eléctricas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79 motores · 6 variadores · resto instrumentos, SS.AA., iluminación, control y calefacción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9041130" y="332841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9224010" y="3474720"/>
            <a:ext cx="384048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6" name="Text 33"/>
          <p:cNvSpPr/>
          <p:nvPr/>
        </p:nvSpPr>
        <p:spPr>
          <a:xfrm>
            <a:off x="9205722" y="351129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513 / 81.231 m</a:t>
            </a:r>
            <a:endParaRPr lang="en-US" sz="1900" dirty="0"/>
          </a:p>
        </p:txBody>
      </p:sp>
      <p:sp>
        <p:nvSpPr>
          <p:cNvPr id="37" name="Text 34"/>
          <p:cNvSpPr/>
          <p:nvPr/>
        </p:nvSpPr>
        <p:spPr>
          <a:xfrm>
            <a:off x="9205722" y="398678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Cables eléctricos a tender y conectar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Potencia MT/BT, control y señales, fibra óptica</a:t>
            </a:r>
            <a:endParaRPr lang="en-US" sz="860" dirty="0"/>
          </a:p>
        </p:txBody>
      </p:sp>
      <p:sp>
        <p:nvSpPr>
          <p:cNvPr id="38" name="Shape 35"/>
          <p:cNvSpPr/>
          <p:nvPr/>
        </p:nvSpPr>
        <p:spPr>
          <a:xfrm>
            <a:off x="502920" y="479145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85800" y="4937760"/>
            <a:ext cx="384048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0" name="Text 37"/>
          <p:cNvSpPr/>
          <p:nvPr/>
        </p:nvSpPr>
        <p:spPr>
          <a:xfrm>
            <a:off x="667512" y="497433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2.798</a:t>
            </a:r>
            <a:endParaRPr lang="en-US" sz="1900" dirty="0"/>
          </a:p>
        </p:txBody>
      </p:sp>
      <p:sp>
        <p:nvSpPr>
          <p:cNvPr id="41" name="Text 38"/>
          <p:cNvSpPr/>
          <p:nvPr/>
        </p:nvSpPr>
        <p:spPr>
          <a:xfrm>
            <a:off x="667512" y="544982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Instrumentos a instalar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897 compra AESA · 1.894 vendor/equipos paquete (PPSA) · 7 existentes</a:t>
            </a:r>
            <a:endParaRPr lang="en-US" sz="860" dirty="0"/>
          </a:p>
        </p:txBody>
      </p:sp>
      <p:sp>
        <p:nvSpPr>
          <p:cNvPr id="42" name="Shape 39"/>
          <p:cNvSpPr/>
          <p:nvPr/>
        </p:nvSpPr>
        <p:spPr>
          <a:xfrm>
            <a:off x="3348990" y="479145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3531870" y="4937760"/>
            <a:ext cx="384048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4" name="Text 41"/>
          <p:cNvSpPr/>
          <p:nvPr/>
        </p:nvSpPr>
        <p:spPr>
          <a:xfrm>
            <a:off x="3513582" y="497433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885 / 65.315 m</a:t>
            </a:r>
            <a:endParaRPr lang="en-US" sz="1900" dirty="0"/>
          </a:p>
        </p:txBody>
      </p:sp>
      <p:sp>
        <p:nvSpPr>
          <p:cNvPr id="45" name="Text 42"/>
          <p:cNvSpPr/>
          <p:nvPr/>
        </p:nvSpPr>
        <p:spPr>
          <a:xfrm>
            <a:off x="3513582" y="544982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Cables de instrumentación a comprar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15.752 puntas de conexión</a:t>
            </a:r>
            <a:endParaRPr lang="en-US" sz="860" dirty="0"/>
          </a:p>
        </p:txBody>
      </p:sp>
      <p:sp>
        <p:nvSpPr>
          <p:cNvPr id="46" name="Shape 43"/>
          <p:cNvSpPr/>
          <p:nvPr/>
        </p:nvSpPr>
        <p:spPr>
          <a:xfrm>
            <a:off x="6195060" y="479145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377940" y="4937760"/>
            <a:ext cx="384048" cy="457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8" name="Text 45"/>
          <p:cNvSpPr/>
          <p:nvPr/>
        </p:nvSpPr>
        <p:spPr>
          <a:xfrm>
            <a:off x="6359652" y="497433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≈ 80</a:t>
            </a:r>
            <a:endParaRPr lang="en-US" sz="1900" dirty="0"/>
          </a:p>
        </p:txBody>
      </p:sp>
      <p:sp>
        <p:nvSpPr>
          <p:cNvPr id="49" name="Text 46"/>
          <p:cNvSpPr/>
          <p:nvPr/>
        </p:nvSpPr>
        <p:spPr>
          <a:xfrm>
            <a:off x="6359652" y="544982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Cajas de interconexionado (JB)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 · PSS · F&amp;G · ESD · USS</a:t>
            </a:r>
            <a:endParaRPr lang="en-US" sz="860" dirty="0"/>
          </a:p>
        </p:txBody>
      </p:sp>
      <p:sp>
        <p:nvSpPr>
          <p:cNvPr id="50" name="Shape 47"/>
          <p:cNvSpPr/>
          <p:nvPr/>
        </p:nvSpPr>
        <p:spPr>
          <a:xfrm>
            <a:off x="9041130" y="4791456"/>
            <a:ext cx="2644902" cy="1298448"/>
          </a:xfrm>
          <a:prstGeom prst="roundRect">
            <a:avLst>
              <a:gd name="adj" fmla="val 4225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</p:sp>
      <p:sp>
        <p:nvSpPr>
          <p:cNvPr id="51" name="Shape 48"/>
          <p:cNvSpPr/>
          <p:nvPr/>
        </p:nvSpPr>
        <p:spPr>
          <a:xfrm>
            <a:off x="9224010" y="4937760"/>
            <a:ext cx="384048" cy="4572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52" name="Text 49"/>
          <p:cNvSpPr/>
          <p:nvPr/>
        </p:nvSpPr>
        <p:spPr>
          <a:xfrm>
            <a:off x="9205722" y="497433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16.280 kW</a:t>
            </a:r>
            <a:endParaRPr lang="en-US" sz="1900" dirty="0"/>
          </a:p>
        </p:txBody>
      </p:sp>
      <p:sp>
        <p:nvSpPr>
          <p:cNvPr id="53" name="Text 50"/>
          <p:cNvSpPr/>
          <p:nvPr/>
        </p:nvSpPr>
        <p:spPr>
          <a:xfrm>
            <a:off x="9205722" y="544982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Generación total — área 670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motogeneradores (9 existentes + 2 de ampliación) — Provisión PPSA</a:t>
            </a:r>
            <a:endParaRPr lang="en-US" sz="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ABB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— Salas eléctricas y cargas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5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58952" y="1618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758952" y="161848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 · SE#3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58952" y="1984248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 Eléctrica #3 — Baja Tensión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58952" y="231343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11.200 kVA instalados · 6 transformadores exteriores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8952" y="2606040"/>
            <a:ext cx="4562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CCM (102-CCM-005/006/007) — 4.000 A, 65 kA, 380/220 V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 UPS doble + bypass (40 kW) y banco de baterías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Rectificador/cargador 110 Vcc (20 kVA) + banco de baterías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VFD — bombas inyección de agua (373 kW c/u)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Generador de emergencia diesel MAN-90006 (1.250 kW, vía ATS a CCM-006)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PMS, detección de incendio, control de accesos, HVAC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502920" y="39319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8952" y="41330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6" name="Text 13"/>
          <p:cNvSpPr/>
          <p:nvPr/>
        </p:nvSpPr>
        <p:spPr>
          <a:xfrm>
            <a:off x="758952" y="413308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 · SE#4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58952" y="4498848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 Eléctrica #4 — Media Tensión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58952" y="482803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5.000 kVA instalados · 2 transformadores exteriores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58952" y="5120640"/>
            <a:ext cx="4562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 celdas MT — TGMT-001 (15, 13,2 kV) + TGMT-002 (10, 6,6 kV) · 630 A · 25 kA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VFD MT — bombas de condensado (600 kW c/u)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 UPS + rectificador 110 Vcc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PMS, detección de incendio, control de accesos, HVAC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5806440" y="1417320"/>
            <a:ext cx="58978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099048" y="1572768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Potencia instalada por tipo de carga — SE#3 + SE#4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099048" y="1819656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Balance de cargas eléctricas — área 102 (114 equipos)</a:t>
            </a:r>
            <a:endParaRPr lang="en-US" sz="9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080760" y="2029968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 20"/>
          <p:cNvSpPr/>
          <p:nvPr/>
        </p:nvSpPr>
        <p:spPr>
          <a:xfrm>
            <a:off x="6080760" y="3063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6.325</a:t>
            </a:r>
            <a:endParaRPr lang="en-US" sz="2100" dirty="0"/>
          </a:p>
        </p:txBody>
      </p:sp>
      <p:sp>
        <p:nvSpPr>
          <p:cNvPr id="25" name="Text 21"/>
          <p:cNvSpPr/>
          <p:nvPr/>
        </p:nvSpPr>
        <p:spPr>
          <a:xfrm>
            <a:off x="6080760" y="34472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kW instalados</a:t>
            </a:r>
            <a:endParaRPr lang="en-US" sz="870" dirty="0"/>
          </a:p>
        </p:txBody>
      </p:sp>
      <p:sp>
        <p:nvSpPr>
          <p:cNvPr id="26" name="Shape 22"/>
          <p:cNvSpPr/>
          <p:nvPr/>
        </p:nvSpPr>
        <p:spPr>
          <a:xfrm>
            <a:off x="8869680" y="2011680"/>
            <a:ext cx="118872" cy="1188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7" name="Text 23"/>
          <p:cNvSpPr/>
          <p:nvPr/>
        </p:nvSpPr>
        <p:spPr>
          <a:xfrm>
            <a:off x="9052560" y="19751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Motores</a:t>
            </a:r>
            <a:endParaRPr lang="en-US" sz="860" dirty="0"/>
          </a:p>
        </p:txBody>
      </p:sp>
      <p:sp>
        <p:nvSpPr>
          <p:cNvPr id="28" name="Text 24"/>
          <p:cNvSpPr/>
          <p:nvPr/>
        </p:nvSpPr>
        <p:spPr>
          <a:xfrm>
            <a:off x="10744200" y="19751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4.426,7</a:t>
            </a:r>
            <a:endParaRPr lang="en-US" sz="860" dirty="0"/>
          </a:p>
        </p:txBody>
      </p:sp>
      <p:sp>
        <p:nvSpPr>
          <p:cNvPr id="29" name="Shape 25"/>
          <p:cNvSpPr/>
          <p:nvPr/>
        </p:nvSpPr>
        <p:spPr>
          <a:xfrm>
            <a:off x="8869680" y="2304288"/>
            <a:ext cx="118872" cy="118872"/>
          </a:xfrm>
          <a:prstGeom prst="rect">
            <a:avLst/>
          </a:prstGeom>
          <a:solidFill>
            <a:srgbClr val="5C6B7A"/>
          </a:solidFill>
          <a:ln/>
        </p:spPr>
      </p:sp>
      <p:sp>
        <p:nvSpPr>
          <p:cNvPr id="30" name="Text 26"/>
          <p:cNvSpPr/>
          <p:nvPr/>
        </p:nvSpPr>
        <p:spPr>
          <a:xfrm>
            <a:off x="9052560" y="22677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Tableros SS.AA. / HVAC</a:t>
            </a:r>
            <a:endParaRPr lang="en-US" sz="860" dirty="0"/>
          </a:p>
        </p:txBody>
      </p:sp>
      <p:sp>
        <p:nvSpPr>
          <p:cNvPr id="31" name="Text 27"/>
          <p:cNvSpPr/>
          <p:nvPr/>
        </p:nvSpPr>
        <p:spPr>
          <a:xfrm>
            <a:off x="10744200" y="22677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710,0</a:t>
            </a:r>
            <a:endParaRPr lang="en-US" sz="860" dirty="0"/>
          </a:p>
        </p:txBody>
      </p:sp>
      <p:sp>
        <p:nvSpPr>
          <p:cNvPr id="32" name="Shape 28"/>
          <p:cNvSpPr/>
          <p:nvPr/>
        </p:nvSpPr>
        <p:spPr>
          <a:xfrm>
            <a:off x="8869680" y="2596896"/>
            <a:ext cx="118872" cy="1188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3" name="Text 29"/>
          <p:cNvSpPr/>
          <p:nvPr/>
        </p:nvSpPr>
        <p:spPr>
          <a:xfrm>
            <a:off x="9052560" y="25603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Equipos generales (skids)</a:t>
            </a:r>
            <a:endParaRPr lang="en-US" sz="860" dirty="0"/>
          </a:p>
        </p:txBody>
      </p:sp>
      <p:sp>
        <p:nvSpPr>
          <p:cNvPr id="34" name="Text 30"/>
          <p:cNvSpPr/>
          <p:nvPr/>
        </p:nvSpPr>
        <p:spPr>
          <a:xfrm>
            <a:off x="10744200" y="25603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508,6</a:t>
            </a:r>
            <a:endParaRPr lang="en-US" sz="860" dirty="0"/>
          </a:p>
        </p:txBody>
      </p:sp>
      <p:sp>
        <p:nvSpPr>
          <p:cNvPr id="35" name="Shape 31"/>
          <p:cNvSpPr/>
          <p:nvPr/>
        </p:nvSpPr>
        <p:spPr>
          <a:xfrm>
            <a:off x="8869680" y="2889504"/>
            <a:ext cx="118872" cy="118872"/>
          </a:xfrm>
          <a:prstGeom prst="rect">
            <a:avLst/>
          </a:prstGeom>
          <a:solidFill>
            <a:srgbClr val="9C4500"/>
          </a:solidFill>
          <a:ln/>
        </p:spPr>
      </p:sp>
      <p:sp>
        <p:nvSpPr>
          <p:cNvPr id="36" name="Text 32"/>
          <p:cNvSpPr/>
          <p:nvPr/>
        </p:nvSpPr>
        <p:spPr>
          <a:xfrm>
            <a:off x="9052560" y="28529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Calentadores eléctricos</a:t>
            </a:r>
            <a:endParaRPr lang="en-US" sz="860" dirty="0"/>
          </a:p>
        </p:txBody>
      </p:sp>
      <p:sp>
        <p:nvSpPr>
          <p:cNvPr id="37" name="Text 33"/>
          <p:cNvSpPr/>
          <p:nvPr/>
        </p:nvSpPr>
        <p:spPr>
          <a:xfrm>
            <a:off x="10744200" y="28529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260,0</a:t>
            </a:r>
            <a:endParaRPr lang="en-US" sz="860" dirty="0"/>
          </a:p>
        </p:txBody>
      </p:sp>
      <p:sp>
        <p:nvSpPr>
          <p:cNvPr id="38" name="Shape 34"/>
          <p:cNvSpPr/>
          <p:nvPr/>
        </p:nvSpPr>
        <p:spPr>
          <a:xfrm>
            <a:off x="8869680" y="3182112"/>
            <a:ext cx="118872" cy="11887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9" name="Text 35"/>
          <p:cNvSpPr/>
          <p:nvPr/>
        </p:nvSpPr>
        <p:spPr>
          <a:xfrm>
            <a:off x="9052560" y="31455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SAI / UPS</a:t>
            </a:r>
            <a:endParaRPr lang="en-US" sz="860" dirty="0"/>
          </a:p>
        </p:txBody>
      </p:sp>
      <p:sp>
        <p:nvSpPr>
          <p:cNvPr id="40" name="Text 36"/>
          <p:cNvSpPr/>
          <p:nvPr/>
        </p:nvSpPr>
        <p:spPr>
          <a:xfrm>
            <a:off x="10744200" y="31455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150,0</a:t>
            </a:r>
            <a:endParaRPr lang="en-US" sz="860" dirty="0"/>
          </a:p>
        </p:txBody>
      </p:sp>
      <p:sp>
        <p:nvSpPr>
          <p:cNvPr id="41" name="Shape 37"/>
          <p:cNvSpPr/>
          <p:nvPr/>
        </p:nvSpPr>
        <p:spPr>
          <a:xfrm>
            <a:off x="8869680" y="3474720"/>
            <a:ext cx="118872" cy="118872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42" name="Text 38"/>
          <p:cNvSpPr/>
          <p:nvPr/>
        </p:nvSpPr>
        <p:spPr>
          <a:xfrm>
            <a:off x="9052560" y="343814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Tracing (calefacción)</a:t>
            </a:r>
            <a:endParaRPr lang="en-US" sz="860" dirty="0"/>
          </a:p>
        </p:txBody>
      </p:sp>
      <p:sp>
        <p:nvSpPr>
          <p:cNvPr id="43" name="Text 39"/>
          <p:cNvSpPr/>
          <p:nvPr/>
        </p:nvSpPr>
        <p:spPr>
          <a:xfrm>
            <a:off x="10744200" y="34381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150,0</a:t>
            </a:r>
            <a:endParaRPr lang="en-US" sz="860" dirty="0"/>
          </a:p>
        </p:txBody>
      </p:sp>
      <p:sp>
        <p:nvSpPr>
          <p:cNvPr id="44" name="Shape 40"/>
          <p:cNvSpPr/>
          <p:nvPr/>
        </p:nvSpPr>
        <p:spPr>
          <a:xfrm>
            <a:off x="8869680" y="3767328"/>
            <a:ext cx="118872" cy="118872"/>
          </a:xfrm>
          <a:prstGeom prst="rect">
            <a:avLst/>
          </a:prstGeom>
          <a:solidFill>
            <a:srgbClr val="E57373"/>
          </a:solidFill>
          <a:ln/>
        </p:spPr>
      </p:sp>
      <p:sp>
        <p:nvSpPr>
          <p:cNvPr id="45" name="Text 41"/>
          <p:cNvSpPr/>
          <p:nvPr/>
        </p:nvSpPr>
        <p:spPr>
          <a:xfrm>
            <a:off x="9052560" y="37307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Iluminación</a:t>
            </a:r>
            <a:endParaRPr lang="en-US" sz="860" dirty="0"/>
          </a:p>
        </p:txBody>
      </p:sp>
      <p:sp>
        <p:nvSpPr>
          <p:cNvPr id="46" name="Text 42"/>
          <p:cNvSpPr/>
          <p:nvPr/>
        </p:nvSpPr>
        <p:spPr>
          <a:xfrm>
            <a:off x="10744200" y="37307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120,0</a:t>
            </a:r>
            <a:endParaRPr lang="en-US" sz="860" dirty="0"/>
          </a:p>
        </p:txBody>
      </p:sp>
      <p:sp>
        <p:nvSpPr>
          <p:cNvPr id="47" name="Shape 43"/>
          <p:cNvSpPr/>
          <p:nvPr/>
        </p:nvSpPr>
        <p:spPr>
          <a:xfrm>
            <a:off x="5806440" y="4434840"/>
            <a:ext cx="5897880" cy="1965960"/>
          </a:xfrm>
          <a:prstGeom prst="roundRect">
            <a:avLst>
              <a:gd name="adj" fmla="val 3721"/>
            </a:avLst>
          </a:prstGeom>
          <a:solidFill>
            <a:srgbClr val="005392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8" name="Text 44"/>
          <p:cNvSpPr/>
          <p:nvPr/>
        </p:nvSpPr>
        <p:spPr>
          <a:xfrm>
            <a:off x="6099048" y="4581144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Potencia disponible por sala</a:t>
            </a:r>
            <a:endParaRPr lang="en-US" sz="1350" dirty="0"/>
          </a:p>
        </p:txBody>
      </p:sp>
      <p:sp>
        <p:nvSpPr>
          <p:cNvPr id="49" name="Text 45"/>
          <p:cNvSpPr/>
          <p:nvPr/>
        </p:nvSpPr>
        <p:spPr>
          <a:xfrm>
            <a:off x="6099048" y="4937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 · BT</a:t>
            </a:r>
            <a:endParaRPr lang="en-US" sz="1050" dirty="0"/>
          </a:p>
        </p:txBody>
      </p:sp>
      <p:sp>
        <p:nvSpPr>
          <p:cNvPr id="50" name="Shape 46"/>
          <p:cNvSpPr/>
          <p:nvPr/>
        </p:nvSpPr>
        <p:spPr>
          <a:xfrm>
            <a:off x="7955280" y="499262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A3E63"/>
          </a:solidFill>
          <a:ln/>
        </p:spPr>
      </p:sp>
      <p:sp>
        <p:nvSpPr>
          <p:cNvPr id="51" name="Shape 47"/>
          <p:cNvSpPr/>
          <p:nvPr/>
        </p:nvSpPr>
        <p:spPr>
          <a:xfrm>
            <a:off x="7955280" y="4992624"/>
            <a:ext cx="954176" cy="292608"/>
          </a:xfrm>
          <a:prstGeom prst="roundRect">
            <a:avLst>
              <a:gd name="adj" fmla="val 15625"/>
            </a:avLst>
          </a:prstGeom>
          <a:solidFill>
            <a:srgbClr val="C9922B"/>
          </a:solidFill>
          <a:ln/>
        </p:spPr>
      </p:sp>
      <p:sp>
        <p:nvSpPr>
          <p:cNvPr id="52" name="Text 48"/>
          <p:cNvSpPr/>
          <p:nvPr/>
        </p:nvSpPr>
        <p:spPr>
          <a:xfrm>
            <a:off x="8028432" y="499262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3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60% usado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6099048" y="5321808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2.260,8 kVA disponibles</a:t>
            </a:r>
            <a:pPr indent="0" marL="0">
              <a:buNone/>
            </a:pPr>
            <a:r>
              <a:rPr lang="en-US" sz="930" dirty="0">
                <a:solidFill>
                  <a:srgbClr val="9B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de 5.600 kVA (demanda 3.339,2 kVA)</a:t>
            </a:r>
            <a:endParaRPr lang="en-US" sz="930" dirty="0"/>
          </a:p>
        </p:txBody>
      </p:sp>
      <p:sp>
        <p:nvSpPr>
          <p:cNvPr id="54" name="Text 50"/>
          <p:cNvSpPr/>
          <p:nvPr/>
        </p:nvSpPr>
        <p:spPr>
          <a:xfrm>
            <a:off x="6099048" y="56052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SE#4 · MT</a:t>
            </a:r>
            <a:endParaRPr lang="en-US" sz="1050" dirty="0"/>
          </a:p>
        </p:txBody>
      </p:sp>
      <p:sp>
        <p:nvSpPr>
          <p:cNvPr id="55" name="Shape 51"/>
          <p:cNvSpPr/>
          <p:nvPr/>
        </p:nvSpPr>
        <p:spPr>
          <a:xfrm>
            <a:off x="7955280" y="5660136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A3E63"/>
          </a:solidFill>
          <a:ln/>
        </p:spPr>
      </p:sp>
      <p:sp>
        <p:nvSpPr>
          <p:cNvPr id="56" name="Shape 52"/>
          <p:cNvSpPr/>
          <p:nvPr/>
        </p:nvSpPr>
        <p:spPr>
          <a:xfrm>
            <a:off x="7955280" y="5660136"/>
            <a:ext cx="742045" cy="292608"/>
          </a:xfrm>
          <a:prstGeom prst="roundRect">
            <a:avLst>
              <a:gd name="adj" fmla="val 15625"/>
            </a:avLst>
          </a:prstGeom>
          <a:solidFill>
            <a:srgbClr val="C9922B"/>
          </a:solidFill>
          <a:ln/>
        </p:spPr>
      </p:sp>
      <p:sp>
        <p:nvSpPr>
          <p:cNvPr id="57" name="Text 53"/>
          <p:cNvSpPr/>
          <p:nvPr/>
        </p:nvSpPr>
        <p:spPr>
          <a:xfrm>
            <a:off x="8028432" y="5660136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3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46% usado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6099048" y="5989320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1.340,7 kVA disponibles</a:t>
            </a:r>
            <a:pPr indent="0" marL="0">
              <a:buNone/>
            </a:pPr>
            <a:r>
              <a:rPr lang="en-US" sz="930" dirty="0">
                <a:solidFill>
                  <a:srgbClr val="9B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de 2.500 kVA (demanda 1.159,3 kVA)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TENDIDO Y CONEXIONADO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— Volumen de cables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5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70408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16276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Metros de cable a tender, por tipo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85800" y="2011680"/>
          <a:ext cx="6675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7818120" y="1417320"/>
            <a:ext cx="3867912" cy="1280160"/>
          </a:xfrm>
          <a:prstGeom prst="roundRect">
            <a:avLst>
              <a:gd name="adj" fmla="val 5714"/>
            </a:avLst>
          </a:prstGeom>
          <a:solidFill>
            <a:srgbClr val="005392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092440" y="1572768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513 cables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092440" y="201168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81.231 metros totales a tender y conectar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818120" y="2834640"/>
            <a:ext cx="3867912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074152" y="2999232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Detalle por tipo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74152" y="3310128"/>
          <a:ext cx="3355848" cy="2651760"/>
        </p:xfrm>
        <a:graphic>
          <a:graphicData uri="http://schemas.openxmlformats.org/drawingml/2006/table">
            <a:tbl>
              <a:tblPr/>
              <a:tblGrid>
                <a:gridCol w="1879275"/>
                <a:gridCol w="671170"/>
                <a:gridCol w="805404"/>
              </a:tblGrid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Tipo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Cables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Metros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Potencia MT (6,6/13,2 kV)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18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2.110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Potencia BT ≥35 mm²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104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17.470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Potencia BT med./peq.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198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33.125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Control y señales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192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28.126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Fibra óptica (red PMS SE#3↔SE#4)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400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8074152" y="6053328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Conexionado: ≈5.178 puntas (terminales MT/BT + peinado y prueba de cables de control)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+ INSTRUMENTACIÓN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PMS, PCS/SCADA e HIMA — Sistemas integrados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5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11704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PMS (provisión eléctrica ABB) se integra con los sistemas de control y seguridad de Instrumentación — PCS/SCADA e HIMA — bajo un único esquema de comunicaciones.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483864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7739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7739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 · PMS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213969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 — Gestión de energía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31520" y="2596896"/>
            <a:ext cx="3026664" cy="585216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0392" y="259689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I/O:  </a:t>
            </a:r>
            <a:pPr indent="0" marL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 tableros supervisados (25 celdas MT + 3 CCM)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731520" y="3328416"/>
            <a:ext cx="30266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Plataforma 800xA / AC800M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#1/#2 existentes + #3/#4 nuevas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I/O propio — vía IEC 61850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Deslastre de cargas, lógicas DAG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4352544" y="1572768"/>
            <a:ext cx="3483864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81144" y="17739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8" name="Text 15"/>
          <p:cNvSpPr/>
          <p:nvPr/>
        </p:nvSpPr>
        <p:spPr>
          <a:xfrm>
            <a:off x="4581144" y="17739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81144" y="213969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 / SCADA — Control de proceso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4581144" y="2596896"/>
            <a:ext cx="3026664" cy="585216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00016" y="259689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I/O:  </a:t>
            </a:r>
            <a:pPr indent="0" marL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330 señales I/O + ≈500 var. equipos paquete</a:t>
            </a:r>
            <a:endParaRPr lang="en-US" sz="940" dirty="0"/>
          </a:p>
        </p:txBody>
      </p:sp>
      <p:sp>
        <p:nvSpPr>
          <p:cNvPr id="22" name="Text 19"/>
          <p:cNvSpPr/>
          <p:nvPr/>
        </p:nvSpPr>
        <p:spPr>
          <a:xfrm>
            <a:off x="4581144" y="3328416"/>
            <a:ext cx="30266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Rockwell ControlLogix 1756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remotas nuevas: 175 AI · 65 AO · 38 DI · 32 DO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skids de equipos paquete vía Modbus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Inauco hasta entrega; SAT por AESA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8202168" y="1572768"/>
            <a:ext cx="3483864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17739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25" name="Text 22"/>
          <p:cNvSpPr/>
          <p:nvPr/>
        </p:nvSpPr>
        <p:spPr>
          <a:xfrm>
            <a:off x="8430768" y="17739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 · SIS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430768" y="213969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 — Seguridad de proceso (ESD/F&amp;G/PSS)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8430768" y="2596896"/>
            <a:ext cx="3026664" cy="585216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49640" y="259689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I/O:  </a:t>
            </a:r>
            <a:pPr indent="0" marL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887 señales I/O (ESD 243 + PSS 644)</a:t>
            </a:r>
            <a:endParaRPr lang="en-US" sz="940" dirty="0"/>
          </a:p>
        </p:txBody>
      </p:sp>
      <p:sp>
        <p:nvSpPr>
          <p:cNvPr id="29" name="Text 26"/>
          <p:cNvSpPr/>
          <p:nvPr/>
        </p:nvSpPr>
        <p:spPr>
          <a:xfrm>
            <a:off x="8430768" y="3328416"/>
            <a:ext cx="30266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Plataforma Planar4 existente, sin cambios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Nuevo I/O en Shelter 7 (ampliación)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Integrado al SCADA de seguridad de Inauco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marshalling — alcance AESA</a:t>
            </a:r>
            <a:endParaRPr lang="en-US" sz="960" dirty="0"/>
          </a:p>
        </p:txBody>
      </p:sp>
      <p:sp>
        <p:nvSpPr>
          <p:cNvPr id="30" name="Shape 27"/>
          <p:cNvSpPr/>
          <p:nvPr/>
        </p:nvSpPr>
        <p:spPr>
          <a:xfrm>
            <a:off x="3986784" y="2875788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31" name="Text 28"/>
          <p:cNvSpPr/>
          <p:nvPr/>
        </p:nvSpPr>
        <p:spPr>
          <a:xfrm>
            <a:off x="3849624" y="24917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Modbus TCP redundante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7836408" y="2875788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7699248" y="24917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Integración SIS ↔ SCADA</a:t>
            </a:r>
            <a:endParaRPr lang="en-US" sz="830" dirty="0"/>
          </a:p>
        </p:txBody>
      </p:sp>
      <p:sp>
        <p:nvSpPr>
          <p:cNvPr id="34" name="Shape 31"/>
          <p:cNvSpPr/>
          <p:nvPr/>
        </p:nvSpPr>
        <p:spPr>
          <a:xfrm>
            <a:off x="502920" y="4407408"/>
            <a:ext cx="11183112" cy="960120"/>
          </a:xfrm>
          <a:prstGeom prst="roundRect">
            <a:avLst>
              <a:gd name="adj" fmla="val 7619"/>
            </a:avLst>
          </a:prstGeom>
          <a:solidFill>
            <a:srgbClr val="005392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822960" y="453542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 y HIMA son AMPLIACIONES de sistemas ya instalados en CPF-1 / CPF-1.5 — no son sistemas nuevos.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822960" y="4901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 ABB: arquitectura existente + expansión a Salas #3/#4 (Anexo III Expansión CPF2-F4). SIS HIMA: mismo Planar4, se agrega I/O de Shelter 7. Referencias: ACAL-100-PL-K-100 Rev 11 (PCS) · ACAL-100-PL-K-551 Rev A (SIS).</a:t>
            </a:r>
            <a:endParaRPr lang="en-US" sz="9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AESA / PPSA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Instrumentación — cantidad y tipo de instrumentos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5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5528" y="1581912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Instrumentos a instalar por origen — 2.798 total</a:t>
            </a:r>
            <a:endParaRPr lang="en-US" sz="14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95528" y="1920240"/>
          <a:ext cx="278892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795528" y="28803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2.798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95528" y="327355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instrumentos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794760" y="2002536"/>
            <a:ext cx="128016" cy="12801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0"/>
          <p:cNvSpPr/>
          <p:nvPr/>
        </p:nvSpPr>
        <p:spPr>
          <a:xfrm>
            <a:off x="3977640" y="19476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Compra AESA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977640" y="22585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897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794760" y="2715768"/>
            <a:ext cx="128016" cy="128016"/>
          </a:xfrm>
          <a:prstGeom prst="rect">
            <a:avLst/>
          </a:prstGeom>
          <a:solidFill>
            <a:srgbClr val="8BC98F"/>
          </a:solidFill>
          <a:ln/>
        </p:spPr>
      </p:sp>
      <p:sp>
        <p:nvSpPr>
          <p:cNvPr id="17" name="Text 13"/>
          <p:cNvSpPr/>
          <p:nvPr/>
        </p:nvSpPr>
        <p:spPr>
          <a:xfrm>
            <a:off x="3977640" y="26609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Paquete PPSA — montaje AESA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977640" y="29718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266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794760" y="3429000"/>
            <a:ext cx="128016" cy="128016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0" name="Text 16"/>
          <p:cNvSpPr/>
          <p:nvPr/>
        </p:nvSpPr>
        <p:spPr>
          <a:xfrm>
            <a:off x="3977640" y="33741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Paquete PPSA — premontado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977640" y="36850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1628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3794760" y="4142232"/>
            <a:ext cx="128016" cy="128016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23" name="Text 19"/>
          <p:cNvSpPr/>
          <p:nvPr/>
        </p:nvSpPr>
        <p:spPr>
          <a:xfrm>
            <a:off x="3977640" y="40873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Existentes (a definir)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977640" y="43982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95528" y="4846320"/>
            <a:ext cx="4764024" cy="566928"/>
          </a:xfrm>
          <a:prstGeom prst="roundRect">
            <a:avLst>
              <a:gd name="adj" fmla="val 9677"/>
            </a:avLst>
          </a:prstGeom>
          <a:solidFill>
            <a:srgbClr val="E8F3E9"/>
          </a:solidFill>
          <a:ln/>
        </p:spPr>
      </p:sp>
      <p:sp>
        <p:nvSpPr>
          <p:cNvPr id="26" name="Text 22"/>
          <p:cNvSpPr/>
          <p:nvPr/>
        </p:nvSpPr>
        <p:spPr>
          <a:xfrm>
            <a:off x="960120" y="484632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1.163 instrumentos </a:t>
            </a:r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alcance contractual AESA (897 compra + 266 montaje s/equipo paquete)</a:t>
            </a:r>
            <a:endParaRPr lang="en-US" sz="970" dirty="0"/>
          </a:p>
        </p:txBody>
      </p:sp>
      <p:sp>
        <p:nvSpPr>
          <p:cNvPr id="27" name="Shape 23"/>
          <p:cNvSpPr/>
          <p:nvPr/>
        </p:nvSpPr>
        <p:spPr>
          <a:xfrm>
            <a:off x="795528" y="5486400"/>
            <a:ext cx="4764024" cy="566928"/>
          </a:xfrm>
          <a:prstGeom prst="roundRect">
            <a:avLst>
              <a:gd name="adj" fmla="val 9677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</p:sp>
      <p:sp>
        <p:nvSpPr>
          <p:cNvPr id="28" name="Text 24"/>
          <p:cNvSpPr/>
          <p:nvPr/>
        </p:nvSpPr>
        <p:spPr>
          <a:xfrm>
            <a:off x="960120" y="548640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b="1" dirty="0">
                <a:solidFill>
                  <a:srgbClr val="546E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1.635 instrumentos </a:t>
            </a:r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provisión y montaje PPSA/vendor (fuera de alcance AESA)</a:t>
            </a:r>
            <a:endParaRPr lang="en-US" sz="970" dirty="0"/>
          </a:p>
        </p:txBody>
      </p:sp>
      <p:sp>
        <p:nvSpPr>
          <p:cNvPr id="29" name="Shape 25"/>
          <p:cNvSpPr/>
          <p:nvPr/>
        </p:nvSpPr>
        <p:spPr>
          <a:xfrm>
            <a:off x="6080760" y="1417320"/>
            <a:ext cx="5605272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6373368" y="1554480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Tipos de instrumentos — detalle completo</a:t>
            </a:r>
            <a:endParaRPr lang="en-US" sz="1450" dirty="0"/>
          </a:p>
        </p:txBody>
      </p:sp>
      <p:sp>
        <p:nvSpPr>
          <p:cNvPr id="31" name="Text 27"/>
          <p:cNvSpPr/>
          <p:nvPr/>
        </p:nvSpPr>
        <p:spPr>
          <a:xfrm>
            <a:off x="6373368" y="1783080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2.798 totales, agrupados por familia (pliego E&amp;I, Anexo I)</a:t>
            </a:r>
            <a:endParaRPr lang="en-US" sz="870" dirty="0"/>
          </a:p>
        </p:txBody>
      </p:sp>
      <p:sp>
        <p:nvSpPr>
          <p:cNvPr id="32" name="Shape 28"/>
          <p:cNvSpPr/>
          <p:nvPr/>
        </p:nvSpPr>
        <p:spPr>
          <a:xfrm>
            <a:off x="6373368" y="2093976"/>
            <a:ext cx="9144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3" name="Text 29"/>
          <p:cNvSpPr/>
          <p:nvPr/>
        </p:nvSpPr>
        <p:spPr>
          <a:xfrm>
            <a:off x="6537960" y="2048256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VÁLVULAS Y ACCESORIOS</a:t>
            </a:r>
            <a:pPr indent="0" marL="0">
              <a:buNone/>
            </a:pPr>
            <a:r>
              <a:rPr lang="en-US" sz="93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—  968</a:t>
            </a:r>
            <a:endParaRPr lang="en-US" sz="930" dirty="0"/>
          </a:p>
        </p:txBody>
      </p:sp>
      <p:sp>
        <p:nvSpPr>
          <p:cNvPr id="34" name="Text 30"/>
          <p:cNvSpPr/>
          <p:nvPr/>
        </p:nvSpPr>
        <p:spPr>
          <a:xfrm>
            <a:off x="6537960" y="22951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PSV — Válvula de seguridad</a:t>
            </a:r>
            <a:endParaRPr lang="en-US" sz="870" dirty="0"/>
          </a:p>
        </p:txBody>
      </p:sp>
      <p:sp>
        <p:nvSpPr>
          <p:cNvPr id="35" name="Text 31"/>
          <p:cNvSpPr/>
          <p:nvPr/>
        </p:nvSpPr>
        <p:spPr>
          <a:xfrm>
            <a:off x="11000232" y="22951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162</a:t>
            </a:r>
            <a:endParaRPr lang="en-US" sz="870" dirty="0"/>
          </a:p>
        </p:txBody>
      </p:sp>
      <p:sp>
        <p:nvSpPr>
          <p:cNvPr id="36" name="Text 32"/>
          <p:cNvSpPr/>
          <p:nvPr/>
        </p:nvSpPr>
        <p:spPr>
          <a:xfrm>
            <a:off x="6537960" y="250088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Otras válvulas de control / bloqueo / regulación (en línea)</a:t>
            </a:r>
            <a:endParaRPr lang="en-US" sz="870" dirty="0"/>
          </a:p>
        </p:txBody>
      </p:sp>
      <p:sp>
        <p:nvSpPr>
          <p:cNvPr id="37" name="Text 33"/>
          <p:cNvSpPr/>
          <p:nvPr/>
        </p:nvSpPr>
        <p:spPr>
          <a:xfrm>
            <a:off x="11000232" y="25008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323</a:t>
            </a:r>
            <a:endParaRPr lang="en-US" sz="870" dirty="0"/>
          </a:p>
        </p:txBody>
      </p:sp>
      <p:sp>
        <p:nvSpPr>
          <p:cNvPr id="38" name="Text 34"/>
          <p:cNvSpPr/>
          <p:nvPr/>
        </p:nvSpPr>
        <p:spPr>
          <a:xfrm>
            <a:off x="6537960" y="270662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Accesorios sobre válvula (posicionadores, solenoides, fin de carrera)</a:t>
            </a:r>
            <a:endParaRPr lang="en-US" sz="870" dirty="0"/>
          </a:p>
        </p:txBody>
      </p:sp>
      <p:sp>
        <p:nvSpPr>
          <p:cNvPr id="39" name="Text 35"/>
          <p:cNvSpPr/>
          <p:nvPr/>
        </p:nvSpPr>
        <p:spPr>
          <a:xfrm>
            <a:off x="11000232" y="27066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483</a:t>
            </a:r>
            <a:endParaRPr lang="en-US" sz="870" dirty="0"/>
          </a:p>
        </p:txBody>
      </p:sp>
      <p:sp>
        <p:nvSpPr>
          <p:cNvPr id="40" name="Shape 36"/>
          <p:cNvSpPr/>
          <p:nvPr/>
        </p:nvSpPr>
        <p:spPr>
          <a:xfrm>
            <a:off x="6373368" y="3040380"/>
            <a:ext cx="91440" cy="91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1" name="Text 37"/>
          <p:cNvSpPr/>
          <p:nvPr/>
        </p:nvSpPr>
        <p:spPr>
          <a:xfrm>
            <a:off x="6537960" y="2994660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INSTRUMENTACIÓN ELECTRÓNICA — transmisores, elementos y detección</a:t>
            </a:r>
            <a:pPr indent="0" marL="0">
              <a:buNone/>
            </a:pPr>
            <a:r>
              <a:rPr lang="en-US" sz="93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—  738</a:t>
            </a:r>
            <a:endParaRPr lang="en-US" sz="930" dirty="0"/>
          </a:p>
        </p:txBody>
      </p:sp>
      <p:sp>
        <p:nvSpPr>
          <p:cNvPr id="42" name="Text 38"/>
          <p:cNvSpPr/>
          <p:nvPr/>
        </p:nvSpPr>
        <p:spPr>
          <a:xfrm>
            <a:off x="6537960" y="3241548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 — Sensor de temperatura</a:t>
            </a:r>
            <a:endParaRPr lang="en-US" sz="870" dirty="0"/>
          </a:p>
        </p:txBody>
      </p:sp>
      <p:sp>
        <p:nvSpPr>
          <p:cNvPr id="43" name="Text 39"/>
          <p:cNvSpPr/>
          <p:nvPr/>
        </p:nvSpPr>
        <p:spPr>
          <a:xfrm>
            <a:off x="11000232" y="32415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178</a:t>
            </a:r>
            <a:endParaRPr lang="en-US" sz="870" dirty="0"/>
          </a:p>
        </p:txBody>
      </p:sp>
      <p:sp>
        <p:nvSpPr>
          <p:cNvPr id="44" name="Text 40"/>
          <p:cNvSpPr/>
          <p:nvPr/>
        </p:nvSpPr>
        <p:spPr>
          <a:xfrm>
            <a:off x="6537960" y="3447288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PIT — Transmisor de presión</a:t>
            </a:r>
            <a:endParaRPr lang="en-US" sz="870" dirty="0"/>
          </a:p>
        </p:txBody>
      </p:sp>
      <p:sp>
        <p:nvSpPr>
          <p:cNvPr id="45" name="Text 41"/>
          <p:cNvSpPr/>
          <p:nvPr/>
        </p:nvSpPr>
        <p:spPr>
          <a:xfrm>
            <a:off x="11000232" y="34472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160</a:t>
            </a:r>
            <a:endParaRPr lang="en-US" sz="870" dirty="0"/>
          </a:p>
        </p:txBody>
      </p:sp>
      <p:sp>
        <p:nvSpPr>
          <p:cNvPr id="46" name="Text 42"/>
          <p:cNvSpPr/>
          <p:nvPr/>
        </p:nvSpPr>
        <p:spPr>
          <a:xfrm>
            <a:off x="6537960" y="3653028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 — Orificio de restricción (medición de caudal)</a:t>
            </a:r>
            <a:endParaRPr lang="en-US" sz="870" dirty="0"/>
          </a:p>
        </p:txBody>
      </p:sp>
      <p:sp>
        <p:nvSpPr>
          <p:cNvPr id="47" name="Text 43"/>
          <p:cNvSpPr/>
          <p:nvPr/>
        </p:nvSpPr>
        <p:spPr>
          <a:xfrm>
            <a:off x="11000232" y="36530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127</a:t>
            </a:r>
            <a:endParaRPr lang="en-US" sz="870" dirty="0"/>
          </a:p>
        </p:txBody>
      </p:sp>
      <p:sp>
        <p:nvSpPr>
          <p:cNvPr id="48" name="Text 44"/>
          <p:cNvSpPr/>
          <p:nvPr/>
        </p:nvSpPr>
        <p:spPr>
          <a:xfrm>
            <a:off x="6537960" y="3858768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TIT — Transmisor de temperatura</a:t>
            </a:r>
            <a:endParaRPr lang="en-US" sz="870" dirty="0"/>
          </a:p>
        </p:txBody>
      </p:sp>
      <p:sp>
        <p:nvSpPr>
          <p:cNvPr id="49" name="Text 45"/>
          <p:cNvSpPr/>
          <p:nvPr/>
        </p:nvSpPr>
        <p:spPr>
          <a:xfrm>
            <a:off x="11000232" y="38587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87</a:t>
            </a:r>
            <a:endParaRPr lang="en-US" sz="870" dirty="0"/>
          </a:p>
        </p:txBody>
      </p:sp>
      <p:sp>
        <p:nvSpPr>
          <p:cNvPr id="50" name="Text 46"/>
          <p:cNvSpPr/>
          <p:nvPr/>
        </p:nvSpPr>
        <p:spPr>
          <a:xfrm>
            <a:off x="6537960" y="4064508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LIT — Transmisor de nivel</a:t>
            </a:r>
            <a:endParaRPr lang="en-US" sz="870" dirty="0"/>
          </a:p>
        </p:txBody>
      </p:sp>
      <p:sp>
        <p:nvSpPr>
          <p:cNvPr id="51" name="Text 47"/>
          <p:cNvSpPr/>
          <p:nvPr/>
        </p:nvSpPr>
        <p:spPr>
          <a:xfrm>
            <a:off x="11000232" y="40645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66</a:t>
            </a:r>
            <a:endParaRPr lang="en-US" sz="870" dirty="0"/>
          </a:p>
        </p:txBody>
      </p:sp>
      <p:sp>
        <p:nvSpPr>
          <p:cNvPr id="52" name="Text 48"/>
          <p:cNvSpPr/>
          <p:nvPr/>
        </p:nvSpPr>
        <p:spPr>
          <a:xfrm>
            <a:off x="6537960" y="4270248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F&amp;G — Detección de gas / llama, sirenas, balizas</a:t>
            </a:r>
            <a:endParaRPr lang="en-US" sz="870" dirty="0"/>
          </a:p>
        </p:txBody>
      </p:sp>
      <p:sp>
        <p:nvSpPr>
          <p:cNvPr id="53" name="Text 49"/>
          <p:cNvSpPr/>
          <p:nvPr/>
        </p:nvSpPr>
        <p:spPr>
          <a:xfrm>
            <a:off x="11000232" y="42702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120</a:t>
            </a:r>
            <a:endParaRPr lang="en-US" sz="870" dirty="0"/>
          </a:p>
        </p:txBody>
      </p:sp>
      <p:sp>
        <p:nvSpPr>
          <p:cNvPr id="54" name="Shape 50"/>
          <p:cNvSpPr/>
          <p:nvPr/>
        </p:nvSpPr>
        <p:spPr>
          <a:xfrm>
            <a:off x="6373368" y="4604004"/>
            <a:ext cx="91440" cy="9144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55" name="Text 51"/>
          <p:cNvSpPr/>
          <p:nvPr/>
        </p:nvSpPr>
        <p:spPr>
          <a:xfrm>
            <a:off x="6537960" y="4558284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ELECTRÓNICOS / INDICACIÓN Y MONTAJE LOCAL</a:t>
            </a:r>
            <a:pPr indent="0" marL="0">
              <a:buNone/>
            </a:pPr>
            <a:r>
              <a:rPr lang="en-US" sz="930" b="1" dirty="0">
                <a:solidFill>
                  <a:srgbClr val="546E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—  692</a:t>
            </a:r>
            <a:endParaRPr lang="en-US" sz="930" dirty="0"/>
          </a:p>
        </p:txBody>
      </p:sp>
      <p:sp>
        <p:nvSpPr>
          <p:cNvPr id="56" name="Text 52"/>
          <p:cNvSpPr/>
          <p:nvPr/>
        </p:nvSpPr>
        <p:spPr>
          <a:xfrm>
            <a:off x="6537960" y="4805172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 — Manómetro</a:t>
            </a:r>
            <a:endParaRPr lang="en-US" sz="870" dirty="0"/>
          </a:p>
        </p:txBody>
      </p:sp>
      <p:sp>
        <p:nvSpPr>
          <p:cNvPr id="57" name="Text 53"/>
          <p:cNvSpPr/>
          <p:nvPr/>
        </p:nvSpPr>
        <p:spPr>
          <a:xfrm>
            <a:off x="11000232" y="48051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269</a:t>
            </a:r>
            <a:endParaRPr lang="en-US" sz="870" dirty="0"/>
          </a:p>
        </p:txBody>
      </p:sp>
      <p:sp>
        <p:nvSpPr>
          <p:cNvPr id="58" name="Text 54"/>
          <p:cNvSpPr/>
          <p:nvPr/>
        </p:nvSpPr>
        <p:spPr>
          <a:xfrm>
            <a:off x="6537960" y="5010912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 — Termovaina</a:t>
            </a:r>
            <a:endParaRPr lang="en-US" sz="870" dirty="0"/>
          </a:p>
        </p:txBody>
      </p:sp>
      <p:sp>
        <p:nvSpPr>
          <p:cNvPr id="59" name="Text 55"/>
          <p:cNvSpPr/>
          <p:nvPr/>
        </p:nvSpPr>
        <p:spPr>
          <a:xfrm>
            <a:off x="11000232" y="50109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221</a:t>
            </a:r>
            <a:endParaRPr lang="en-US" sz="870" dirty="0"/>
          </a:p>
        </p:txBody>
      </p:sp>
      <p:sp>
        <p:nvSpPr>
          <p:cNvPr id="60" name="Text 56"/>
          <p:cNvSpPr/>
          <p:nvPr/>
        </p:nvSpPr>
        <p:spPr>
          <a:xfrm>
            <a:off x="6537960" y="5216652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LG — Indicador de nivel magnético</a:t>
            </a:r>
            <a:endParaRPr lang="en-US" sz="870" dirty="0"/>
          </a:p>
        </p:txBody>
      </p:sp>
      <p:sp>
        <p:nvSpPr>
          <p:cNvPr id="61" name="Text 57"/>
          <p:cNvSpPr/>
          <p:nvPr/>
        </p:nvSpPr>
        <p:spPr>
          <a:xfrm>
            <a:off x="11000232" y="52166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126</a:t>
            </a:r>
            <a:endParaRPr lang="en-US" sz="870" dirty="0"/>
          </a:p>
        </p:txBody>
      </p:sp>
      <p:sp>
        <p:nvSpPr>
          <p:cNvPr id="62" name="Text 58"/>
          <p:cNvSpPr/>
          <p:nvPr/>
        </p:nvSpPr>
        <p:spPr>
          <a:xfrm>
            <a:off x="6537960" y="5422392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 — Termómetro</a:t>
            </a:r>
            <a:endParaRPr lang="en-US" sz="870" dirty="0"/>
          </a:p>
        </p:txBody>
      </p:sp>
      <p:sp>
        <p:nvSpPr>
          <p:cNvPr id="63" name="Text 59"/>
          <p:cNvSpPr/>
          <p:nvPr/>
        </p:nvSpPr>
        <p:spPr>
          <a:xfrm>
            <a:off x="11000232" y="5422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76</a:t>
            </a:r>
            <a:endParaRPr lang="en-US" sz="870" dirty="0"/>
          </a:p>
        </p:txBody>
      </p:sp>
      <p:sp>
        <p:nvSpPr>
          <p:cNvPr id="64" name="Shape 60"/>
          <p:cNvSpPr/>
          <p:nvPr/>
        </p:nvSpPr>
        <p:spPr>
          <a:xfrm>
            <a:off x="6373368" y="5756148"/>
            <a:ext cx="91440" cy="914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5" name="Text 61"/>
          <p:cNvSpPr/>
          <p:nvPr/>
        </p:nvSpPr>
        <p:spPr>
          <a:xfrm>
            <a:off x="6537960" y="5710428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Otros — sin tipo discriminado en el pliego</a:t>
            </a:r>
            <a:endParaRPr lang="en-US" sz="870" dirty="0"/>
          </a:p>
        </p:txBody>
      </p:sp>
      <p:sp>
        <p:nvSpPr>
          <p:cNvPr id="66" name="Text 62"/>
          <p:cNvSpPr/>
          <p:nvPr/>
        </p:nvSpPr>
        <p:spPr>
          <a:xfrm>
            <a:off x="11000232" y="57104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400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TENDIDO, CONEXIONADO Y COMUNICACIONES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Instrumentación — cables y señales por sistema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5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66751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5528" y="1600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Metros de cable a tender, por formación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94360" y="196596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7452360" y="1417320"/>
            <a:ext cx="4233672" cy="960120"/>
          </a:xfrm>
          <a:prstGeom prst="roundRect">
            <a:avLst>
              <a:gd name="adj" fmla="val 7619"/>
            </a:avLst>
          </a:prstGeom>
          <a:solidFill>
            <a:srgbClr val="005392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708392" y="1554480"/>
            <a:ext cx="3721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885 cables · 65.315 m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708392" y="193852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15.752 puntas de conexión (conductor + pantalla + prensacables)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7452360" y="2514600"/>
            <a:ext cx="423367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708392" y="2651760"/>
            <a:ext cx="3721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Señales I/O por sistema — Remota 7 (≈1.717)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708392" y="32004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 (Rockwell)</a:t>
            </a:r>
            <a:endParaRPr lang="en-US" sz="930" dirty="0"/>
          </a:p>
        </p:txBody>
      </p:sp>
      <p:sp>
        <p:nvSpPr>
          <p:cNvPr id="17" name="Shape 13"/>
          <p:cNvSpPr/>
          <p:nvPr/>
        </p:nvSpPr>
        <p:spPr>
          <a:xfrm>
            <a:off x="9418320" y="3236976"/>
            <a:ext cx="1719072" cy="1645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18" name="Shape 14"/>
          <p:cNvSpPr/>
          <p:nvPr/>
        </p:nvSpPr>
        <p:spPr>
          <a:xfrm>
            <a:off x="9418320" y="3236976"/>
            <a:ext cx="639565" cy="16459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19" name="Text 15"/>
          <p:cNvSpPr/>
          <p:nvPr/>
        </p:nvSpPr>
        <p:spPr>
          <a:xfrm>
            <a:off x="11183112" y="31821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330</a:t>
            </a:r>
            <a:endParaRPr lang="en-US" sz="930" dirty="0"/>
          </a:p>
        </p:txBody>
      </p:sp>
      <p:sp>
        <p:nvSpPr>
          <p:cNvPr id="20" name="Text 16"/>
          <p:cNvSpPr/>
          <p:nvPr/>
        </p:nvSpPr>
        <p:spPr>
          <a:xfrm>
            <a:off x="7708392" y="36027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 / HIMA (ESD+PSS)</a:t>
            </a:r>
            <a:endParaRPr lang="en-US" sz="930" dirty="0"/>
          </a:p>
        </p:txBody>
      </p:sp>
      <p:sp>
        <p:nvSpPr>
          <p:cNvPr id="21" name="Shape 17"/>
          <p:cNvSpPr/>
          <p:nvPr/>
        </p:nvSpPr>
        <p:spPr>
          <a:xfrm>
            <a:off x="9418320" y="3639312"/>
            <a:ext cx="1719072" cy="1645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22" name="Shape 18"/>
          <p:cNvSpPr/>
          <p:nvPr/>
        </p:nvSpPr>
        <p:spPr>
          <a:xfrm>
            <a:off x="9418320" y="3639312"/>
            <a:ext cx="1719072" cy="164592"/>
          </a:xfrm>
          <a:prstGeom prst="roundRect">
            <a:avLst>
              <a:gd name="adj" fmla="val 16667"/>
            </a:avLst>
          </a:prstGeom>
          <a:solidFill>
            <a:srgbClr val="6A1B9A"/>
          </a:solidFill>
          <a:ln/>
        </p:spPr>
      </p:sp>
      <p:sp>
        <p:nvSpPr>
          <p:cNvPr id="23" name="Text 19"/>
          <p:cNvSpPr/>
          <p:nvPr/>
        </p:nvSpPr>
        <p:spPr>
          <a:xfrm>
            <a:off x="11183112" y="35844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887</a:t>
            </a:r>
            <a:endParaRPr lang="en-US" sz="930" dirty="0"/>
          </a:p>
        </p:txBody>
      </p:sp>
      <p:sp>
        <p:nvSpPr>
          <p:cNvPr id="24" name="Text 20"/>
          <p:cNvSpPr/>
          <p:nvPr/>
        </p:nvSpPr>
        <p:spPr>
          <a:xfrm>
            <a:off x="7708392" y="40050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Equipos paquete (10 skids)</a:t>
            </a:r>
            <a:endParaRPr lang="en-US" sz="930" dirty="0"/>
          </a:p>
        </p:txBody>
      </p:sp>
      <p:sp>
        <p:nvSpPr>
          <p:cNvPr id="25" name="Shape 21"/>
          <p:cNvSpPr/>
          <p:nvPr/>
        </p:nvSpPr>
        <p:spPr>
          <a:xfrm>
            <a:off x="9418320" y="4041648"/>
            <a:ext cx="1719072" cy="1645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26" name="Shape 22"/>
          <p:cNvSpPr/>
          <p:nvPr/>
        </p:nvSpPr>
        <p:spPr>
          <a:xfrm>
            <a:off x="9418320" y="4041648"/>
            <a:ext cx="969037" cy="164592"/>
          </a:xfrm>
          <a:prstGeom prst="roundRect">
            <a:avLst>
              <a:gd name="adj" fmla="val 16667"/>
            </a:avLst>
          </a:prstGeom>
          <a:solidFill>
            <a:srgbClr val="546E7A"/>
          </a:solidFill>
          <a:ln/>
        </p:spPr>
      </p:sp>
      <p:sp>
        <p:nvSpPr>
          <p:cNvPr id="27" name="Text 23"/>
          <p:cNvSpPr/>
          <p:nvPr/>
        </p:nvSpPr>
        <p:spPr>
          <a:xfrm>
            <a:off x="11183112" y="39867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</a:t>
            </a:r>
            <a:endParaRPr lang="en-US" sz="930" dirty="0"/>
          </a:p>
        </p:txBody>
      </p:sp>
      <p:sp>
        <p:nvSpPr>
          <p:cNvPr id="28" name="Shape 24"/>
          <p:cNvSpPr/>
          <p:nvPr/>
        </p:nvSpPr>
        <p:spPr>
          <a:xfrm>
            <a:off x="7452360" y="4526280"/>
            <a:ext cx="423367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7708392" y="4663440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Cajas de interconexionado (JB) — ≈80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708392" y="49926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PSS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8732520" y="5020056"/>
            <a:ext cx="2450592" cy="146304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/>
        </p:spPr>
      </p:sp>
      <p:sp>
        <p:nvSpPr>
          <p:cNvPr id="32" name="Shape 28"/>
          <p:cNvSpPr/>
          <p:nvPr/>
        </p:nvSpPr>
        <p:spPr>
          <a:xfrm>
            <a:off x="8732520" y="5020056"/>
            <a:ext cx="2450592" cy="146304"/>
          </a:xfrm>
          <a:prstGeom prst="roundRect">
            <a:avLst>
              <a:gd name="adj" fmla="val 18750"/>
            </a:avLst>
          </a:prstGeom>
          <a:solidFill>
            <a:srgbClr val="6A1B9A"/>
          </a:solidFill>
          <a:ln/>
        </p:spPr>
      </p:sp>
      <p:sp>
        <p:nvSpPr>
          <p:cNvPr id="33" name="Text 29"/>
          <p:cNvSpPr/>
          <p:nvPr/>
        </p:nvSpPr>
        <p:spPr>
          <a:xfrm>
            <a:off x="11228832" y="49651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32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7708392" y="52760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8732520" y="5303520"/>
            <a:ext cx="2450592" cy="146304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/>
        </p:spPr>
      </p:sp>
      <p:sp>
        <p:nvSpPr>
          <p:cNvPr id="36" name="Shape 32"/>
          <p:cNvSpPr/>
          <p:nvPr/>
        </p:nvSpPr>
        <p:spPr>
          <a:xfrm>
            <a:off x="8732520" y="5303520"/>
            <a:ext cx="1531620" cy="146304"/>
          </a:xfrm>
          <a:prstGeom prst="roundRect">
            <a:avLst>
              <a:gd name="adj" fmla="val 18750"/>
            </a:avLst>
          </a:prstGeom>
          <a:solidFill>
            <a:srgbClr val="6A1B9A"/>
          </a:solidFill>
          <a:ln/>
        </p:spPr>
      </p:sp>
      <p:sp>
        <p:nvSpPr>
          <p:cNvPr id="37" name="Text 33"/>
          <p:cNvSpPr/>
          <p:nvPr/>
        </p:nvSpPr>
        <p:spPr>
          <a:xfrm>
            <a:off x="11228832" y="524865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7708392" y="55595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F&amp;G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8732520" y="5586984"/>
            <a:ext cx="2450592" cy="146304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/>
        </p:spPr>
      </p:sp>
      <p:sp>
        <p:nvSpPr>
          <p:cNvPr id="40" name="Shape 36"/>
          <p:cNvSpPr/>
          <p:nvPr/>
        </p:nvSpPr>
        <p:spPr>
          <a:xfrm>
            <a:off x="8732520" y="5586984"/>
            <a:ext cx="1684782" cy="146304"/>
          </a:xfrm>
          <a:prstGeom prst="roundRect">
            <a:avLst>
              <a:gd name="adj" fmla="val 18750"/>
            </a:avLst>
          </a:prstGeom>
          <a:solidFill>
            <a:srgbClr val="6A1B9A"/>
          </a:solidFill>
          <a:ln/>
        </p:spPr>
      </p:sp>
      <p:sp>
        <p:nvSpPr>
          <p:cNvPr id="41" name="Text 37"/>
          <p:cNvSpPr/>
          <p:nvPr/>
        </p:nvSpPr>
        <p:spPr>
          <a:xfrm>
            <a:off x="11228832" y="55321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7708392" y="58430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ESD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8732520" y="5870448"/>
            <a:ext cx="2450592" cy="146304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/>
        </p:spPr>
      </p:sp>
      <p:sp>
        <p:nvSpPr>
          <p:cNvPr id="44" name="Shape 40"/>
          <p:cNvSpPr/>
          <p:nvPr/>
        </p:nvSpPr>
        <p:spPr>
          <a:xfrm>
            <a:off x="8732520" y="5870448"/>
            <a:ext cx="306324" cy="146304"/>
          </a:xfrm>
          <a:prstGeom prst="roundRect">
            <a:avLst>
              <a:gd name="adj" fmla="val 18750"/>
            </a:avLst>
          </a:prstGeom>
          <a:solidFill>
            <a:srgbClr val="6A1B9A"/>
          </a:solidFill>
          <a:ln/>
        </p:spPr>
      </p:sp>
      <p:sp>
        <p:nvSpPr>
          <p:cNvPr id="45" name="Text 41"/>
          <p:cNvSpPr/>
          <p:nvPr/>
        </p:nvSpPr>
        <p:spPr>
          <a:xfrm>
            <a:off x="11228832" y="581558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7708392" y="61264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USS/otras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8732520" y="6153912"/>
            <a:ext cx="2450592" cy="146304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/>
        </p:spPr>
      </p:sp>
      <p:sp>
        <p:nvSpPr>
          <p:cNvPr id="48" name="Shape 44"/>
          <p:cNvSpPr/>
          <p:nvPr/>
        </p:nvSpPr>
        <p:spPr>
          <a:xfrm>
            <a:off x="8732520" y="6153912"/>
            <a:ext cx="153162" cy="146304"/>
          </a:xfrm>
          <a:prstGeom prst="roundRect">
            <a:avLst>
              <a:gd name="adj" fmla="val 18750"/>
            </a:avLst>
          </a:prstGeom>
          <a:solidFill>
            <a:srgbClr val="6A1B9A"/>
          </a:solidFill>
          <a:ln/>
        </p:spPr>
      </p:sp>
      <p:sp>
        <p:nvSpPr>
          <p:cNvPr id="49" name="Text 45"/>
          <p:cNvSpPr/>
          <p:nvPr/>
        </p:nvSpPr>
        <p:spPr>
          <a:xfrm>
            <a:off x="11228832" y="60990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7708392" y="643737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Desglose por área de planta: no disponible en la documentación relevada a la fecha.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FOCO ESPECIAL · PROVISIÓN INAUCO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 / SCADA — provisión y alcance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5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63040"/>
            <a:ext cx="5431536" cy="2926080"/>
          </a:xfrm>
          <a:prstGeom prst="roundRect">
            <a:avLst>
              <a:gd name="adj" fmla="val 1875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777240" y="173736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546E7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737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PPSA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Controladores (CPU Rockwell)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77240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Hardware de control — CPU y chasis ControlLogix 1756 (1756-A13) — provisión de PPSA (Pluspetrol), equipo del cliente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Ingeniería, configuración y puesta en marcha del sistema a cargo de Inauco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Backbone de comunicaciones Stratix 5800 — red PRP redundante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54496" y="1463040"/>
            <a:ext cx="543153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28816" y="173736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5" name="Text 12"/>
          <p:cNvSpPr/>
          <p:nvPr/>
        </p:nvSpPr>
        <p:spPr>
          <a:xfrm>
            <a:off x="6528816" y="17373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CONTRACTUAL AESA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28816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Tableros y módulos de E/S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528816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Tableros de las remotas 7A / 7B — suministro, montaje y cableado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 de entradas/salidas: 330 señales (175 AI · 65 AO · 38 DI · 32 DO)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Coordinación con Inauco para FAT / SAT / iFAT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4709160"/>
            <a:ext cx="11183112" cy="1600200"/>
          </a:xfrm>
          <a:prstGeom prst="roundRect">
            <a:avLst>
              <a:gd name="adj" fmla="val 4571"/>
            </a:avLst>
          </a:prstGeom>
          <a:solidFill>
            <a:srgbClr val="FBF3E3"/>
          </a:solidFill>
          <a:ln w="12700">
            <a:solidFill>
              <a:srgbClr val="C9922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2960" y="4892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641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Punto de atención — adecuación del SCADA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22960" y="527608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4F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Además de los controladores, el SCADA debe adecuarse / reconfigurarse para completar la provisión conjunta de PCS y SCADA: nuevas pantallas para ESD/F&amp;G/PSS de Shelter 7, matriz de causa-efecto (C&amp;E) y tags de la Remota 7 y de los equipos paquete. (Nota del equipo de proyecto — a confirmar alcance con Inauco.)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FOCO ESPECIAL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 — ampliación y provisión contractual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5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63040"/>
            <a:ext cx="5431536" cy="2926080"/>
          </a:xfrm>
          <a:prstGeom prst="roundRect">
            <a:avLst>
              <a:gd name="adj" fmla="val 1875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777240" y="173736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546E7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737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PPSA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Hardware y software HIMA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77240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Plataforma HIMA Planar4 (existente) — hardware y software provistos por PPSA (Pluspetrol)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racks de I/O nuevos — ESD / PSS / USS (Shelter 7), marcados como Provisión PP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Ampliación de un sistema YA INSTALADO, no un sistema nuevo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54496" y="1463040"/>
            <a:ext cx="543153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28816" y="173736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5" name="Text 12"/>
          <p:cNvSpPr/>
          <p:nvPr/>
        </p:nvSpPr>
        <p:spPr>
          <a:xfrm>
            <a:off x="6528816" y="17373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CONTRACTUAL AESA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28816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de marshalling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528816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ESD / F&amp;G (1) + PSS 07A (1) + PSS 07B (1) — único alcance contractual de AESA respecto de HIMA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Montaje, conexionado e integración en campo de los tableros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Coordinación con HIMA para FAT / SAT / iFAT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4709160"/>
            <a:ext cx="11183112" cy="1600200"/>
          </a:xfrm>
          <a:prstGeom prst="roundRect">
            <a:avLst>
              <a:gd name="adj" fmla="val 4571"/>
            </a:avLst>
          </a:prstGeom>
          <a:solidFill>
            <a:srgbClr val="FBF3E3"/>
          </a:solidFill>
          <a:ln w="12700">
            <a:solidFill>
              <a:srgbClr val="C9922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2960" y="4892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641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Punto de atención — reajuste de hardware y software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22960" y="527608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4F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Según lo informado por el equipo de proyecto, la re-adecuación del proyecto no incorporó en su alcance original el reajuste de hardware y software de HIMA. Como consecuencia, AESA debe reajustar el hardware y software del sistema para la ampliación. (Nota de alcance del equipo de proyecto — a validar contractualmente contra el pliego vigente.)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VISTA POR PROVISIÓN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Cronograma integrado — convergencia hacia el RFSU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5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965960" y="2267712"/>
            <a:ext cx="9720072" cy="658368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9" name="Shape 6"/>
          <p:cNvSpPr/>
          <p:nvPr/>
        </p:nvSpPr>
        <p:spPr>
          <a:xfrm>
            <a:off x="1965960" y="3767328"/>
            <a:ext cx="9720072" cy="658368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10" name="Shape 7"/>
          <p:cNvSpPr/>
          <p:nvPr/>
        </p:nvSpPr>
        <p:spPr>
          <a:xfrm>
            <a:off x="1965960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80969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95978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10987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25996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41005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256014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471023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686032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 rot="19500000">
            <a:off x="1673352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May'26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2370963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 rot="19500000">
            <a:off x="2078355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Jun'26</a:t>
            </a:r>
            <a:endParaRPr lang="en-US" sz="680" dirty="0"/>
          </a:p>
        </p:txBody>
      </p:sp>
      <p:sp>
        <p:nvSpPr>
          <p:cNvPr id="22" name="Shape 19"/>
          <p:cNvSpPr/>
          <p:nvPr/>
        </p:nvSpPr>
        <p:spPr>
          <a:xfrm>
            <a:off x="2775966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 rot="19500000">
            <a:off x="2483358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Jul'26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 rot="19500000">
            <a:off x="2888361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Ago'26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3585972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 rot="19500000">
            <a:off x="3293364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Sep'26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3990975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 rot="19500000">
            <a:off x="3698367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Oct'26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 rot="19500000">
            <a:off x="4103370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Nov'26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4800981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 rot="19500000">
            <a:off x="4508373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Dic'26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5205984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 rot="19500000">
            <a:off x="4913376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Ene'27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 rot="19500000">
            <a:off x="5318379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Feb'27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6015990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 rot="19500000">
            <a:off x="5723382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Mar'27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6420993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 rot="19500000">
            <a:off x="6128385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Abr'27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 rot="19500000">
            <a:off x="6533388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May'27</a:t>
            </a:r>
            <a:endParaRPr lang="en-US" sz="680" dirty="0"/>
          </a:p>
        </p:txBody>
      </p:sp>
      <p:sp>
        <p:nvSpPr>
          <p:cNvPr id="40" name="Shape 37"/>
          <p:cNvSpPr/>
          <p:nvPr/>
        </p:nvSpPr>
        <p:spPr>
          <a:xfrm>
            <a:off x="7230999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 rot="19500000">
            <a:off x="6938391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Jun'27</a:t>
            </a:r>
            <a:endParaRPr lang="en-US" sz="680" dirty="0"/>
          </a:p>
        </p:txBody>
      </p:sp>
      <p:sp>
        <p:nvSpPr>
          <p:cNvPr id="42" name="Shape 39"/>
          <p:cNvSpPr/>
          <p:nvPr/>
        </p:nvSpPr>
        <p:spPr>
          <a:xfrm>
            <a:off x="7636002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 rot="19500000">
            <a:off x="7343394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Jul'27</a:t>
            </a:r>
            <a:endParaRPr lang="en-US" sz="680" dirty="0"/>
          </a:p>
        </p:txBody>
      </p:sp>
      <p:sp>
        <p:nvSpPr>
          <p:cNvPr id="44" name="Text 41"/>
          <p:cNvSpPr/>
          <p:nvPr/>
        </p:nvSpPr>
        <p:spPr>
          <a:xfrm rot="19500000">
            <a:off x="7748397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Ago'27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8446008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 rot="19500000">
            <a:off x="8153400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Sep'27</a:t>
            </a:r>
            <a:endParaRPr lang="en-US" sz="680" dirty="0"/>
          </a:p>
        </p:txBody>
      </p:sp>
      <p:sp>
        <p:nvSpPr>
          <p:cNvPr id="47" name="Shape 44"/>
          <p:cNvSpPr/>
          <p:nvPr/>
        </p:nvSpPr>
        <p:spPr>
          <a:xfrm>
            <a:off x="8851011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 rot="19500000">
            <a:off x="8558403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Oct'27</a:t>
            </a:r>
            <a:endParaRPr lang="en-US" sz="680" dirty="0"/>
          </a:p>
        </p:txBody>
      </p:sp>
      <p:sp>
        <p:nvSpPr>
          <p:cNvPr id="49" name="Text 46"/>
          <p:cNvSpPr/>
          <p:nvPr/>
        </p:nvSpPr>
        <p:spPr>
          <a:xfrm rot="19500000">
            <a:off x="8963406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Nov'27</a:t>
            </a:r>
            <a:endParaRPr lang="en-US" sz="680" dirty="0"/>
          </a:p>
        </p:txBody>
      </p:sp>
      <p:sp>
        <p:nvSpPr>
          <p:cNvPr id="50" name="Shape 47"/>
          <p:cNvSpPr/>
          <p:nvPr/>
        </p:nvSpPr>
        <p:spPr>
          <a:xfrm>
            <a:off x="9661017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 rot="19500000">
            <a:off x="9368409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Dic'27</a:t>
            </a:r>
            <a:endParaRPr lang="en-US" sz="680" dirty="0"/>
          </a:p>
        </p:txBody>
      </p:sp>
      <p:sp>
        <p:nvSpPr>
          <p:cNvPr id="52" name="Shape 49"/>
          <p:cNvSpPr/>
          <p:nvPr/>
        </p:nvSpPr>
        <p:spPr>
          <a:xfrm>
            <a:off x="10066020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 rot="19500000">
            <a:off x="9773412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Ene'28</a:t>
            </a:r>
            <a:endParaRPr lang="en-US" sz="680" dirty="0"/>
          </a:p>
        </p:txBody>
      </p:sp>
      <p:sp>
        <p:nvSpPr>
          <p:cNvPr id="54" name="Text 51"/>
          <p:cNvSpPr/>
          <p:nvPr/>
        </p:nvSpPr>
        <p:spPr>
          <a:xfrm rot="19500000">
            <a:off x="10178415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Feb'28</a:t>
            </a:r>
            <a:endParaRPr lang="en-US" sz="680" dirty="0"/>
          </a:p>
        </p:txBody>
      </p:sp>
      <p:sp>
        <p:nvSpPr>
          <p:cNvPr id="55" name="Text 52"/>
          <p:cNvSpPr/>
          <p:nvPr/>
        </p:nvSpPr>
        <p:spPr>
          <a:xfrm>
            <a:off x="457200" y="151790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457200" y="226771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457200" y="301752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 / SCADA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457200" y="376732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457200" y="451713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AESA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Integración / EPC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2816466" y="1723644"/>
            <a:ext cx="1944014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1" name="Shape 58"/>
          <p:cNvSpPr/>
          <p:nvPr/>
        </p:nvSpPr>
        <p:spPr>
          <a:xfrm>
            <a:off x="4760481" y="1723644"/>
            <a:ext cx="1944014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2" name="Shape 59"/>
          <p:cNvSpPr/>
          <p:nvPr/>
        </p:nvSpPr>
        <p:spPr>
          <a:xfrm>
            <a:off x="6704495" y="1723644"/>
            <a:ext cx="729005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3" name="Shape 60"/>
          <p:cNvSpPr/>
          <p:nvPr/>
        </p:nvSpPr>
        <p:spPr>
          <a:xfrm>
            <a:off x="7328344" y="1741932"/>
            <a:ext cx="210312" cy="210312"/>
          </a:xfrm>
          <a:prstGeom prst="diamond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427661" y="19705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Entrega S#3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14-May-27</a:t>
            </a:r>
            <a:endParaRPr lang="en-US" sz="730" dirty="0"/>
          </a:p>
        </p:txBody>
      </p:sp>
      <p:sp>
        <p:nvSpPr>
          <p:cNvPr id="65" name="Shape 62"/>
          <p:cNvSpPr/>
          <p:nvPr/>
        </p:nvSpPr>
        <p:spPr>
          <a:xfrm>
            <a:off x="2816466" y="2473452"/>
            <a:ext cx="2673020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6" name="Shape 63"/>
          <p:cNvSpPr/>
          <p:nvPr/>
        </p:nvSpPr>
        <p:spPr>
          <a:xfrm>
            <a:off x="5489486" y="2473452"/>
            <a:ext cx="1215009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7" name="Shape 64"/>
          <p:cNvSpPr/>
          <p:nvPr/>
        </p:nvSpPr>
        <p:spPr>
          <a:xfrm>
            <a:off x="6599339" y="2491740"/>
            <a:ext cx="210312" cy="210312"/>
          </a:xfrm>
          <a:prstGeom prst="diamond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698655" y="27203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FAT Integral PMS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31-Mar-27</a:t>
            </a:r>
            <a:endParaRPr lang="en-US" sz="730" dirty="0"/>
          </a:p>
        </p:txBody>
      </p:sp>
      <p:sp>
        <p:nvSpPr>
          <p:cNvPr id="69" name="Shape 66"/>
          <p:cNvSpPr/>
          <p:nvPr/>
        </p:nvSpPr>
        <p:spPr>
          <a:xfrm>
            <a:off x="3059468" y="3223260"/>
            <a:ext cx="3280524" cy="246888"/>
          </a:xfrm>
          <a:prstGeom prst="roundRect">
            <a:avLst>
              <a:gd name="adj" fmla="val 14815"/>
            </a:avLst>
          </a:prstGeom>
          <a:solidFill>
            <a:srgbClr val="1565C0"/>
          </a:solidFill>
          <a:ln/>
        </p:spPr>
      </p:sp>
      <p:sp>
        <p:nvSpPr>
          <p:cNvPr id="70" name="Shape 67"/>
          <p:cNvSpPr/>
          <p:nvPr/>
        </p:nvSpPr>
        <p:spPr>
          <a:xfrm>
            <a:off x="6704495" y="3223260"/>
            <a:ext cx="486004" cy="246888"/>
          </a:xfrm>
          <a:prstGeom prst="roundRect">
            <a:avLst>
              <a:gd name="adj" fmla="val 14815"/>
            </a:avLst>
          </a:prstGeom>
          <a:solidFill>
            <a:srgbClr val="1565C0"/>
          </a:solidFill>
          <a:ln/>
        </p:spPr>
      </p:sp>
      <p:sp>
        <p:nvSpPr>
          <p:cNvPr id="71" name="Shape 68"/>
          <p:cNvSpPr/>
          <p:nvPr/>
        </p:nvSpPr>
        <p:spPr>
          <a:xfrm>
            <a:off x="7190499" y="3223260"/>
            <a:ext cx="2430018" cy="246888"/>
          </a:xfrm>
          <a:prstGeom prst="roundRect">
            <a:avLst>
              <a:gd name="adj" fmla="val 14815"/>
            </a:avLst>
          </a:prstGeom>
          <a:solidFill>
            <a:srgbClr val="1565C0">
              <a:alpha val="55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7085343" y="3241548"/>
            <a:ext cx="210312" cy="210312"/>
          </a:xfrm>
          <a:prstGeom prst="diamond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184659" y="34701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 FAT integral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04-May-27</a:t>
            </a:r>
            <a:endParaRPr lang="en-US" sz="730" dirty="0"/>
          </a:p>
        </p:txBody>
      </p:sp>
      <p:sp>
        <p:nvSpPr>
          <p:cNvPr id="74" name="Shape 71"/>
          <p:cNvSpPr/>
          <p:nvPr/>
        </p:nvSpPr>
        <p:spPr>
          <a:xfrm>
            <a:off x="3059468" y="3973068"/>
            <a:ext cx="2308517" cy="246888"/>
          </a:xfrm>
          <a:prstGeom prst="roundRect">
            <a:avLst>
              <a:gd name="adj" fmla="val 14815"/>
            </a:avLst>
          </a:prstGeom>
          <a:solidFill>
            <a:srgbClr val="6A1B9A"/>
          </a:solidFill>
          <a:ln/>
        </p:spPr>
      </p:sp>
      <p:sp>
        <p:nvSpPr>
          <p:cNvPr id="75" name="Shape 72"/>
          <p:cNvSpPr/>
          <p:nvPr/>
        </p:nvSpPr>
        <p:spPr>
          <a:xfrm>
            <a:off x="5262829" y="3991356"/>
            <a:ext cx="210312" cy="210312"/>
          </a:xfrm>
          <a:prstGeom prst="diamond">
            <a:avLst/>
          </a:prstGeom>
          <a:solidFill>
            <a:srgbClr val="6A1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362145" y="42199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Recepción tablero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25-Dic-26</a:t>
            </a:r>
            <a:endParaRPr lang="en-US" sz="730" dirty="0"/>
          </a:p>
        </p:txBody>
      </p:sp>
      <p:sp>
        <p:nvSpPr>
          <p:cNvPr id="77" name="Shape 74"/>
          <p:cNvSpPr/>
          <p:nvPr/>
        </p:nvSpPr>
        <p:spPr>
          <a:xfrm>
            <a:off x="5367985" y="3973068"/>
            <a:ext cx="607504" cy="246888"/>
          </a:xfrm>
          <a:prstGeom prst="roundRect">
            <a:avLst>
              <a:gd name="adj" fmla="val 14815"/>
            </a:avLst>
          </a:prstGeom>
          <a:solidFill>
            <a:srgbClr val="6A1B9A">
              <a:alpha val="55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6704495" y="3973068"/>
            <a:ext cx="486004" cy="246888"/>
          </a:xfrm>
          <a:prstGeom prst="roundRect">
            <a:avLst>
              <a:gd name="adj" fmla="val 14815"/>
            </a:avLst>
          </a:prstGeom>
          <a:solidFill>
            <a:srgbClr val="6A1B9A"/>
          </a:solidFill>
          <a:ln/>
        </p:spPr>
      </p:sp>
      <p:sp>
        <p:nvSpPr>
          <p:cNvPr id="79" name="Shape 76"/>
          <p:cNvSpPr/>
          <p:nvPr/>
        </p:nvSpPr>
        <p:spPr>
          <a:xfrm>
            <a:off x="7190499" y="3973068"/>
            <a:ext cx="2430018" cy="246888"/>
          </a:xfrm>
          <a:prstGeom prst="roundRect">
            <a:avLst>
              <a:gd name="adj" fmla="val 14815"/>
            </a:avLst>
          </a:prstGeom>
          <a:solidFill>
            <a:srgbClr val="6A1B9A">
              <a:alpha val="55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7190499" y="4722876"/>
            <a:ext cx="4009530" cy="246888"/>
          </a:xfrm>
          <a:prstGeom prst="roundRect">
            <a:avLst>
              <a:gd name="adj" fmla="val 14815"/>
            </a:avLst>
          </a:prstGeom>
          <a:solidFill>
            <a:srgbClr val="2E7D32">
              <a:alpha val="45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8057350" y="4741164"/>
            <a:ext cx="210312" cy="210312"/>
          </a:xfrm>
          <a:prstGeom prst="diamond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1020406" y="4727448"/>
            <a:ext cx="237744" cy="237744"/>
          </a:xfrm>
          <a:prstGeom prst="star5">
            <a:avLst/>
          </a:prstGeom>
          <a:solidFill>
            <a:srgbClr val="C992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10087718" y="49834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RFSU</a:t>
            </a:r>
            <a:endParaRPr lang="en-US" sz="76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31-Ene-28</a:t>
            </a:r>
            <a:endParaRPr lang="en-US" sz="760" dirty="0"/>
          </a:p>
        </p:txBody>
      </p:sp>
      <p:sp>
        <p:nvSpPr>
          <p:cNvPr id="84" name="Text 81"/>
          <p:cNvSpPr/>
          <p:nvPr/>
        </p:nvSpPr>
        <p:spPr>
          <a:xfrm>
            <a:off x="6973786" y="41696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8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iFAT — Integración total</a:t>
            </a:r>
            <a:endParaRPr lang="en-US" sz="78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8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25-Jun → 14-Jul-27</a:t>
            </a:r>
            <a:endParaRPr lang="en-US" sz="780" dirty="0"/>
          </a:p>
        </p:txBody>
      </p:sp>
      <p:sp>
        <p:nvSpPr>
          <p:cNvPr id="85" name="Shape 82"/>
          <p:cNvSpPr/>
          <p:nvPr/>
        </p:nvSpPr>
        <p:spPr>
          <a:xfrm>
            <a:off x="7433501" y="1847088"/>
            <a:ext cx="729005" cy="2971800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86" name="Shape 83"/>
          <p:cNvSpPr/>
          <p:nvPr/>
        </p:nvSpPr>
        <p:spPr>
          <a:xfrm>
            <a:off x="6704495" y="2596896"/>
            <a:ext cx="1458011" cy="2221992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87" name="Shape 84"/>
          <p:cNvSpPr/>
          <p:nvPr/>
        </p:nvSpPr>
        <p:spPr>
          <a:xfrm>
            <a:off x="7190499" y="3346704"/>
            <a:ext cx="972007" cy="1472184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88" name="Shape 85"/>
          <p:cNvSpPr/>
          <p:nvPr/>
        </p:nvSpPr>
        <p:spPr>
          <a:xfrm>
            <a:off x="7190499" y="4096512"/>
            <a:ext cx="972007" cy="722376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89" name="Text 86"/>
          <p:cNvSpPr/>
          <p:nvPr/>
        </p:nvSpPr>
        <p:spPr>
          <a:xfrm>
            <a:off x="502920" y="5349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94D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HITOS PRINCIPALES</a:t>
            </a:r>
            <a:endParaRPr lang="en-US" sz="850" dirty="0"/>
          </a:p>
        </p:txBody>
      </p:sp>
      <p:sp>
        <p:nvSpPr>
          <p:cNvPr id="90" name="Shape 87"/>
          <p:cNvSpPr/>
          <p:nvPr/>
        </p:nvSpPr>
        <p:spPr>
          <a:xfrm>
            <a:off x="1965960" y="5678424"/>
            <a:ext cx="9720072" cy="0"/>
          </a:xfrm>
          <a:prstGeom prst="line">
            <a:avLst/>
          </a:prstGeom>
          <a:noFill/>
          <a:ln w="19050">
            <a:solidFill>
              <a:srgbClr val="C7D0D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5299405" y="5609844"/>
            <a:ext cx="137160" cy="137160"/>
          </a:xfrm>
          <a:prstGeom prst="diamond">
            <a:avLst/>
          </a:prstGeom>
          <a:solidFill>
            <a:srgbClr val="6A1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4682185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Recepción tablero HIMA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25-Dic-26</a:t>
            </a:r>
            <a:endParaRPr lang="en-US" sz="690" dirty="0"/>
          </a:p>
        </p:txBody>
      </p:sp>
      <p:sp>
        <p:nvSpPr>
          <p:cNvPr id="93" name="Shape 90"/>
          <p:cNvSpPr/>
          <p:nvPr/>
        </p:nvSpPr>
        <p:spPr>
          <a:xfrm>
            <a:off x="6635915" y="5609844"/>
            <a:ext cx="137160" cy="137160"/>
          </a:xfrm>
          <a:prstGeom prst="diamond">
            <a:avLst/>
          </a:prstGeom>
          <a:solidFill>
            <a:srgbClr val="C628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6018695" y="6053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FAT Integral PMS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31-Mar-27</a:t>
            </a:r>
            <a:endParaRPr lang="en-US" sz="690" dirty="0"/>
          </a:p>
        </p:txBody>
      </p:sp>
      <p:sp>
        <p:nvSpPr>
          <p:cNvPr id="95" name="Shape 92"/>
          <p:cNvSpPr/>
          <p:nvPr/>
        </p:nvSpPr>
        <p:spPr>
          <a:xfrm>
            <a:off x="7121919" y="5609844"/>
            <a:ext cx="137160" cy="137160"/>
          </a:xfrm>
          <a:prstGeom prst="diamond">
            <a:avLst/>
          </a:prstGeom>
          <a:solidFill>
            <a:srgbClr val="1565C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6504699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 FAT integral PCS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04-May-27</a:t>
            </a:r>
            <a:endParaRPr lang="en-US" sz="690" dirty="0"/>
          </a:p>
        </p:txBody>
      </p:sp>
      <p:sp>
        <p:nvSpPr>
          <p:cNvPr id="97" name="Shape 94"/>
          <p:cNvSpPr/>
          <p:nvPr/>
        </p:nvSpPr>
        <p:spPr>
          <a:xfrm>
            <a:off x="7364921" y="5609844"/>
            <a:ext cx="137160" cy="137160"/>
          </a:xfrm>
          <a:prstGeom prst="diamond">
            <a:avLst/>
          </a:prstGeom>
          <a:solidFill>
            <a:srgbClr val="C628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6747701" y="6053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Entrega S#3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14-May-27</a:t>
            </a:r>
            <a:endParaRPr lang="en-US" sz="690" dirty="0"/>
          </a:p>
        </p:txBody>
      </p:sp>
      <p:sp>
        <p:nvSpPr>
          <p:cNvPr id="99" name="Shape 96"/>
          <p:cNvSpPr/>
          <p:nvPr/>
        </p:nvSpPr>
        <p:spPr>
          <a:xfrm>
            <a:off x="8093926" y="5609844"/>
            <a:ext cx="137160" cy="137160"/>
          </a:xfrm>
          <a:prstGeom prst="diamond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7476706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iFAT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25-Jun→14-Jul-27</a:t>
            </a:r>
            <a:endParaRPr lang="en-US" sz="690" dirty="0"/>
          </a:p>
        </p:txBody>
      </p:sp>
      <p:sp>
        <p:nvSpPr>
          <p:cNvPr id="101" name="Shape 98"/>
          <p:cNvSpPr/>
          <p:nvPr/>
        </p:nvSpPr>
        <p:spPr>
          <a:xfrm>
            <a:off x="11047838" y="5586984"/>
            <a:ext cx="182880" cy="182880"/>
          </a:xfrm>
          <a:prstGeom prst="star5">
            <a:avLst/>
          </a:prstGeom>
          <a:solidFill>
            <a:srgbClr val="C992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10453478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RFSU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31-Ene-28</a:t>
            </a:r>
            <a:endParaRPr lang="en-US" sz="690" dirty="0"/>
          </a:p>
        </p:txBody>
      </p:sp>
      <p:sp>
        <p:nvSpPr>
          <p:cNvPr id="103" name="Shape 100"/>
          <p:cNvSpPr/>
          <p:nvPr/>
        </p:nvSpPr>
        <p:spPr>
          <a:xfrm>
            <a:off x="502920" y="6409944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04" name="Text 101"/>
          <p:cNvSpPr/>
          <p:nvPr/>
        </p:nvSpPr>
        <p:spPr>
          <a:xfrm>
            <a:off x="6858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050" dirty="0"/>
          </a:p>
        </p:txBody>
      </p:sp>
      <p:sp>
        <p:nvSpPr>
          <p:cNvPr id="105" name="Shape 102"/>
          <p:cNvSpPr/>
          <p:nvPr/>
        </p:nvSpPr>
        <p:spPr>
          <a:xfrm>
            <a:off x="1874520" y="6409944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06" name="Text 103"/>
          <p:cNvSpPr/>
          <p:nvPr/>
        </p:nvSpPr>
        <p:spPr>
          <a:xfrm>
            <a:off x="20574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050" dirty="0"/>
          </a:p>
        </p:txBody>
      </p:sp>
      <p:sp>
        <p:nvSpPr>
          <p:cNvPr id="107" name="Shape 104"/>
          <p:cNvSpPr/>
          <p:nvPr/>
        </p:nvSpPr>
        <p:spPr>
          <a:xfrm>
            <a:off x="3246120" y="6409944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08" name="Text 105"/>
          <p:cNvSpPr/>
          <p:nvPr/>
        </p:nvSpPr>
        <p:spPr>
          <a:xfrm>
            <a:off x="34290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1050" dirty="0"/>
          </a:p>
        </p:txBody>
      </p:sp>
      <p:sp>
        <p:nvSpPr>
          <p:cNvPr id="109" name="Shape 106"/>
          <p:cNvSpPr/>
          <p:nvPr/>
        </p:nvSpPr>
        <p:spPr>
          <a:xfrm>
            <a:off x="4617720" y="6409944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0" name="Text 107"/>
          <p:cNvSpPr/>
          <p:nvPr/>
        </p:nvSpPr>
        <p:spPr>
          <a:xfrm>
            <a:off x="48006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AESA</a:t>
            </a:r>
            <a:endParaRPr lang="en-US" sz="1050" dirty="0"/>
          </a:p>
        </p:txBody>
      </p:sp>
      <p:sp>
        <p:nvSpPr>
          <p:cNvPr id="111" name="Text 108"/>
          <p:cNvSpPr/>
          <p:nvPr/>
        </p:nvSpPr>
        <p:spPr>
          <a:xfrm>
            <a:off x="5943600" y="638251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Fechas según Cronograma Integrado CPF2 Rev2 (06-08-2026), sujetas a OC y freezing points.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CORTE 14-AGO-2026 · ELECTRICIDAD + INSTRUMENTACIÓN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Riesgos — cuellos de botella en adjudicaciones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5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7512" y="1545336"/>
            <a:ext cx="365760" cy="45720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" y="1563624"/>
            <a:ext cx="23522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 / 68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49224" y="1965960"/>
            <a:ext cx="23522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 con OC colocada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35% del total — resto en gestión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13582" y="1545336"/>
            <a:ext cx="365760" cy="4572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14" name="Text 11"/>
          <p:cNvSpPr/>
          <p:nvPr/>
        </p:nvSpPr>
        <p:spPr>
          <a:xfrm>
            <a:off x="3495294" y="1563624"/>
            <a:ext cx="23522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35 / 68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495294" y="1965960"/>
            <a:ext cx="23522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 en Análisis Técnico (51%)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bajó desde 40 la semana anterior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59652" y="1545336"/>
            <a:ext cx="36576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5"/>
          <p:cNvSpPr/>
          <p:nvPr/>
        </p:nvSpPr>
        <p:spPr>
          <a:xfrm>
            <a:off x="6341364" y="1563624"/>
            <a:ext cx="23522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+6 OC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341364" y="1965960"/>
            <a:ext cx="23522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Nuevas OC colocadas esta semana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Todas en Instrumentación — AT bajó 40→35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904113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205722" y="1545336"/>
            <a:ext cx="36576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9187434" y="1563624"/>
            <a:ext cx="23522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de 8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9187434" y="1965960"/>
            <a:ext cx="23522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Ítems críticos aún sin OC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Válvulas de control (vencido) · Cables IN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02920" y="2697480"/>
            <a:ext cx="55778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77240" y="2862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Embudo de adjudicación por especialidad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77240" y="30998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Composición de las RI emitidas (%), corte 14-08-2026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77240" y="34747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— 19 RI (15 emitidas · 4 sin emitir)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77240" y="3730752"/>
            <a:ext cx="2117558" cy="292608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3730752"/>
            <a:ext cx="2117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894798" y="3730752"/>
            <a:ext cx="1852863" cy="292608"/>
          </a:xfrm>
          <a:prstGeom prst="rect">
            <a:avLst/>
          </a:prstGeom>
          <a:solidFill>
            <a:srgbClr val="D982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894798" y="3730752"/>
            <a:ext cx="18528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747661" y="3730752"/>
            <a:ext cx="1058779" cy="292608"/>
          </a:xfrm>
          <a:prstGeom prst="rect">
            <a:avLst/>
          </a:prstGeom>
          <a:solidFill>
            <a:srgbClr val="C9D2D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47661" y="3730752"/>
            <a:ext cx="1058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77240" y="42062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Instrumentación — 49 RI (45 emitidas · 4 sin emitir)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77240" y="4462272"/>
            <a:ext cx="1642188" cy="292608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77240" y="4462272"/>
            <a:ext cx="16421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2419428" y="4462272"/>
            <a:ext cx="2873829" cy="292608"/>
          </a:xfrm>
          <a:prstGeom prst="rect">
            <a:avLst/>
          </a:prstGeom>
          <a:solidFill>
            <a:srgbClr val="D982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419428" y="4462272"/>
            <a:ext cx="28738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293256" y="4462272"/>
            <a:ext cx="102637" cy="292608"/>
          </a:xfrm>
          <a:prstGeom prst="rect">
            <a:avLst/>
          </a:prstGeom>
          <a:solidFill>
            <a:srgbClr val="8FA3B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395893" y="4462272"/>
            <a:ext cx="410547" cy="292608"/>
          </a:xfrm>
          <a:prstGeom prst="rect">
            <a:avLst/>
          </a:prstGeom>
          <a:solidFill>
            <a:srgbClr val="C9D2D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77240" y="5010912"/>
            <a:ext cx="118872" cy="1188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2" name="Text 39"/>
          <p:cNvSpPr/>
          <p:nvPr/>
        </p:nvSpPr>
        <p:spPr>
          <a:xfrm>
            <a:off x="941832" y="49560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colocada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2075688" y="5010912"/>
            <a:ext cx="118872" cy="118872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44" name="Text 41"/>
          <p:cNvSpPr/>
          <p:nvPr/>
        </p:nvSpPr>
        <p:spPr>
          <a:xfrm>
            <a:off x="2240280" y="49560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 Análisis Técnico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3374136" y="5010912"/>
            <a:ext cx="118872" cy="118872"/>
          </a:xfrm>
          <a:prstGeom prst="rect">
            <a:avLst/>
          </a:prstGeom>
          <a:solidFill>
            <a:srgbClr val="8FA3BF"/>
          </a:solidFill>
          <a:ln/>
        </p:spPr>
      </p:sp>
      <p:sp>
        <p:nvSpPr>
          <p:cNvPr id="46" name="Text 43"/>
          <p:cNvSpPr/>
          <p:nvPr/>
        </p:nvSpPr>
        <p:spPr>
          <a:xfrm>
            <a:off x="3538728" y="49560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Petición ofertas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4672584" y="5010912"/>
            <a:ext cx="118872" cy="118872"/>
          </a:xfrm>
          <a:prstGeom prst="rect">
            <a:avLst/>
          </a:prstGeom>
          <a:solidFill>
            <a:srgbClr val="C9D2DE"/>
          </a:solidFill>
          <a:ln/>
        </p:spPr>
      </p:sp>
      <p:sp>
        <p:nvSpPr>
          <p:cNvPr id="48" name="Text 45"/>
          <p:cNvSpPr/>
          <p:nvPr/>
        </p:nvSpPr>
        <p:spPr>
          <a:xfrm>
            <a:off x="4837176" y="49560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emitir (RI)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77240" y="531266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Lectura: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corte muestra destrabe — Instrumentación colocó +6 OC en la semana (10→16) y bajó su cola en Análisis Técnico (33→28), aunque aún concentra el 62% de sus RI emitidas en AT (vs. 47% en Electricidad). Electricidad no tuvo movimiento esta semana (7 AT · 8 OC, sin cambios).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309360" y="2697480"/>
            <a:ext cx="5376672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6565392" y="2862072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Ítems críticos — cadena RI → OC</a:t>
            </a:r>
            <a:endParaRPr lang="en-US" sz="1350" dirty="0"/>
          </a:p>
        </p:txBody>
      </p:sp>
      <p:sp>
        <p:nvSpPr>
          <p:cNvPr id="52" name="Text 49"/>
          <p:cNvSpPr/>
          <p:nvPr/>
        </p:nvSpPr>
        <p:spPr>
          <a:xfrm>
            <a:off x="6565392" y="3099816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ítems seguidos desde el inicio del proyecto (Long Lead Items, Hito 2, alto monto)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565392" y="3433572"/>
            <a:ext cx="91440" cy="914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4" name="Text 51"/>
          <p:cNvSpPr/>
          <p:nvPr/>
        </p:nvSpPr>
        <p:spPr>
          <a:xfrm>
            <a:off x="6729984" y="33924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Shelter Eléctrico SE#4</a:t>
            </a:r>
            <a:endParaRPr lang="en-US" sz="880" dirty="0"/>
          </a:p>
        </p:txBody>
      </p:sp>
      <p:sp>
        <p:nvSpPr>
          <p:cNvPr id="55" name="Text 52"/>
          <p:cNvSpPr/>
          <p:nvPr/>
        </p:nvSpPr>
        <p:spPr>
          <a:xfrm>
            <a:off x="9070848" y="339242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</a:t>
            </a:r>
            <a:endParaRPr lang="en-US" sz="780" dirty="0"/>
          </a:p>
        </p:txBody>
      </p:sp>
      <p:sp>
        <p:nvSpPr>
          <p:cNvPr id="56" name="Text 53"/>
          <p:cNvSpPr/>
          <p:nvPr/>
        </p:nvSpPr>
        <p:spPr>
          <a:xfrm>
            <a:off x="9436608" y="339242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· 129 d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6565392" y="3739896"/>
            <a:ext cx="91440" cy="914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8" name="Text 55"/>
          <p:cNvSpPr/>
          <p:nvPr/>
        </p:nvSpPr>
        <p:spPr>
          <a:xfrm>
            <a:off x="6729984" y="36987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Shelter Eléctrico SE#3</a:t>
            </a:r>
            <a:endParaRPr lang="en-US" sz="880" dirty="0"/>
          </a:p>
        </p:txBody>
      </p:sp>
      <p:sp>
        <p:nvSpPr>
          <p:cNvPr id="59" name="Text 56"/>
          <p:cNvSpPr/>
          <p:nvPr/>
        </p:nvSpPr>
        <p:spPr>
          <a:xfrm>
            <a:off x="9070848" y="36987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</a:t>
            </a:r>
            <a:endParaRPr lang="en-US" sz="780" dirty="0"/>
          </a:p>
        </p:txBody>
      </p:sp>
      <p:sp>
        <p:nvSpPr>
          <p:cNvPr id="60" name="Text 57"/>
          <p:cNvSpPr/>
          <p:nvPr/>
        </p:nvSpPr>
        <p:spPr>
          <a:xfrm>
            <a:off x="9436608" y="36987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· 129 d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6565392" y="4046220"/>
            <a:ext cx="91440" cy="914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2" name="Text 59"/>
          <p:cNvSpPr/>
          <p:nvPr/>
        </p:nvSpPr>
        <p:spPr>
          <a:xfrm>
            <a:off x="6729984" y="40050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 PMS</a:t>
            </a:r>
            <a:endParaRPr lang="en-US" sz="880" dirty="0"/>
          </a:p>
        </p:txBody>
      </p:sp>
      <p:sp>
        <p:nvSpPr>
          <p:cNvPr id="63" name="Text 60"/>
          <p:cNvSpPr/>
          <p:nvPr/>
        </p:nvSpPr>
        <p:spPr>
          <a:xfrm>
            <a:off x="9070848" y="40050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</a:t>
            </a:r>
            <a:endParaRPr lang="en-US" sz="780" dirty="0"/>
          </a:p>
        </p:txBody>
      </p:sp>
      <p:sp>
        <p:nvSpPr>
          <p:cNvPr id="64" name="Text 61"/>
          <p:cNvSpPr/>
          <p:nvPr/>
        </p:nvSpPr>
        <p:spPr>
          <a:xfrm>
            <a:off x="9436608" y="400507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· 133 d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6565392" y="4352544"/>
            <a:ext cx="91440" cy="914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6" name="Text 63"/>
          <p:cNvSpPr/>
          <p:nvPr/>
        </p:nvSpPr>
        <p:spPr>
          <a:xfrm>
            <a:off x="6729984" y="43113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 de Control PCS</a:t>
            </a:r>
            <a:endParaRPr lang="en-US" sz="880" dirty="0"/>
          </a:p>
        </p:txBody>
      </p:sp>
      <p:sp>
        <p:nvSpPr>
          <p:cNvPr id="67" name="Text 64"/>
          <p:cNvSpPr/>
          <p:nvPr/>
        </p:nvSpPr>
        <p:spPr>
          <a:xfrm>
            <a:off x="9070848" y="43113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</a:t>
            </a:r>
            <a:endParaRPr lang="en-US" sz="780" dirty="0"/>
          </a:p>
        </p:txBody>
      </p:sp>
      <p:sp>
        <p:nvSpPr>
          <p:cNvPr id="68" name="Text 65"/>
          <p:cNvSpPr/>
          <p:nvPr/>
        </p:nvSpPr>
        <p:spPr>
          <a:xfrm>
            <a:off x="9436608" y="431139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· 170 d (el más lento)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6565392" y="4658868"/>
            <a:ext cx="91440" cy="9144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70" name="Text 67"/>
          <p:cNvSpPr/>
          <p:nvPr/>
        </p:nvSpPr>
        <p:spPr>
          <a:xfrm>
            <a:off x="6729984" y="4617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 de Seguridad SIS</a:t>
            </a:r>
            <a:endParaRPr lang="en-US" sz="880" dirty="0"/>
          </a:p>
        </p:txBody>
      </p:sp>
      <p:sp>
        <p:nvSpPr>
          <p:cNvPr id="71" name="Text 68"/>
          <p:cNvSpPr/>
          <p:nvPr/>
        </p:nvSpPr>
        <p:spPr>
          <a:xfrm>
            <a:off x="9070848" y="46177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</a:t>
            </a:r>
            <a:endParaRPr lang="en-US" sz="780" dirty="0"/>
          </a:p>
        </p:txBody>
      </p:sp>
      <p:sp>
        <p:nvSpPr>
          <p:cNvPr id="72" name="Text 69"/>
          <p:cNvSpPr/>
          <p:nvPr/>
        </p:nvSpPr>
        <p:spPr>
          <a:xfrm>
            <a:off x="9436608" y="46177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8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· 150 d — 12 d tarde vs. necesidad</a:t>
            </a:r>
            <a:endParaRPr lang="en-US" sz="800" dirty="0"/>
          </a:p>
        </p:txBody>
      </p:sp>
      <p:sp>
        <p:nvSpPr>
          <p:cNvPr id="73" name="Shape 70"/>
          <p:cNvSpPr/>
          <p:nvPr/>
        </p:nvSpPr>
        <p:spPr>
          <a:xfrm>
            <a:off x="6565392" y="4965192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4" name="Text 71"/>
          <p:cNvSpPr/>
          <p:nvPr/>
        </p:nvSpPr>
        <p:spPr>
          <a:xfrm>
            <a:off x="6729984" y="49240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Válvulas de control y autorreg.</a:t>
            </a:r>
            <a:endParaRPr lang="en-US" sz="880" dirty="0"/>
          </a:p>
        </p:txBody>
      </p:sp>
      <p:sp>
        <p:nvSpPr>
          <p:cNvPr id="75" name="Text 72"/>
          <p:cNvSpPr/>
          <p:nvPr/>
        </p:nvSpPr>
        <p:spPr>
          <a:xfrm>
            <a:off x="9070848" y="492404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</a:t>
            </a:r>
            <a:endParaRPr lang="en-US" sz="780" dirty="0"/>
          </a:p>
        </p:txBody>
      </p:sp>
      <p:sp>
        <p:nvSpPr>
          <p:cNvPr id="76" name="Text 73"/>
          <p:cNvSpPr/>
          <p:nvPr/>
        </p:nvSpPr>
        <p:spPr>
          <a:xfrm>
            <a:off x="9436608" y="492404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OC · 113 d — VENCIDO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6565392" y="5271516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8" name="Text 75"/>
          <p:cNvSpPr/>
          <p:nvPr/>
        </p:nvSpPr>
        <p:spPr>
          <a:xfrm>
            <a:off x="6729984" y="52303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Cables instrumentación</a:t>
            </a:r>
            <a:endParaRPr lang="en-US" sz="880" dirty="0"/>
          </a:p>
        </p:txBody>
      </p:sp>
      <p:sp>
        <p:nvSpPr>
          <p:cNvPr id="79" name="Text 76"/>
          <p:cNvSpPr/>
          <p:nvPr/>
        </p:nvSpPr>
        <p:spPr>
          <a:xfrm>
            <a:off x="9070848" y="52303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</a:t>
            </a:r>
            <a:endParaRPr lang="en-US" sz="780" dirty="0"/>
          </a:p>
        </p:txBody>
      </p:sp>
      <p:sp>
        <p:nvSpPr>
          <p:cNvPr id="80" name="Text 77"/>
          <p:cNvSpPr/>
          <p:nvPr/>
        </p:nvSpPr>
        <p:spPr>
          <a:xfrm>
            <a:off x="9436608" y="52303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OC · 91 d — AT cerrado, revisa RI</a:t>
            </a:r>
            <a:endParaRPr lang="en-US" sz="800" dirty="0"/>
          </a:p>
        </p:txBody>
      </p:sp>
      <p:sp>
        <p:nvSpPr>
          <p:cNvPr id="81" name="Shape 78"/>
          <p:cNvSpPr/>
          <p:nvPr/>
        </p:nvSpPr>
        <p:spPr>
          <a:xfrm>
            <a:off x="6565392" y="5577840"/>
            <a:ext cx="91440" cy="9144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82" name="Text 79"/>
          <p:cNvSpPr/>
          <p:nvPr/>
        </p:nvSpPr>
        <p:spPr>
          <a:xfrm>
            <a:off x="6729984" y="55366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Cables eléctricos</a:t>
            </a:r>
            <a:endParaRPr lang="en-US" sz="880" dirty="0"/>
          </a:p>
        </p:txBody>
      </p:sp>
      <p:sp>
        <p:nvSpPr>
          <p:cNvPr id="83" name="Text 80"/>
          <p:cNvSpPr/>
          <p:nvPr/>
        </p:nvSpPr>
        <p:spPr>
          <a:xfrm>
            <a:off x="9070848" y="553669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</a:t>
            </a:r>
            <a:endParaRPr lang="en-US" sz="780" dirty="0"/>
          </a:p>
        </p:txBody>
      </p:sp>
      <p:sp>
        <p:nvSpPr>
          <p:cNvPr id="84" name="Text 81"/>
          <p:cNvSpPr/>
          <p:nvPr/>
        </p:nvSpPr>
        <p:spPr>
          <a:xfrm>
            <a:off x="9436608" y="55366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8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OC · 64 d — negociación final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6565392" y="5916168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de 8 ítems críticos ya con OC (sin cambios). Los 2 abiertos —Válvulas de control (113 d, vencida NecOC 26-Jul-26) y Cables IN (91 d, AT ya cerrado)— son los 2 riesgos activos marcados por el tablero.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>
            <a:off x="502920" y="63550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Fuente: tablero de gestión de suministros IN+EL, 14 cortes (14-May-26 a 14-Ago-26).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2026-08-14T16:08:49Z</dcterms:created>
  <dcterms:modified xsi:type="dcterms:W3CDTF">2026-08-14T16:08:49Z</dcterms:modified>
</cp:coreProperties>
</file>