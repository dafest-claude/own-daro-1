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Cargas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737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C6B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2E7D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9C45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Motores</c:v>
                </c:pt>
                <c:pt idx="1">
                  <c:v>Variadores (VFD)</c:v>
                </c:pt>
                <c:pt idx="2">
                  <c:v>Instrumentos</c:v>
                </c:pt>
                <c:pt idx="3">
                  <c:v>Servicios auxiliares</c:v>
                </c:pt>
                <c:pt idx="4">
                  <c:v>Iluminación</c:v>
                </c:pt>
                <c:pt idx="5">
                  <c:v>Control</c:v>
                </c:pt>
                <c:pt idx="6">
                  <c:v>Calefacción / trazado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79</c:v>
                </c:pt>
                <c:pt idx="1">
                  <c:v>6</c:v>
                </c:pt>
                <c:pt idx="2">
                  <c:v>52</c:v>
                </c:pt>
                <c:pt idx="3">
                  <c:v>37</c:v>
                </c:pt>
                <c:pt idx="4">
                  <c:v>28</c:v>
                </c:pt>
                <c:pt idx="5">
                  <c:v>29</c:v>
                </c:pt>
                <c:pt idx="6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Potencia MT
6,6/13,2 kV</c:v>
                  </c:pt>
                  <c:pt idx="1">
                    <c:v>Potencia BT
≥35 mm²</c:v>
                  </c:pt>
                  <c:pt idx="2">
                    <c:v>Potencia BT
med./peq.</c:v>
                  </c:pt>
                  <c:pt idx="3">
                    <c:v>Control y
señales</c:v>
                  </c:pt>
                  <c:pt idx="4">
                    <c:v>Fibra óptica
red PMS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2110</c:v>
                </c:pt>
                <c:pt idx="1">
                  <c:v>17470</c:v>
                </c:pt>
                <c:pt idx="2">
                  <c:v>33125</c:v>
                </c:pt>
                <c:pt idx="3">
                  <c:v>28126</c:v>
                </c:pt>
                <c:pt idx="4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Instrumentos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4B5F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Compra AESA</c:v>
                </c:pt>
                <c:pt idx="1">
                  <c:v>Equipo paquete / PPSA — montaje AESA</c:v>
                </c:pt>
                <c:pt idx="2">
                  <c:v>Equipo paquete / PPSA — premontado en skid</c:v>
                </c:pt>
                <c:pt idx="3">
                  <c:v>Existentes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897</c:v>
                </c:pt>
                <c:pt idx="1">
                  <c:v>266</c:v>
                </c:pt>
                <c:pt idx="2">
                  <c:v>1628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GERENCIAL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 Electricidad e Instrumentación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01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 ·  Vaca Muerta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9502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eléctricas ABB · Cargas y cableado MT/BT · Instrumentación AESA/PPSA · Integración PMS – PCS/SCADA – HIMA · Cronograma integrado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601675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601675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6016752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6016752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601675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0" y="5989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 · v1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FÍSICO E&amp;I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físico de suministro y montaje de Electricidad e Instrumentación, según ingeniería de detalle y Pliego de Subcontratación E&amp;I (Rev Alt 8, 07-07-2026). Cifras indicativas, en revisión por ingeniería.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570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139696"/>
            <a:ext cx="4572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21284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" y="33192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Eléctricas ABB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SE#3 (Baja Tensión) + SE#4 (Media Tensión)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1920240"/>
            <a:ext cx="35570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139696"/>
            <a:ext cx="4572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221284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17136" y="33192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eléctricas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motores · 6 variadores · resto instrumentos, SS.AA., iluminación, control y calefacción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1920240"/>
            <a:ext cx="35570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5048" y="2139696"/>
            <a:ext cx="4572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21284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513 / 81.231 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30184" y="33192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eléctricos a tender y conectar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MT/BT, control y señales, fibra óptica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142232"/>
            <a:ext cx="35570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8952" y="4361688"/>
            <a:ext cx="4572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44348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2.798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4088" y="55412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a instalar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 compra AESA · 1.894 vendor / equipos paquete (PPSA) · 7 existentes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5968" y="4142232"/>
            <a:ext cx="35570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4361688"/>
            <a:ext cx="4572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4517136" y="44348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885 / 65.315 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517136" y="55412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de instrumentación a comprar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15.752 puntas de conexión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29016" y="4142232"/>
            <a:ext cx="35570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85048" y="4361688"/>
            <a:ext cx="4572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8" name="Text 26"/>
          <p:cNvSpPr/>
          <p:nvPr/>
        </p:nvSpPr>
        <p:spPr>
          <a:xfrm>
            <a:off x="8330184" y="44348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330184" y="55412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de interconexionado (JB)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· PSS · F&amp;G · ESD · USS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ABB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Electricidad — Salas eléctricas y cargas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916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SE#3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396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#3 — Baja Tensión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tableros BT / CCM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montados de fábrica por ABB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87121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reciben integrados en shelter; el subcontratista realiza la interconexión de equipos en campo (transformadores, tableros, motores) y el montaje de componentes desmontados por transporte.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SE#4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6542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#4 — Media Tensión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50566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celdas MT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TGMT / TRMT — 6,6 / 13,2 kV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38581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montadas de fábrica; el subcontratista ejecuta interconexión de barras y nivelación en sitio. Incluye 3 de los 79 motores y 3 de los 6 variadores del proyecto en media tensión.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1417320"/>
            <a:ext cx="58978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60020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eléctricas por tipo — 243 total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126480" y="1965960"/>
          <a:ext cx="3200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12648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1264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601200" y="2048256"/>
            <a:ext cx="146304" cy="14630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0"/>
          <p:cNvSpPr/>
          <p:nvPr/>
        </p:nvSpPr>
        <p:spPr>
          <a:xfrm>
            <a:off x="9829800" y="20116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247120" y="20116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601200" y="2450592"/>
            <a:ext cx="146304" cy="146304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26" name="Text 23"/>
          <p:cNvSpPr/>
          <p:nvPr/>
        </p:nvSpPr>
        <p:spPr>
          <a:xfrm>
            <a:off x="9829800" y="24140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Variadores (VFD)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247120" y="24140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601200" y="2852928"/>
            <a:ext cx="146304" cy="14630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6"/>
          <p:cNvSpPr/>
          <p:nvPr/>
        </p:nvSpPr>
        <p:spPr>
          <a:xfrm>
            <a:off x="9829800" y="28163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247120" y="28163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601200" y="3255264"/>
            <a:ext cx="146304" cy="146304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32" name="Text 29"/>
          <p:cNvSpPr/>
          <p:nvPr/>
        </p:nvSpPr>
        <p:spPr>
          <a:xfrm>
            <a:off x="9829800" y="32186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auxiliares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247120" y="32186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601200" y="3657600"/>
            <a:ext cx="146304" cy="14630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35" name="Text 32"/>
          <p:cNvSpPr/>
          <p:nvPr/>
        </p:nvSpPr>
        <p:spPr>
          <a:xfrm>
            <a:off x="9829800" y="36210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1247120" y="36210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9601200" y="4059936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9829800" y="4023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1247120" y="40233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9601200" y="4462272"/>
            <a:ext cx="146304" cy="146304"/>
          </a:xfrm>
          <a:prstGeom prst="rect">
            <a:avLst/>
          </a:prstGeom>
          <a:solidFill>
            <a:srgbClr val="9C4500"/>
          </a:solidFill>
          <a:ln/>
        </p:spPr>
      </p:sp>
      <p:sp>
        <p:nvSpPr>
          <p:cNvPr id="41" name="Text 38"/>
          <p:cNvSpPr/>
          <p:nvPr/>
        </p:nvSpPr>
        <p:spPr>
          <a:xfrm>
            <a:off x="9829800" y="4425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Calefacción / trazado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11247120" y="44256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TENDIDO Y CONEXIONADO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Electricidad — Volumen de cables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70408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Metros de cable a tender, por tipo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01168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41732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157276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513 cables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92440" y="20116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81.231 metros totales a tender y conectar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2834640"/>
            <a:ext cx="386791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74152" y="299923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por tipo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4152" y="3310128"/>
          <a:ext cx="3355848" cy="2651760"/>
        </p:xfrm>
        <a:graphic>
          <a:graphicData uri="http://schemas.openxmlformats.org/drawingml/2006/table">
            <a:tbl>
              <a:tblPr/>
              <a:tblGrid>
                <a:gridCol w="1879275"/>
                <a:gridCol w="671170"/>
                <a:gridCol w="805404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MT (6,6/13,2 kV)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BT ≥35 mm²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17.470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BT med./peq.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33.125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y señales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28.126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Fibra óptica (red PMS SE#3↔SE#4)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8074152" y="6053328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Conexionado: ≈5.178 puntas (terminales MT/BT + peinado y prueba de cables de control)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· PCS/SCADA · HIMA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 sistemas de control y seguridad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09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09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PMS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09397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— Gestión de energía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800xA / controladores AC800M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#1/#2 existentes + #3/#4 nuevas (ampliación)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Deslastre de cargas, lógicas DAG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IEC 61850 y PROFINET redundantes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1709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1709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81144" y="209397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PCS / SCADA — Control de proceso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81144" y="26243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Rockwell ControlLogix 1756, backbone Stratix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remotas nuevas (7A + 7B) en Sala INS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Supervisión, adquisición de datos y control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Inauco hasta entrega; SAT en campo por AESA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202168" y="1508760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0768" y="1709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1709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 · 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30768" y="209397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 — Seguridad de proceso (ESD/F&amp;G/PSS)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30768" y="26243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Planar4 existente, sin cambios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I/O en Shelter 7 (ampliación)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al SCADA de seguridad de Inauco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marshalling — alcance AESA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3986784" y="2697480"/>
            <a:ext cx="365760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849624" y="2313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redundante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836408" y="2697480"/>
            <a:ext cx="365760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699248" y="2313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SIS ↔ SCADA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3708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y HIMA son AMPLIACIONES de sistemas ya instalados en CPF-1 / CPF-1.5 — no son sistemas nuevos.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22960" y="4828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ABB: arquitectura existente + expansión a Salas #3/#4 (Anexo III Expansión CPF2-F4). SIS HIMA: mismo Planar4, se agrega I/O de Shelter 7. Referencias: ACAL-100-PL-K-100 Rev 11 (PCS) · ACAL-100-PL-K-551 Rev A (SIS).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AESA / PPSA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Instrumentación — cantidad y origen de provisión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0350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a instalar por origen — 2.798 total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96596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2.798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89120" y="2185416"/>
            <a:ext cx="146304" cy="14630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AESA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17720" y="24597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89120" y="3008376"/>
            <a:ext cx="146304" cy="146304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2971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Paquete/PPSA — montaje AESA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17720" y="32826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89120" y="3831336"/>
            <a:ext cx="146304" cy="14630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Text 14"/>
          <p:cNvSpPr/>
          <p:nvPr/>
        </p:nvSpPr>
        <p:spPr>
          <a:xfrm>
            <a:off x="4617720" y="3794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Paquete/PPSA — premontado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17720" y="410565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1628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89120" y="4654296"/>
            <a:ext cx="146304" cy="14630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0" name="Text 17"/>
          <p:cNvSpPr/>
          <p:nvPr/>
        </p:nvSpPr>
        <p:spPr>
          <a:xfrm>
            <a:off x="4617720" y="4617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Existentes (a definir)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17720" y="492861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2960" y="5806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a cargo de AESA: ≈1.163 instrumentos (897 compra directa + 266 de equipos paquete)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66560" y="1417320"/>
            <a:ext cx="4919472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040880" y="160020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885 cables · 65.315 m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040880" y="205740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comprar para instrumentación · 15.752 puntas de conexión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66560" y="3017520"/>
            <a:ext cx="491947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40880" y="320040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Cajas de interconexionado (JB) — ≈80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04088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275320" y="3703320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8275320" y="3703320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31" name="Text 28"/>
          <p:cNvSpPr/>
          <p:nvPr/>
        </p:nvSpPr>
        <p:spPr>
          <a:xfrm>
            <a:off x="11183112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04088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275320" y="4142232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34" name="Shape 31"/>
          <p:cNvSpPr/>
          <p:nvPr/>
        </p:nvSpPr>
        <p:spPr>
          <a:xfrm>
            <a:off x="8275320" y="4142232"/>
            <a:ext cx="1931670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35" name="Text 32"/>
          <p:cNvSpPr/>
          <p:nvPr/>
        </p:nvSpPr>
        <p:spPr>
          <a:xfrm>
            <a:off x="11183112" y="4069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04088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F&amp;G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275320" y="4581144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38" name="Shape 35"/>
          <p:cNvSpPr/>
          <p:nvPr/>
        </p:nvSpPr>
        <p:spPr>
          <a:xfrm>
            <a:off x="8275320" y="4581144"/>
            <a:ext cx="2124837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39" name="Text 36"/>
          <p:cNvSpPr/>
          <p:nvPr/>
        </p:nvSpPr>
        <p:spPr>
          <a:xfrm>
            <a:off x="11183112" y="4507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040880" y="4974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275320" y="5020056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42" name="Shape 39"/>
          <p:cNvSpPr/>
          <p:nvPr/>
        </p:nvSpPr>
        <p:spPr>
          <a:xfrm>
            <a:off x="8275320" y="5020056"/>
            <a:ext cx="386334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43" name="Text 40"/>
          <p:cNvSpPr/>
          <p:nvPr/>
        </p:nvSpPr>
        <p:spPr>
          <a:xfrm>
            <a:off x="11183112" y="4946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040880" y="5413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 / otras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75320" y="5458968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46" name="Shape 43"/>
          <p:cNvSpPr/>
          <p:nvPr/>
        </p:nvSpPr>
        <p:spPr>
          <a:xfrm>
            <a:off x="8275320" y="5458968"/>
            <a:ext cx="193167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47" name="Text 44"/>
          <p:cNvSpPr/>
          <p:nvPr/>
        </p:nvSpPr>
        <p:spPr>
          <a:xfrm>
            <a:off x="11183112" y="5385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7040880" y="589788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 fundición aluminio IP66, canalizaciones troncales relevadas a la fecha; el cómputo podrá ampliarse en próximas revisiones.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ESPECIAL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HIMA — ampliación y provisión contractual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y software HIMA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HIMA Planar4 (existente) — hardware y software provistos por PPSA (Pluspetrol)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racks de I/O nuevos — ESD / PSS / USS (Shelter 7), marcados como Provisión PP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 un sistema YA INSTALADO, no un sistema nuevo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CONTRACTUAL AESA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tableros de marshalling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 / F&amp;G (1) + PSS 07A (1) + PSS 07B (1) — único alcance contractual de AESA respecto de HIMA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Montaje, conexionado e integración en campo de los tableros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HIMA para FAT / SAT / iFAT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4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atención — reajuste de hardware y software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lo informado por el equipo de proyecto, la re-adecuación del proyecto no incorporó en su alcance original el reajuste de hardware y software de HIMA. Como consecuencia, AESA debe reajustar el hardware y software del sistema para la ampliación. (Nota de alcance del equipo de proyecto — a validar contractualmente contra el pliego vigente.)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PROVISIÓN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integrado — convergencia hacia el RFSU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965960" y="2432304"/>
            <a:ext cx="9720072" cy="713232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4041648"/>
            <a:ext cx="9720072" cy="713232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0969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5978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0987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25996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1005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56014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71023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86032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80969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95978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10987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25996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1005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6014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71023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162763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Eléctricas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24323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23697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/ SCADA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04164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EPC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16466" y="1847088"/>
            <a:ext cx="1944014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0" name="Shape 28"/>
          <p:cNvSpPr/>
          <p:nvPr/>
        </p:nvSpPr>
        <p:spPr>
          <a:xfrm>
            <a:off x="4760481" y="1847088"/>
            <a:ext cx="1944014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1" name="Shape 29"/>
          <p:cNvSpPr/>
          <p:nvPr/>
        </p:nvSpPr>
        <p:spPr>
          <a:xfrm>
            <a:off x="6704495" y="1847088"/>
            <a:ext cx="729005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4629" y="1865376"/>
            <a:ext cx="237744" cy="237744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7661" y="2130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S#3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14-May-27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16466" y="2651760"/>
            <a:ext cx="2673020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9486" y="2651760"/>
            <a:ext cx="1215009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5623" y="2670048"/>
            <a:ext cx="237744" cy="237744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98655" y="2935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Integral PMS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31-Mar-27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59468" y="3456432"/>
            <a:ext cx="3280524" cy="27432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39" name="Shape 37"/>
          <p:cNvSpPr/>
          <p:nvPr/>
        </p:nvSpPr>
        <p:spPr>
          <a:xfrm>
            <a:off x="6704495" y="3456432"/>
            <a:ext cx="486004" cy="27432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40" name="Shape 38"/>
          <p:cNvSpPr/>
          <p:nvPr/>
        </p:nvSpPr>
        <p:spPr>
          <a:xfrm>
            <a:off x="7190499" y="3456432"/>
            <a:ext cx="2430018" cy="274320"/>
          </a:xfrm>
          <a:prstGeom prst="roundRect">
            <a:avLst>
              <a:gd name="adj" fmla="val 13333"/>
            </a:avLst>
          </a:prstGeom>
          <a:solidFill>
            <a:srgbClr val="1565C0">
              <a:alpha val="5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071627" y="3474720"/>
            <a:ext cx="237744" cy="237744"/>
          </a:xfrm>
          <a:prstGeom prst="diamond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4659" y="37398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FAT integral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04-May-27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59468" y="4261104"/>
            <a:ext cx="2308517" cy="27432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/>
        </p:spPr>
      </p:sp>
      <p:sp>
        <p:nvSpPr>
          <p:cNvPr id="44" name="Shape 42"/>
          <p:cNvSpPr/>
          <p:nvPr/>
        </p:nvSpPr>
        <p:spPr>
          <a:xfrm>
            <a:off x="5249113" y="4279392"/>
            <a:ext cx="237744" cy="237744"/>
          </a:xfrm>
          <a:prstGeom prst="diamond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62145" y="4544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tablero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25-Dic-26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67985" y="4261104"/>
            <a:ext cx="607504" cy="274320"/>
          </a:xfrm>
          <a:prstGeom prst="roundRect">
            <a:avLst>
              <a:gd name="adj" fmla="val 13333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704495" y="4261104"/>
            <a:ext cx="486004" cy="27432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/>
        </p:spPr>
      </p:sp>
      <p:sp>
        <p:nvSpPr>
          <p:cNvPr id="48" name="Shape 46"/>
          <p:cNvSpPr/>
          <p:nvPr/>
        </p:nvSpPr>
        <p:spPr>
          <a:xfrm>
            <a:off x="7190499" y="4261104"/>
            <a:ext cx="2430018" cy="274320"/>
          </a:xfrm>
          <a:prstGeom prst="roundRect">
            <a:avLst>
              <a:gd name="adj" fmla="val 13333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190499" y="5065776"/>
            <a:ext cx="4009530" cy="274320"/>
          </a:xfrm>
          <a:prstGeom prst="roundRect">
            <a:avLst>
              <a:gd name="adj" fmla="val 13333"/>
            </a:avLst>
          </a:prstGeom>
          <a:solidFill>
            <a:srgbClr val="2E7D32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43634" y="5084064"/>
            <a:ext cx="237744" cy="237744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11262" y="5074920"/>
            <a:ext cx="256032" cy="256032"/>
          </a:xfrm>
          <a:prstGeom prst="star5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87718" y="53583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RFSU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31-Ene-28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6973786" y="4480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iFAT — Integración total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25-Jun → 14-Jul-27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7433501" y="1984248"/>
            <a:ext cx="729005" cy="3191256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704495" y="2788920"/>
            <a:ext cx="1458011" cy="2386584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190499" y="3593592"/>
            <a:ext cx="972007" cy="1581912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190499" y="4398264"/>
            <a:ext cx="972007" cy="777240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02920" y="601675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9" name="Text 57"/>
          <p:cNvSpPr/>
          <p:nvPr/>
        </p:nvSpPr>
        <p:spPr>
          <a:xfrm>
            <a:off x="685800" y="5943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874520" y="601675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1" name="Text 59"/>
          <p:cNvSpPr/>
          <p:nvPr/>
        </p:nvSpPr>
        <p:spPr>
          <a:xfrm>
            <a:off x="2057400" y="5943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246120" y="6016752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63" name="Text 61"/>
          <p:cNvSpPr/>
          <p:nvPr/>
        </p:nvSpPr>
        <p:spPr>
          <a:xfrm>
            <a:off x="3429000" y="5943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17720" y="601675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5" name="Text 63"/>
          <p:cNvSpPr/>
          <p:nvPr/>
        </p:nvSpPr>
        <p:spPr>
          <a:xfrm>
            <a:off x="4800600" y="5943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394960" y="5989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referencia según Cronograma Integrado CPF2 Rev2 (06-08-2026), sujetas a OC y freezing points.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2026-08-13T01:25:11Z</dcterms:created>
  <dcterms:modified xsi:type="dcterms:W3CDTF">2026-08-13T01:25:11Z</dcterms:modified>
</cp:coreProperties>
</file>