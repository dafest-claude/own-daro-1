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Tableros SS.AA. / HVAC</c:v>
                </c:pt>
                <c:pt idx="2">
                  <c:v>Equipos generales (skids)</c:v>
                </c:pt>
                <c:pt idx="3">
                  <c:v>Calentadores eléctricos</c:v>
                </c:pt>
                <c:pt idx="4">
                  <c:v>SAI / UPS</c:v>
                </c:pt>
                <c:pt idx="5">
                  <c:v>Tracing (calefacción)</c:v>
                </c:pt>
                <c:pt idx="6">
                  <c:v>Iluminación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4426.7</c:v>
                </c:pt>
                <c:pt idx="1">
                  <c:v>710</c:v>
                </c:pt>
                <c:pt idx="2">
                  <c:v>508.6</c:v>
                </c:pt>
                <c:pt idx="3">
                  <c:v>260</c:v>
                </c:pt>
                <c:pt idx="4">
                  <c:v>150</c:v>
                </c:pt>
                <c:pt idx="5">
                  <c:v>150</c:v>
                </c:pt>
                <c:pt idx="6">
                  <c:v>120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Potencia MT
6,6/13,2 kV</c:v>
                  </c:pt>
                  <c:pt idx="1">
                    <c:v>Potencia BT
(todas las secciones)</c:v>
                  </c:pt>
                  <c:pt idx="2">
                    <c:v>Control y
señales</c:v>
                  </c:pt>
                  <c:pt idx="3">
                    <c:v>Fibra óptica
red PMS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2110</c:v>
                </c:pt>
                <c:pt idx="1">
                  <c:v>50595</c:v>
                </c:pt>
                <c:pt idx="2">
                  <c:v>28126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BC98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Compra AESA (contractual)</c:v>
                </c:pt>
                <c:pt idx="1">
                  <c:v>Paquete PPSA — montaje AESA (contractual)</c:v>
                </c:pt>
                <c:pt idx="2">
                  <c:v>Paquete PPSA — premontado (fuera de alcance)</c:v>
                </c:pt>
                <c:pt idx="3">
                  <c:v>Existentes (a definir)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897</c:v>
                </c:pt>
                <c:pt idx="1">
                  <c:v>266</c:v>
                </c:pt>
                <c:pt idx="2">
                  <c:v>1628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3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Pares simples
(1P, analógicos)</c:v>
                  </c:pt>
                  <c:pt idx="1">
                    <c:v>Multipares
(4P–24P)</c:v>
                  </c:pt>
                  <c:pt idx="2">
                    <c:v>Ternas
(1T, 8T)</c:v>
                  </c:pt>
                  <c:pt idx="3">
                    <c:v>Pares dobles
(2P)</c:v>
                  </c:pt>
                  <c:pt idx="4">
                    <c:v>Fibra óptica
/ FTP</c:v>
                  </c:pt>
                  <c:pt idx="5">
                    <c:v>Otras
formaciones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13980</c:v>
                </c:pt>
                <c:pt idx="1">
                  <c:v>24170</c:v>
                </c:pt>
                <c:pt idx="2">
                  <c:v>5155</c:v>
                </c:pt>
                <c:pt idx="3">
                  <c:v>2145</c:v>
                </c:pt>
                <c:pt idx="4">
                  <c:v>3300</c:v>
                </c:pt>
                <c:pt idx="5">
                  <c:v>16565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3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7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deck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PRESENTACIÓN GERENCIAL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de Electricidad e Instrumentación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85800" y="54772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0" y="5495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4 · 13-Ago-2026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deck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4360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4360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4360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43600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436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FÍSICO E&amp;I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Volumen físico de suministro y montaje de Electricidad e Instrumentación, según ingeniería de detalle, esquema unifilar (ACAL-00100-EE-E-0001) y listados de equipos ABB/AESA. Cifras indicativas, en revisión por ingeniería.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111831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171907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ABB — potencia instalada y equipamiento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874520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instalados — 6 transformadores exteriores (2×1.600 + 2×2.000 + 2×2.000 kVA)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777240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Equipamiento: 3 CCM (102-CCM-005/006/007) · 2 UPS · ≈9 tableros de distribución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6231636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7" name="Text 14"/>
          <p:cNvSpPr/>
          <p:nvPr/>
        </p:nvSpPr>
        <p:spPr>
          <a:xfrm>
            <a:off x="6231636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328916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231636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instalados — 2 transformadores TRMT-001 A/B exteriores (2.500 kVA c/u)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231636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Equipamiento: 25 celdas MT (TGMT-001: 15 + TGMT-002: 10) · 1 UPS · ≈4 tableros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6094476" y="2029968"/>
            <a:ext cx="0" cy="96926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1"/>
          <p:cNvSpPr/>
          <p:nvPr/>
        </p:nvSpPr>
        <p:spPr>
          <a:xfrm>
            <a:off x="66751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6751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Transformadores de potencia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activos + 4 en reserva · 16.200 kVA instalados (fuera de las salas)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3348990" y="3328416"/>
            <a:ext cx="2644902" cy="1298448"/>
          </a:xfrm>
          <a:prstGeom prst="roundRect">
            <a:avLst>
              <a:gd name="adj" fmla="val 422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3531870" y="347472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8" name="Text 25"/>
          <p:cNvSpPr/>
          <p:nvPr/>
        </p:nvSpPr>
        <p:spPr>
          <a:xfrm>
            <a:off x="351358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× 1.500 kW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351358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Motogeneradores G10 / G11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planta de generación (área 670) — Provisión PPSA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619506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37794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2" name="Text 29"/>
          <p:cNvSpPr/>
          <p:nvPr/>
        </p:nvSpPr>
        <p:spPr>
          <a:xfrm>
            <a:off x="635965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243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635965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Cargas eléctricas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79 motores · 6 variadores · resto instrumentos, SS.AA., iluminación, control y calefacción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904113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922401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6" name="Text 33"/>
          <p:cNvSpPr/>
          <p:nvPr/>
        </p:nvSpPr>
        <p:spPr>
          <a:xfrm>
            <a:off x="920572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513 / 81.231 m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920572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eléctricos a tender y conectar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MT/BT, control y señales, fibra óptica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0292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7"/>
          <p:cNvSpPr/>
          <p:nvPr/>
        </p:nvSpPr>
        <p:spPr>
          <a:xfrm>
            <a:off x="66751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</a:t>
            </a:r>
            <a:endParaRPr lang="en-US" sz="1900" dirty="0"/>
          </a:p>
        </p:txBody>
      </p:sp>
      <p:sp>
        <p:nvSpPr>
          <p:cNvPr id="41" name="Text 38"/>
          <p:cNvSpPr/>
          <p:nvPr/>
        </p:nvSpPr>
        <p:spPr>
          <a:xfrm>
            <a:off x="66751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 a instalar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897 compra AESA · 1.894 vendor/equipos paquete (PPSA) · 7 existentes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334899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53187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4" name="Text 41"/>
          <p:cNvSpPr/>
          <p:nvPr/>
        </p:nvSpPr>
        <p:spPr>
          <a:xfrm>
            <a:off x="351358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885 / 65.315 m</a:t>
            </a:r>
            <a:endParaRPr lang="en-US" sz="1900" dirty="0"/>
          </a:p>
        </p:txBody>
      </p:sp>
      <p:sp>
        <p:nvSpPr>
          <p:cNvPr id="45" name="Text 42"/>
          <p:cNvSpPr/>
          <p:nvPr/>
        </p:nvSpPr>
        <p:spPr>
          <a:xfrm>
            <a:off x="351358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de instrumentación a comprar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15.752 puntas de conexión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619506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377940" y="4937760"/>
            <a:ext cx="384048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8" name="Text 45"/>
          <p:cNvSpPr/>
          <p:nvPr/>
        </p:nvSpPr>
        <p:spPr>
          <a:xfrm>
            <a:off x="635965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80</a:t>
            </a:r>
            <a:endParaRPr lang="en-US" sz="1900" dirty="0"/>
          </a:p>
        </p:txBody>
      </p:sp>
      <p:sp>
        <p:nvSpPr>
          <p:cNvPr id="49" name="Text 46"/>
          <p:cNvSpPr/>
          <p:nvPr/>
        </p:nvSpPr>
        <p:spPr>
          <a:xfrm>
            <a:off x="635965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Cajas de interconexionado (JB)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· PSS · F&amp;G · ESD · USS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9041130" y="4791456"/>
            <a:ext cx="2644902" cy="1298448"/>
          </a:xfrm>
          <a:prstGeom prst="roundRect">
            <a:avLst>
              <a:gd name="adj" fmla="val 422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9224010" y="493776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2" name="Text 49"/>
          <p:cNvSpPr/>
          <p:nvPr/>
        </p:nvSpPr>
        <p:spPr>
          <a:xfrm>
            <a:off x="920572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16.280 kW</a:t>
            </a:r>
            <a:endParaRPr lang="en-US" sz="1900" dirty="0"/>
          </a:p>
        </p:txBody>
      </p:sp>
      <p:sp>
        <p:nvSpPr>
          <p:cNvPr id="53" name="Text 50"/>
          <p:cNvSpPr/>
          <p:nvPr/>
        </p:nvSpPr>
        <p:spPr>
          <a:xfrm>
            <a:off x="920572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Generación total — área 670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motogeneradores (9 existentes + 2 de ampliación) — Provisión PPSA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Salas eléctricas y cargas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8952" y="1618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1618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" y="19842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8952" y="23134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 instalados · 6 transformadores exteriores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" y="26060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(102-CCM-005/006/007) — 4.000 A, 65 kA, 380/220 V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doble + bypass (40 kW) y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Rectificador/cargador 110 Vcc (20 kVA) +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— bombas inyección de agua (373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Generador de emergencia diesel MAN-90006 (1.250 kW, vía ATS a CCM-006)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58952" y="41330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3"/>
          <p:cNvSpPr/>
          <p:nvPr/>
        </p:nvSpPr>
        <p:spPr>
          <a:xfrm>
            <a:off x="75895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SE#4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58952" y="44988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8952" y="48280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 instalados · 2 transformadores exteriores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8952" y="51206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 celdas MT — TGMT-001 (15, 13,2 kV) + TGMT-002 (10, 6,6 kV) · 630 A · 25 kA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VFD MT — bombas de condensado (600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UPS + rectificador 110 Vcc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5806440" y="1417320"/>
            <a:ext cx="5897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99048" y="15727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por tipo de carga — SE#3 + SE#4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099048" y="1819656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Balance de cargas eléctricas — área 102 (114 equipos)</a:t>
            </a:r>
            <a:endParaRPr lang="en-US" sz="9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080760" y="2029968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 20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6080760" y="3447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kW instalados</a:t>
            </a:r>
            <a:endParaRPr lang="en-US" sz="870" dirty="0"/>
          </a:p>
        </p:txBody>
      </p:sp>
      <p:sp>
        <p:nvSpPr>
          <p:cNvPr id="26" name="Shape 22"/>
          <p:cNvSpPr/>
          <p:nvPr/>
        </p:nvSpPr>
        <p:spPr>
          <a:xfrm>
            <a:off x="8869680" y="2011680"/>
            <a:ext cx="118872" cy="1188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3"/>
          <p:cNvSpPr/>
          <p:nvPr/>
        </p:nvSpPr>
        <p:spPr>
          <a:xfrm>
            <a:off x="9052560" y="1975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Motores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1074420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4.426,7</a:t>
            </a:r>
            <a:endParaRPr lang="en-US" sz="860" dirty="0"/>
          </a:p>
        </p:txBody>
      </p:sp>
      <p:sp>
        <p:nvSpPr>
          <p:cNvPr id="29" name="Shape 25"/>
          <p:cNvSpPr/>
          <p:nvPr/>
        </p:nvSpPr>
        <p:spPr>
          <a:xfrm>
            <a:off x="8869680" y="2304288"/>
            <a:ext cx="118872" cy="11887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30" name="Text 26"/>
          <p:cNvSpPr/>
          <p:nvPr/>
        </p:nvSpPr>
        <p:spPr>
          <a:xfrm>
            <a:off x="905256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SS.AA. / HVAC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10744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710,0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8869680" y="2596896"/>
            <a:ext cx="118872" cy="118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29"/>
          <p:cNvSpPr/>
          <p:nvPr/>
        </p:nvSpPr>
        <p:spPr>
          <a:xfrm>
            <a:off x="9052560" y="2560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Equipos generales (skids)</a:t>
            </a:r>
            <a:endParaRPr lang="en-US" sz="860" dirty="0"/>
          </a:p>
        </p:txBody>
      </p:sp>
      <p:sp>
        <p:nvSpPr>
          <p:cNvPr id="34" name="Text 30"/>
          <p:cNvSpPr/>
          <p:nvPr/>
        </p:nvSpPr>
        <p:spPr>
          <a:xfrm>
            <a:off x="1074420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508,6</a:t>
            </a:r>
            <a:endParaRPr lang="en-US" sz="860" dirty="0"/>
          </a:p>
        </p:txBody>
      </p:sp>
      <p:sp>
        <p:nvSpPr>
          <p:cNvPr id="35" name="Shape 31"/>
          <p:cNvSpPr/>
          <p:nvPr/>
        </p:nvSpPr>
        <p:spPr>
          <a:xfrm>
            <a:off x="8869680" y="2889504"/>
            <a:ext cx="118872" cy="118872"/>
          </a:xfrm>
          <a:prstGeom prst="rect">
            <a:avLst/>
          </a:prstGeom>
          <a:solidFill>
            <a:srgbClr val="9C4500"/>
          </a:solidFill>
          <a:ln/>
        </p:spPr>
      </p:sp>
      <p:sp>
        <p:nvSpPr>
          <p:cNvPr id="36" name="Text 32"/>
          <p:cNvSpPr/>
          <p:nvPr/>
        </p:nvSpPr>
        <p:spPr>
          <a:xfrm>
            <a:off x="90525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Calentadores eléctricos</a:t>
            </a:r>
            <a:endParaRPr lang="en-US" sz="860" dirty="0"/>
          </a:p>
        </p:txBody>
      </p:sp>
      <p:sp>
        <p:nvSpPr>
          <p:cNvPr id="37" name="Text 33"/>
          <p:cNvSpPr/>
          <p:nvPr/>
        </p:nvSpPr>
        <p:spPr>
          <a:xfrm>
            <a:off x="1074420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260,0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8869680" y="3182112"/>
            <a:ext cx="118872" cy="1188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9" name="Text 35"/>
          <p:cNvSpPr/>
          <p:nvPr/>
        </p:nvSpPr>
        <p:spPr>
          <a:xfrm>
            <a:off x="90525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SAI / UPS</a:t>
            </a:r>
            <a:endParaRPr lang="en-US" sz="860" dirty="0"/>
          </a:p>
        </p:txBody>
      </p:sp>
      <p:sp>
        <p:nvSpPr>
          <p:cNvPr id="40" name="Text 36"/>
          <p:cNvSpPr/>
          <p:nvPr/>
        </p:nvSpPr>
        <p:spPr>
          <a:xfrm>
            <a:off x="1074420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8869680" y="3474720"/>
            <a:ext cx="118872" cy="11887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42" name="Text 38"/>
          <p:cNvSpPr/>
          <p:nvPr/>
        </p:nvSpPr>
        <p:spPr>
          <a:xfrm>
            <a:off x="9052560" y="34381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Tracing (calefacción)</a:t>
            </a:r>
            <a:endParaRPr lang="en-US" sz="860" dirty="0"/>
          </a:p>
        </p:txBody>
      </p:sp>
      <p:sp>
        <p:nvSpPr>
          <p:cNvPr id="43" name="Text 39"/>
          <p:cNvSpPr/>
          <p:nvPr/>
        </p:nvSpPr>
        <p:spPr>
          <a:xfrm>
            <a:off x="10744200" y="3438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150,0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8869680" y="3767328"/>
            <a:ext cx="118872" cy="118872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45" name="Text 41"/>
          <p:cNvSpPr/>
          <p:nvPr/>
        </p:nvSpPr>
        <p:spPr>
          <a:xfrm>
            <a:off x="905256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Iluminación</a:t>
            </a:r>
            <a:endParaRPr lang="en-US" sz="860" dirty="0"/>
          </a:p>
        </p:txBody>
      </p:sp>
      <p:sp>
        <p:nvSpPr>
          <p:cNvPr id="46" name="Text 42"/>
          <p:cNvSpPr/>
          <p:nvPr/>
        </p:nvSpPr>
        <p:spPr>
          <a:xfrm>
            <a:off x="10744200" y="3730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120,0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5806440" y="443484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Text 44"/>
          <p:cNvSpPr/>
          <p:nvPr/>
        </p:nvSpPr>
        <p:spPr>
          <a:xfrm>
            <a:off x="6099048" y="458114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disponible por sala</a:t>
            </a:r>
            <a:endParaRPr lang="en-US" sz="1350" dirty="0"/>
          </a:p>
        </p:txBody>
      </p:sp>
      <p:sp>
        <p:nvSpPr>
          <p:cNvPr id="49" name="Text 45"/>
          <p:cNvSpPr/>
          <p:nvPr/>
        </p:nvSpPr>
        <p:spPr>
          <a:xfrm>
            <a:off x="6099048" y="4937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7955280" y="499262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1" name="Shape 47"/>
          <p:cNvSpPr/>
          <p:nvPr/>
        </p:nvSpPr>
        <p:spPr>
          <a:xfrm>
            <a:off x="7955280" y="4992624"/>
            <a:ext cx="954176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2" name="Text 48"/>
          <p:cNvSpPr/>
          <p:nvPr/>
        </p:nvSpPr>
        <p:spPr>
          <a:xfrm>
            <a:off x="8028432" y="49926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60% usado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6099048" y="532180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2.260,8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5.600 kVA (demanda 3.339,2 kVA)</a:t>
            </a:r>
            <a:endParaRPr lang="en-US" sz="930" dirty="0"/>
          </a:p>
        </p:txBody>
      </p:sp>
      <p:sp>
        <p:nvSpPr>
          <p:cNvPr id="54" name="Text 50"/>
          <p:cNvSpPr/>
          <p:nvPr/>
        </p:nvSpPr>
        <p:spPr>
          <a:xfrm>
            <a:off x="6099048" y="5605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7955280" y="5660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6" name="Shape 52"/>
          <p:cNvSpPr/>
          <p:nvPr/>
        </p:nvSpPr>
        <p:spPr>
          <a:xfrm>
            <a:off x="7955280" y="5660136"/>
            <a:ext cx="742045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7" name="Text 53"/>
          <p:cNvSpPr/>
          <p:nvPr/>
        </p:nvSpPr>
        <p:spPr>
          <a:xfrm>
            <a:off x="8028432" y="5660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3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46% usado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6099048" y="5989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1.340,7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de 2.500 kVA (demanda 1.159,3 kVA)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 Y CONEXIONADO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Volumen de cables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Metros de cable a tender, por tipo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85800" y="20116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818120" y="141732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092440" y="15727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513 cables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92440" y="20116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81.231 metros totales a tender y conectar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18120" y="283464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074152" y="2999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Detalle por tipo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3310128"/>
          <a:ext cx="3355848" cy="2651760"/>
        </p:xfrm>
        <a:graphic>
          <a:graphicData uri="http://schemas.openxmlformats.org/drawingml/2006/table">
            <a:tbl>
              <a:tblPr/>
              <a:tblGrid>
                <a:gridCol w="1879275"/>
                <a:gridCol w="671170"/>
                <a:gridCol w="805404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Tipo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Cables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Metros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MT (6,6/13,2 kV)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2.110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BT ≥35 mm²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104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17.470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Potencia BT med./peq.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198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33.125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Control y señales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192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28.126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Fibra óptica (red PMS SE#3↔SE#4)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26262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400</a:t>
                      </a:r>
                      <a:endParaRPr lang="en-US" sz="97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8074152" y="605332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Conexionado: ≈5.178 puntas (terminales MT/BT + peinado y prueba de cables de control)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PMS, PCS/SCADA e HIMA — Sistemas integrados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17043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(provisión eléctrica ABB) se integra con los sistemas de control y seguridad de Instrumentación — PCS/SCADA e HIMA — bajo un único esquema de comunicaciones.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— Gestión de energía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 tableros supervisados (25 celdas MT + 3 CCM)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731520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800xA / AC800M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#1/#2 existentes + #3/#4 nuevas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I/O propio — vía IEC 61850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Deslastre de cargas, lógicas DAG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352544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81144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4581144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81144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Control de proceso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81144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0016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 señales I/O + ≈500 var. equipos paquete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4581144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remotas nuevas: 175 AI · 65 AO · 38 DI · 32 DO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skids de equipos paquete vía Modbus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por AESA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8202168" y="1572768"/>
            <a:ext cx="3483864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177393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8430768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430768" y="2139696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— Seguridad de proceso (ESD/F&amp;G/PSS)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430768" y="2596896"/>
            <a:ext cx="3026664" cy="585216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9640" y="2596896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I/O:  </a:t>
            </a:r>
            <a:pPr indent="0" marL="0">
              <a:lnSpc>
                <a:spcPct val="115000"/>
              </a:lnSpc>
              <a:buNone/>
            </a:pPr>
            <a:r>
              <a:rPr lang="en-US" sz="94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 señales I/O (ESD 243 + PSS 644)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8430768" y="3328416"/>
            <a:ext cx="30266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Planar4 existente, sin cambios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Nuevo I/O en Shelter 7 (ampliación)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Integrado al SCADA de seguridad de Inauco</a:t>
            </a:r>
            <a:endParaRPr lang="en-US" sz="960" dirty="0"/>
          </a:p>
          <a:p>
            <a:pPr marL="139700" indent="-139700">
              <a:lnSpc>
                <a:spcPct val="118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marshalling — alcance AESA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3986784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3849624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7836408" y="2875788"/>
            <a:ext cx="3657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headEnd type="triangl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7699248" y="24917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502920" y="4407408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82296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y HIMA son AMPLIACIONES de sistemas ya instalados en CPF-1 / CPF-1.5 — no son sistemas nuevos.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22960" y="4901184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9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AESA / PPSA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cantidad y tipo de instrumentos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" y="158191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 a instalar por origen — 2.798 total</a:t>
            </a:r>
            <a:endParaRPr lang="en-US" sz="14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95528" y="1920240"/>
          <a:ext cx="278892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795528" y="2880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95528" y="32735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instrumentos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794760" y="2002536"/>
            <a:ext cx="128016" cy="12801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0"/>
          <p:cNvSpPr/>
          <p:nvPr/>
        </p:nvSpPr>
        <p:spPr>
          <a:xfrm>
            <a:off x="3977640" y="1947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Compra AESA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77640" y="22585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897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794760" y="2715768"/>
            <a:ext cx="128016" cy="128016"/>
          </a:xfrm>
          <a:prstGeom prst="rect">
            <a:avLst/>
          </a:prstGeom>
          <a:solidFill>
            <a:srgbClr val="8BC98F"/>
          </a:solidFill>
          <a:ln/>
        </p:spPr>
      </p:sp>
      <p:sp>
        <p:nvSpPr>
          <p:cNvPr id="17" name="Text 13"/>
          <p:cNvSpPr/>
          <p:nvPr/>
        </p:nvSpPr>
        <p:spPr>
          <a:xfrm>
            <a:off x="3977640" y="26609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Paquete PPSA — montaje AESA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977640" y="29718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266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794760" y="3429000"/>
            <a:ext cx="128016" cy="128016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0" name="Text 16"/>
          <p:cNvSpPr/>
          <p:nvPr/>
        </p:nvSpPr>
        <p:spPr>
          <a:xfrm>
            <a:off x="3977640" y="33741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Paquete PPSA — premontado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977640" y="36850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1628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794760" y="4142232"/>
            <a:ext cx="128016" cy="128016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3" name="Text 19"/>
          <p:cNvSpPr/>
          <p:nvPr/>
        </p:nvSpPr>
        <p:spPr>
          <a:xfrm>
            <a:off x="3977640" y="4087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Existentes (a definir)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977640" y="439826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95528" y="484632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E8F3E9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48463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1.163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alcance contractual AESA (897 compra + 266 montaje s/equipo paquete)</a:t>
            </a:r>
            <a:endParaRPr lang="en-US" sz="970" dirty="0"/>
          </a:p>
        </p:txBody>
      </p:sp>
      <p:sp>
        <p:nvSpPr>
          <p:cNvPr id="27" name="Shape 23"/>
          <p:cNvSpPr/>
          <p:nvPr/>
        </p:nvSpPr>
        <p:spPr>
          <a:xfrm>
            <a:off x="795528" y="5486400"/>
            <a:ext cx="4764024" cy="566928"/>
          </a:xfrm>
          <a:prstGeom prst="roundRect">
            <a:avLst>
              <a:gd name="adj" fmla="val 9677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8" name="Text 24"/>
          <p:cNvSpPr/>
          <p:nvPr/>
        </p:nvSpPr>
        <p:spPr>
          <a:xfrm>
            <a:off x="960120" y="54864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1.635 instrumentos </a:t>
            </a:r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— provisión y montaje PPSA/vendor (fuera de alcance AESA)</a:t>
            </a:r>
            <a:endParaRPr lang="en-US" sz="970" dirty="0"/>
          </a:p>
        </p:txBody>
      </p:sp>
      <p:sp>
        <p:nvSpPr>
          <p:cNvPr id="29" name="Shape 25"/>
          <p:cNvSpPr/>
          <p:nvPr/>
        </p:nvSpPr>
        <p:spPr>
          <a:xfrm>
            <a:off x="6080760" y="1417320"/>
            <a:ext cx="5605272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373368" y="155448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Tipos de instrumentos — detalle completo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6373368" y="1783080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2.798 totales, agrupados por familia (pliego E&amp;I, Anexo I)</a:t>
            </a:r>
            <a:endParaRPr lang="en-US" sz="870" dirty="0"/>
          </a:p>
        </p:txBody>
      </p:sp>
      <p:sp>
        <p:nvSpPr>
          <p:cNvPr id="32" name="Shape 28"/>
          <p:cNvSpPr/>
          <p:nvPr/>
        </p:nvSpPr>
        <p:spPr>
          <a:xfrm>
            <a:off x="6373368" y="2093976"/>
            <a:ext cx="91440" cy="91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29"/>
          <p:cNvSpPr/>
          <p:nvPr/>
        </p:nvSpPr>
        <p:spPr>
          <a:xfrm>
            <a:off x="6537960" y="2048256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Y ACCESORIOS</a:t>
            </a:r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968</a:t>
            </a:r>
            <a:endParaRPr lang="en-US" sz="930" dirty="0"/>
          </a:p>
        </p:txBody>
      </p:sp>
      <p:sp>
        <p:nvSpPr>
          <p:cNvPr id="34" name="Text 30"/>
          <p:cNvSpPr/>
          <p:nvPr/>
        </p:nvSpPr>
        <p:spPr>
          <a:xfrm>
            <a:off x="6537960" y="229514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PSV — Válvula de seguridad</a:t>
            </a:r>
            <a:endParaRPr lang="en-US" sz="870" dirty="0"/>
          </a:p>
        </p:txBody>
      </p:sp>
      <p:sp>
        <p:nvSpPr>
          <p:cNvPr id="35" name="Text 31"/>
          <p:cNvSpPr/>
          <p:nvPr/>
        </p:nvSpPr>
        <p:spPr>
          <a:xfrm>
            <a:off x="11000232" y="22951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162</a:t>
            </a:r>
            <a:endParaRPr lang="en-US" sz="870" dirty="0"/>
          </a:p>
        </p:txBody>
      </p:sp>
      <p:sp>
        <p:nvSpPr>
          <p:cNvPr id="36" name="Text 32"/>
          <p:cNvSpPr/>
          <p:nvPr/>
        </p:nvSpPr>
        <p:spPr>
          <a:xfrm>
            <a:off x="6537960" y="250088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Otras válvulas de control / bloqueo / regulación (en línea)</a:t>
            </a:r>
            <a:endParaRPr lang="en-US" sz="870" dirty="0"/>
          </a:p>
        </p:txBody>
      </p:sp>
      <p:sp>
        <p:nvSpPr>
          <p:cNvPr id="37" name="Text 33"/>
          <p:cNvSpPr/>
          <p:nvPr/>
        </p:nvSpPr>
        <p:spPr>
          <a:xfrm>
            <a:off x="11000232" y="25008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323</a:t>
            </a:r>
            <a:endParaRPr lang="en-US" sz="870" dirty="0"/>
          </a:p>
        </p:txBody>
      </p:sp>
      <p:sp>
        <p:nvSpPr>
          <p:cNvPr id="38" name="Text 34"/>
          <p:cNvSpPr/>
          <p:nvPr/>
        </p:nvSpPr>
        <p:spPr>
          <a:xfrm>
            <a:off x="6537960" y="2706624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Accesorios sobre válvula (posicionadores, solenoides, fin de carrera)</a:t>
            </a:r>
            <a:endParaRPr lang="en-US" sz="870" dirty="0"/>
          </a:p>
        </p:txBody>
      </p:sp>
      <p:sp>
        <p:nvSpPr>
          <p:cNvPr id="39" name="Text 35"/>
          <p:cNvSpPr/>
          <p:nvPr/>
        </p:nvSpPr>
        <p:spPr>
          <a:xfrm>
            <a:off x="11000232" y="27066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483</a:t>
            </a:r>
            <a:endParaRPr lang="en-US" sz="870" dirty="0"/>
          </a:p>
        </p:txBody>
      </p:sp>
      <p:sp>
        <p:nvSpPr>
          <p:cNvPr id="40" name="Shape 36"/>
          <p:cNvSpPr/>
          <p:nvPr/>
        </p:nvSpPr>
        <p:spPr>
          <a:xfrm>
            <a:off x="6373368" y="3040380"/>
            <a:ext cx="91440" cy="91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7"/>
          <p:cNvSpPr/>
          <p:nvPr/>
        </p:nvSpPr>
        <p:spPr>
          <a:xfrm>
            <a:off x="6537960" y="2994660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ELECTRÓNICA — transmisores, elementos y detección</a:t>
            </a:r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738</a:t>
            </a:r>
            <a:endParaRPr lang="en-US" sz="930" dirty="0"/>
          </a:p>
        </p:txBody>
      </p:sp>
      <p:sp>
        <p:nvSpPr>
          <p:cNvPr id="42" name="Text 38"/>
          <p:cNvSpPr/>
          <p:nvPr/>
        </p:nvSpPr>
        <p:spPr>
          <a:xfrm>
            <a:off x="6537960" y="324154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 — Sensor de temperatura</a:t>
            </a:r>
            <a:endParaRPr lang="en-US" sz="870" dirty="0"/>
          </a:p>
        </p:txBody>
      </p:sp>
      <p:sp>
        <p:nvSpPr>
          <p:cNvPr id="43" name="Text 39"/>
          <p:cNvSpPr/>
          <p:nvPr/>
        </p:nvSpPr>
        <p:spPr>
          <a:xfrm>
            <a:off x="11000232" y="32415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178</a:t>
            </a:r>
            <a:endParaRPr lang="en-US" sz="870" dirty="0"/>
          </a:p>
        </p:txBody>
      </p:sp>
      <p:sp>
        <p:nvSpPr>
          <p:cNvPr id="44" name="Text 40"/>
          <p:cNvSpPr/>
          <p:nvPr/>
        </p:nvSpPr>
        <p:spPr>
          <a:xfrm>
            <a:off x="6537960" y="344728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PIT — Transmisor de presión</a:t>
            </a:r>
            <a:endParaRPr lang="en-US" sz="870" dirty="0"/>
          </a:p>
        </p:txBody>
      </p:sp>
      <p:sp>
        <p:nvSpPr>
          <p:cNvPr id="45" name="Text 41"/>
          <p:cNvSpPr/>
          <p:nvPr/>
        </p:nvSpPr>
        <p:spPr>
          <a:xfrm>
            <a:off x="11000232" y="34472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160</a:t>
            </a:r>
            <a:endParaRPr lang="en-US" sz="870" dirty="0"/>
          </a:p>
        </p:txBody>
      </p:sp>
      <p:sp>
        <p:nvSpPr>
          <p:cNvPr id="46" name="Text 42"/>
          <p:cNvSpPr/>
          <p:nvPr/>
        </p:nvSpPr>
        <p:spPr>
          <a:xfrm>
            <a:off x="6537960" y="365302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 — Orificio de restricción (medición de caudal)</a:t>
            </a:r>
            <a:endParaRPr lang="en-US" sz="870" dirty="0"/>
          </a:p>
        </p:txBody>
      </p:sp>
      <p:sp>
        <p:nvSpPr>
          <p:cNvPr id="47" name="Text 43"/>
          <p:cNvSpPr/>
          <p:nvPr/>
        </p:nvSpPr>
        <p:spPr>
          <a:xfrm>
            <a:off x="11000232" y="36530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127</a:t>
            </a:r>
            <a:endParaRPr lang="en-US" sz="870" dirty="0"/>
          </a:p>
        </p:txBody>
      </p:sp>
      <p:sp>
        <p:nvSpPr>
          <p:cNvPr id="48" name="Text 44"/>
          <p:cNvSpPr/>
          <p:nvPr/>
        </p:nvSpPr>
        <p:spPr>
          <a:xfrm>
            <a:off x="6537960" y="385876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 — Transmisor de temperatura</a:t>
            </a:r>
            <a:endParaRPr lang="en-US" sz="870" dirty="0"/>
          </a:p>
        </p:txBody>
      </p:sp>
      <p:sp>
        <p:nvSpPr>
          <p:cNvPr id="49" name="Text 45"/>
          <p:cNvSpPr/>
          <p:nvPr/>
        </p:nvSpPr>
        <p:spPr>
          <a:xfrm>
            <a:off x="11000232" y="38587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87</a:t>
            </a:r>
            <a:endParaRPr lang="en-US" sz="870" dirty="0"/>
          </a:p>
        </p:txBody>
      </p:sp>
      <p:sp>
        <p:nvSpPr>
          <p:cNvPr id="50" name="Text 46"/>
          <p:cNvSpPr/>
          <p:nvPr/>
        </p:nvSpPr>
        <p:spPr>
          <a:xfrm>
            <a:off x="6537960" y="406450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LIT — Transmisor de nivel</a:t>
            </a:r>
            <a:endParaRPr lang="en-US" sz="870" dirty="0"/>
          </a:p>
        </p:txBody>
      </p:sp>
      <p:sp>
        <p:nvSpPr>
          <p:cNvPr id="51" name="Text 47"/>
          <p:cNvSpPr/>
          <p:nvPr/>
        </p:nvSpPr>
        <p:spPr>
          <a:xfrm>
            <a:off x="11000232" y="40645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66</a:t>
            </a:r>
            <a:endParaRPr lang="en-US" sz="870" dirty="0"/>
          </a:p>
        </p:txBody>
      </p:sp>
      <p:sp>
        <p:nvSpPr>
          <p:cNvPr id="52" name="Text 48"/>
          <p:cNvSpPr/>
          <p:nvPr/>
        </p:nvSpPr>
        <p:spPr>
          <a:xfrm>
            <a:off x="6537960" y="4270248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F&amp;G — Detección de gas / llama, sirenas, balizas</a:t>
            </a:r>
            <a:endParaRPr lang="en-US" sz="870" dirty="0"/>
          </a:p>
        </p:txBody>
      </p:sp>
      <p:sp>
        <p:nvSpPr>
          <p:cNvPr id="53" name="Text 49"/>
          <p:cNvSpPr/>
          <p:nvPr/>
        </p:nvSpPr>
        <p:spPr>
          <a:xfrm>
            <a:off x="11000232" y="42702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120</a:t>
            </a:r>
            <a:endParaRPr lang="en-US" sz="870" dirty="0"/>
          </a:p>
        </p:txBody>
      </p:sp>
      <p:sp>
        <p:nvSpPr>
          <p:cNvPr id="54" name="Shape 50"/>
          <p:cNvSpPr/>
          <p:nvPr/>
        </p:nvSpPr>
        <p:spPr>
          <a:xfrm>
            <a:off x="6373368" y="4604004"/>
            <a:ext cx="91440" cy="9144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55" name="Text 51"/>
          <p:cNvSpPr/>
          <p:nvPr/>
        </p:nvSpPr>
        <p:spPr>
          <a:xfrm>
            <a:off x="6537960" y="4558284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ELECTRÓNICOS / INDICACIÓN Y MONTAJE LOCAL</a:t>
            </a:r>
            <a:pPr indent="0" marL="0">
              <a:buNone/>
            </a:pPr>
            <a:r>
              <a:rPr lang="en-US" sz="93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—  692</a:t>
            </a:r>
            <a:endParaRPr lang="en-US" sz="930" dirty="0"/>
          </a:p>
        </p:txBody>
      </p:sp>
      <p:sp>
        <p:nvSpPr>
          <p:cNvPr id="56" name="Text 52"/>
          <p:cNvSpPr/>
          <p:nvPr/>
        </p:nvSpPr>
        <p:spPr>
          <a:xfrm>
            <a:off x="6537960" y="480517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 — Manómetro</a:t>
            </a:r>
            <a:endParaRPr lang="en-US" sz="870" dirty="0"/>
          </a:p>
        </p:txBody>
      </p:sp>
      <p:sp>
        <p:nvSpPr>
          <p:cNvPr id="57" name="Text 53"/>
          <p:cNvSpPr/>
          <p:nvPr/>
        </p:nvSpPr>
        <p:spPr>
          <a:xfrm>
            <a:off x="11000232" y="48051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269</a:t>
            </a:r>
            <a:endParaRPr lang="en-US" sz="870" dirty="0"/>
          </a:p>
        </p:txBody>
      </p:sp>
      <p:sp>
        <p:nvSpPr>
          <p:cNvPr id="58" name="Text 54"/>
          <p:cNvSpPr/>
          <p:nvPr/>
        </p:nvSpPr>
        <p:spPr>
          <a:xfrm>
            <a:off x="6537960" y="501091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 — Termovaina</a:t>
            </a:r>
            <a:endParaRPr lang="en-US" sz="870" dirty="0"/>
          </a:p>
        </p:txBody>
      </p:sp>
      <p:sp>
        <p:nvSpPr>
          <p:cNvPr id="59" name="Text 55"/>
          <p:cNvSpPr/>
          <p:nvPr/>
        </p:nvSpPr>
        <p:spPr>
          <a:xfrm>
            <a:off x="11000232" y="50109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221</a:t>
            </a:r>
            <a:endParaRPr lang="en-US" sz="870" dirty="0"/>
          </a:p>
        </p:txBody>
      </p:sp>
      <p:sp>
        <p:nvSpPr>
          <p:cNvPr id="60" name="Text 56"/>
          <p:cNvSpPr/>
          <p:nvPr/>
        </p:nvSpPr>
        <p:spPr>
          <a:xfrm>
            <a:off x="6537960" y="521665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LG — Indicador de nivel magnético</a:t>
            </a:r>
            <a:endParaRPr lang="en-US" sz="870" dirty="0"/>
          </a:p>
        </p:txBody>
      </p:sp>
      <p:sp>
        <p:nvSpPr>
          <p:cNvPr id="61" name="Text 57"/>
          <p:cNvSpPr/>
          <p:nvPr/>
        </p:nvSpPr>
        <p:spPr>
          <a:xfrm>
            <a:off x="11000232" y="52166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126</a:t>
            </a:r>
            <a:endParaRPr lang="en-US" sz="870" dirty="0"/>
          </a:p>
        </p:txBody>
      </p:sp>
      <p:sp>
        <p:nvSpPr>
          <p:cNvPr id="62" name="Text 58"/>
          <p:cNvSpPr/>
          <p:nvPr/>
        </p:nvSpPr>
        <p:spPr>
          <a:xfrm>
            <a:off x="6537960" y="542239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 — Termómetro</a:t>
            </a:r>
            <a:endParaRPr lang="en-US" sz="870" dirty="0"/>
          </a:p>
        </p:txBody>
      </p:sp>
      <p:sp>
        <p:nvSpPr>
          <p:cNvPr id="63" name="Text 59"/>
          <p:cNvSpPr/>
          <p:nvPr/>
        </p:nvSpPr>
        <p:spPr>
          <a:xfrm>
            <a:off x="11000232" y="5422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76</a:t>
            </a:r>
            <a:endParaRPr lang="en-US" sz="870" dirty="0"/>
          </a:p>
        </p:txBody>
      </p:sp>
      <p:sp>
        <p:nvSpPr>
          <p:cNvPr id="64" name="Shape 60"/>
          <p:cNvSpPr/>
          <p:nvPr/>
        </p:nvSpPr>
        <p:spPr>
          <a:xfrm>
            <a:off x="6373368" y="5756148"/>
            <a:ext cx="9144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5" name="Text 61"/>
          <p:cNvSpPr/>
          <p:nvPr/>
        </p:nvSpPr>
        <p:spPr>
          <a:xfrm>
            <a:off x="6537960" y="571042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Otros — sin tipo discriminado en el pliego</a:t>
            </a:r>
            <a:endParaRPr lang="en-US" sz="870" dirty="0"/>
          </a:p>
        </p:txBody>
      </p:sp>
      <p:sp>
        <p:nvSpPr>
          <p:cNvPr id="66" name="Text 62"/>
          <p:cNvSpPr/>
          <p:nvPr/>
        </p:nvSpPr>
        <p:spPr>
          <a:xfrm>
            <a:off x="11000232" y="571042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TENDIDO, CONEXIONADO Y COMUNICACIONES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cables y señales por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667512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" y="1600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Metros de cable a tender, por formación</a:t>
            </a:r>
            <a:endParaRPr lang="en-US" sz="14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94360" y="196596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452360" y="1417320"/>
            <a:ext cx="4233672" cy="960120"/>
          </a:xfrm>
          <a:prstGeom prst="roundRect">
            <a:avLst>
              <a:gd name="adj" fmla="val 7619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08392" y="155448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885 cables · 65.315 m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708392" y="1938528"/>
            <a:ext cx="3721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15.752 puntas de conexión (conductor + pantalla + prensacables)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7452360" y="2514600"/>
            <a:ext cx="423367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08392" y="2651760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por sistema — Remota 7 (≈1.717)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708392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(Rockwell)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9418320" y="3236976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18" name="Shape 14"/>
          <p:cNvSpPr/>
          <p:nvPr/>
        </p:nvSpPr>
        <p:spPr>
          <a:xfrm>
            <a:off x="9418320" y="3236976"/>
            <a:ext cx="639565" cy="16459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19" name="Text 15"/>
          <p:cNvSpPr/>
          <p:nvPr/>
        </p:nvSpPr>
        <p:spPr>
          <a:xfrm>
            <a:off x="11183112" y="31821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930" dirty="0"/>
          </a:p>
        </p:txBody>
      </p:sp>
      <p:sp>
        <p:nvSpPr>
          <p:cNvPr id="20" name="Text 16"/>
          <p:cNvSpPr/>
          <p:nvPr/>
        </p:nvSpPr>
        <p:spPr>
          <a:xfrm>
            <a:off x="7708392" y="36027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 / HIMA (ESD+PSS)</a:t>
            </a:r>
            <a:endParaRPr lang="en-US" sz="930" dirty="0"/>
          </a:p>
        </p:txBody>
      </p:sp>
      <p:sp>
        <p:nvSpPr>
          <p:cNvPr id="21" name="Shape 17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9418320" y="3639312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6A1B9A"/>
          </a:solidFill>
          <a:ln/>
        </p:spPr>
      </p:sp>
      <p:sp>
        <p:nvSpPr>
          <p:cNvPr id="23" name="Text 19"/>
          <p:cNvSpPr/>
          <p:nvPr/>
        </p:nvSpPr>
        <p:spPr>
          <a:xfrm>
            <a:off x="11183112" y="3584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930" dirty="0"/>
          </a:p>
        </p:txBody>
      </p:sp>
      <p:sp>
        <p:nvSpPr>
          <p:cNvPr id="24" name="Text 20"/>
          <p:cNvSpPr/>
          <p:nvPr/>
        </p:nvSpPr>
        <p:spPr>
          <a:xfrm>
            <a:off x="7708392" y="4005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Equipos paquete (10 skids)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9418320" y="4041648"/>
            <a:ext cx="1719072" cy="16459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6" name="Shape 22"/>
          <p:cNvSpPr/>
          <p:nvPr/>
        </p:nvSpPr>
        <p:spPr>
          <a:xfrm>
            <a:off x="9418320" y="4041648"/>
            <a:ext cx="969037" cy="164592"/>
          </a:xfrm>
          <a:prstGeom prst="roundRect">
            <a:avLst>
              <a:gd name="adj" fmla="val 16667"/>
            </a:avLst>
          </a:prstGeom>
          <a:solidFill>
            <a:srgbClr val="546E7A"/>
          </a:solidFill>
          <a:ln/>
        </p:spPr>
      </p:sp>
      <p:sp>
        <p:nvSpPr>
          <p:cNvPr id="27" name="Text 23"/>
          <p:cNvSpPr/>
          <p:nvPr/>
        </p:nvSpPr>
        <p:spPr>
          <a:xfrm>
            <a:off x="11183112" y="39867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endParaRPr lang="en-US" sz="930" dirty="0"/>
          </a:p>
        </p:txBody>
      </p:sp>
      <p:sp>
        <p:nvSpPr>
          <p:cNvPr id="28" name="Shape 24"/>
          <p:cNvSpPr/>
          <p:nvPr/>
        </p:nvSpPr>
        <p:spPr>
          <a:xfrm>
            <a:off x="7452360" y="4526280"/>
            <a:ext cx="423367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7708392" y="4663440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Cajas de interconexionado (JB) — ≈80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708392" y="49926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PSS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2" name="Shape 28"/>
          <p:cNvSpPr/>
          <p:nvPr/>
        </p:nvSpPr>
        <p:spPr>
          <a:xfrm>
            <a:off x="8732520" y="5020056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3" name="Text 29"/>
          <p:cNvSpPr/>
          <p:nvPr/>
        </p:nvSpPr>
        <p:spPr>
          <a:xfrm>
            <a:off x="11228832" y="496519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7708392" y="5276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732520" y="5303520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36" name="Shape 32"/>
          <p:cNvSpPr/>
          <p:nvPr/>
        </p:nvSpPr>
        <p:spPr>
          <a:xfrm>
            <a:off x="8732520" y="5303520"/>
            <a:ext cx="1531620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37" name="Text 33"/>
          <p:cNvSpPr/>
          <p:nvPr/>
        </p:nvSpPr>
        <p:spPr>
          <a:xfrm>
            <a:off x="11228832" y="52486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708392" y="55595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F&amp;G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732520" y="5586984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0" name="Shape 36"/>
          <p:cNvSpPr/>
          <p:nvPr/>
        </p:nvSpPr>
        <p:spPr>
          <a:xfrm>
            <a:off x="8732520" y="5586984"/>
            <a:ext cx="168478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1" name="Text 37"/>
          <p:cNvSpPr/>
          <p:nvPr/>
        </p:nvSpPr>
        <p:spPr>
          <a:xfrm>
            <a:off x="11228832" y="5532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708392" y="58430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ESD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8732520" y="5870448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4" name="Shape 40"/>
          <p:cNvSpPr/>
          <p:nvPr/>
        </p:nvSpPr>
        <p:spPr>
          <a:xfrm>
            <a:off x="8732520" y="5870448"/>
            <a:ext cx="306324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5" name="Text 41"/>
          <p:cNvSpPr/>
          <p:nvPr/>
        </p:nvSpPr>
        <p:spPr>
          <a:xfrm>
            <a:off x="11228832" y="581558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708392" y="6126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USS/otras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8732520" y="6153912"/>
            <a:ext cx="2450592" cy="146304"/>
          </a:xfrm>
          <a:prstGeom prst="roundRect">
            <a:avLst>
              <a:gd name="adj" fmla="val 18750"/>
            </a:avLst>
          </a:prstGeom>
          <a:solidFill>
            <a:srgbClr val="F5F7FA"/>
          </a:solidFill>
          <a:ln/>
        </p:spPr>
      </p:sp>
      <p:sp>
        <p:nvSpPr>
          <p:cNvPr id="48" name="Shape 44"/>
          <p:cNvSpPr/>
          <p:nvPr/>
        </p:nvSpPr>
        <p:spPr>
          <a:xfrm>
            <a:off x="8732520" y="6153912"/>
            <a:ext cx="153162" cy="146304"/>
          </a:xfrm>
          <a:prstGeom prst="roundRect">
            <a:avLst>
              <a:gd name="adj" fmla="val 18750"/>
            </a:avLst>
          </a:prstGeom>
          <a:solidFill>
            <a:srgbClr val="6A1B9A"/>
          </a:solidFill>
          <a:ln/>
        </p:spPr>
      </p:sp>
      <p:sp>
        <p:nvSpPr>
          <p:cNvPr id="49" name="Text 45"/>
          <p:cNvSpPr/>
          <p:nvPr/>
        </p:nvSpPr>
        <p:spPr>
          <a:xfrm>
            <a:off x="11228832" y="60990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08392" y="643737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Desglose por área de planta: no disponible en la documentación relevada a la fecha.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 · PROVISIÓN INAUCO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 — provisión y alcance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(CPU Rockwell)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de control — CPU y chasis ControlLogix 1756 (1756-A13) — provisión de PPSA (Pluspetrol), equipo del cliente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del sistema a cargo de Inauco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de comunicaciones Stratix 5800 — red PRP redundante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y módulos de E/S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de las remotas 7A / 7B — suministro, montaje y cableado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entradas/salidas: 330 señales (175 AI · 65 AO · 38 DI · 32 DO)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Inauco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adecuación del SCADA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Además de los controladores, el SCADA debe adecuarse / reconfigurarse para completar la provisión conjunta de PCS y SCADA: nuevas pantallas para ESD/F&amp;G/PSS de Shelter 7, matriz de causa-efecto (C&amp;E) y tags de la Remota 7 y de los equipos paquete. (Nota del equipo de proyecto — a confirmar alcance con Inauco.)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 ESPECIAL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— ampliación y provisión contractual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1875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VISTA POR PROVISIÓN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Cronograma integrado — convergencia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65960" y="2267712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9" name="Shape 6"/>
          <p:cNvSpPr/>
          <p:nvPr/>
        </p:nvSpPr>
        <p:spPr>
          <a:xfrm>
            <a:off x="1965960" y="3767328"/>
            <a:ext cx="9720072" cy="658368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1965960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80969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95978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10987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25996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41005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56014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71023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686032" y="1517904"/>
            <a:ext cx="914" cy="3694176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 rot="19500000">
            <a:off x="167335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May'26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237096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 rot="19500000">
            <a:off x="207835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Jun'26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2775966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 rot="19500000">
            <a:off x="248335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Jul'26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 rot="19500000">
            <a:off x="288836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Ago'26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58597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 rot="19500000">
            <a:off x="329336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Sep'26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3990975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 rot="19500000">
            <a:off x="369836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Oct'26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 rot="19500000">
            <a:off x="410337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Nov'26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480098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 rot="19500000">
            <a:off x="450837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Dic'26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5205984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 rot="19500000">
            <a:off x="491337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Ene'27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 rot="19500000">
            <a:off x="531837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Feb'27</a:t>
            </a:r>
            <a:endParaRPr lang="en-US" sz="680" dirty="0"/>
          </a:p>
        </p:txBody>
      </p:sp>
      <p:sp>
        <p:nvSpPr>
          <p:cNvPr id="35" name="Shape 32"/>
          <p:cNvSpPr/>
          <p:nvPr/>
        </p:nvSpPr>
        <p:spPr>
          <a:xfrm>
            <a:off x="601599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 rot="19500000">
            <a:off x="572338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Mar'27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6420993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 rot="19500000">
            <a:off x="612838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Abr'27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 rot="19500000">
            <a:off x="6533388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May'27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230999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 rot="19500000">
            <a:off x="6938391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Jun'27</a:t>
            </a:r>
            <a:endParaRPr lang="en-US" sz="680" dirty="0"/>
          </a:p>
        </p:txBody>
      </p:sp>
      <p:sp>
        <p:nvSpPr>
          <p:cNvPr id="42" name="Shape 39"/>
          <p:cNvSpPr/>
          <p:nvPr/>
        </p:nvSpPr>
        <p:spPr>
          <a:xfrm>
            <a:off x="7636002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 rot="19500000">
            <a:off x="7343394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Jul'27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 rot="19500000">
            <a:off x="7748397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Ago'27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8446008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 rot="19500000">
            <a:off x="8153400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Sep'27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8851011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 rot="19500000">
            <a:off x="8558403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Oct'27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 rot="19500000">
            <a:off x="8963406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Nov'27</a:t>
            </a:r>
            <a:endParaRPr lang="en-US" sz="680" dirty="0"/>
          </a:p>
        </p:txBody>
      </p:sp>
      <p:sp>
        <p:nvSpPr>
          <p:cNvPr id="50" name="Shape 47"/>
          <p:cNvSpPr/>
          <p:nvPr/>
        </p:nvSpPr>
        <p:spPr>
          <a:xfrm>
            <a:off x="9661017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 rot="19500000">
            <a:off x="9368409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Dic'27</a:t>
            </a:r>
            <a:endParaRPr lang="en-US" sz="680" dirty="0"/>
          </a:p>
        </p:txBody>
      </p:sp>
      <p:sp>
        <p:nvSpPr>
          <p:cNvPr id="52" name="Shape 49"/>
          <p:cNvSpPr/>
          <p:nvPr/>
        </p:nvSpPr>
        <p:spPr>
          <a:xfrm>
            <a:off x="10066020" y="1517904"/>
            <a:ext cx="914" cy="3694176"/>
          </a:xfrm>
          <a:prstGeom prst="line">
            <a:avLst/>
          </a:prstGeom>
          <a:noFill/>
          <a:ln w="6350">
            <a:solidFill>
              <a:srgbClr val="EDF1F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 rot="19500000">
            <a:off x="9773412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Ene'28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 rot="19500000">
            <a:off x="10178415" y="1207008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Feb'28</a:t>
            </a:r>
            <a:endParaRPr lang="en-US" sz="680" dirty="0"/>
          </a:p>
        </p:txBody>
      </p:sp>
      <p:sp>
        <p:nvSpPr>
          <p:cNvPr id="55" name="Text 52"/>
          <p:cNvSpPr/>
          <p:nvPr/>
        </p:nvSpPr>
        <p:spPr>
          <a:xfrm>
            <a:off x="457200" y="15179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457200" y="226771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PMS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57200" y="30175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457200" y="376732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57200" y="45171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2816466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1" name="Shape 58"/>
          <p:cNvSpPr/>
          <p:nvPr/>
        </p:nvSpPr>
        <p:spPr>
          <a:xfrm>
            <a:off x="4760481" y="1723644"/>
            <a:ext cx="1944014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2" name="Shape 59"/>
          <p:cNvSpPr/>
          <p:nvPr/>
        </p:nvSpPr>
        <p:spPr>
          <a:xfrm>
            <a:off x="6704495" y="1723644"/>
            <a:ext cx="729005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3" name="Shape 60"/>
          <p:cNvSpPr/>
          <p:nvPr/>
        </p:nvSpPr>
        <p:spPr>
          <a:xfrm>
            <a:off x="7328344" y="1741932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427661" y="19705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730" dirty="0"/>
          </a:p>
        </p:txBody>
      </p:sp>
      <p:sp>
        <p:nvSpPr>
          <p:cNvPr id="65" name="Shape 62"/>
          <p:cNvSpPr/>
          <p:nvPr/>
        </p:nvSpPr>
        <p:spPr>
          <a:xfrm>
            <a:off x="2816466" y="2473452"/>
            <a:ext cx="2673020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6" name="Shape 63"/>
          <p:cNvSpPr/>
          <p:nvPr/>
        </p:nvSpPr>
        <p:spPr>
          <a:xfrm>
            <a:off x="5489486" y="2473452"/>
            <a:ext cx="1215009" cy="246888"/>
          </a:xfrm>
          <a:prstGeom prst="roundRect">
            <a:avLst>
              <a:gd name="adj" fmla="val 14815"/>
            </a:avLst>
          </a:prstGeom>
          <a:solidFill>
            <a:srgbClr val="C62828"/>
          </a:solidFill>
          <a:ln/>
        </p:spPr>
      </p:sp>
      <p:sp>
        <p:nvSpPr>
          <p:cNvPr id="67" name="Shape 64"/>
          <p:cNvSpPr/>
          <p:nvPr/>
        </p:nvSpPr>
        <p:spPr>
          <a:xfrm>
            <a:off x="6599339" y="2491740"/>
            <a:ext cx="210312" cy="210312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698655" y="27203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730" dirty="0"/>
          </a:p>
        </p:txBody>
      </p:sp>
      <p:sp>
        <p:nvSpPr>
          <p:cNvPr id="69" name="Shape 66"/>
          <p:cNvSpPr/>
          <p:nvPr/>
        </p:nvSpPr>
        <p:spPr>
          <a:xfrm>
            <a:off x="3059468" y="3223260"/>
            <a:ext cx="328052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0" name="Shape 67"/>
          <p:cNvSpPr/>
          <p:nvPr/>
        </p:nvSpPr>
        <p:spPr>
          <a:xfrm>
            <a:off x="6704495" y="3223260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1565C0"/>
          </a:solidFill>
          <a:ln/>
        </p:spPr>
      </p:sp>
      <p:sp>
        <p:nvSpPr>
          <p:cNvPr id="71" name="Shape 68"/>
          <p:cNvSpPr/>
          <p:nvPr/>
        </p:nvSpPr>
        <p:spPr>
          <a:xfrm>
            <a:off x="7190499" y="3223260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7085343" y="3241548"/>
            <a:ext cx="210312" cy="210312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84659" y="34701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730" dirty="0"/>
          </a:p>
        </p:txBody>
      </p:sp>
      <p:sp>
        <p:nvSpPr>
          <p:cNvPr id="74" name="Shape 71"/>
          <p:cNvSpPr/>
          <p:nvPr/>
        </p:nvSpPr>
        <p:spPr>
          <a:xfrm>
            <a:off x="3059468" y="3973068"/>
            <a:ext cx="2308517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5" name="Shape 72"/>
          <p:cNvSpPr/>
          <p:nvPr/>
        </p:nvSpPr>
        <p:spPr>
          <a:xfrm>
            <a:off x="5262829" y="3991356"/>
            <a:ext cx="210312" cy="210312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362145" y="42199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73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730" dirty="0"/>
          </a:p>
        </p:txBody>
      </p:sp>
      <p:sp>
        <p:nvSpPr>
          <p:cNvPr id="77" name="Shape 74"/>
          <p:cNvSpPr/>
          <p:nvPr/>
        </p:nvSpPr>
        <p:spPr>
          <a:xfrm>
            <a:off x="5367985" y="3973068"/>
            <a:ext cx="607504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6704495" y="3973068"/>
            <a:ext cx="486004" cy="246888"/>
          </a:xfrm>
          <a:prstGeom prst="roundRect">
            <a:avLst>
              <a:gd name="adj" fmla="val 14815"/>
            </a:avLst>
          </a:prstGeom>
          <a:solidFill>
            <a:srgbClr val="6A1B9A"/>
          </a:solidFill>
          <a:ln/>
        </p:spPr>
      </p:sp>
      <p:sp>
        <p:nvSpPr>
          <p:cNvPr id="79" name="Shape 76"/>
          <p:cNvSpPr/>
          <p:nvPr/>
        </p:nvSpPr>
        <p:spPr>
          <a:xfrm>
            <a:off x="7190499" y="3973068"/>
            <a:ext cx="2430018" cy="246888"/>
          </a:xfrm>
          <a:prstGeom prst="roundRect">
            <a:avLst>
              <a:gd name="adj" fmla="val 14815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7190499" y="4722876"/>
            <a:ext cx="4009530" cy="246888"/>
          </a:xfrm>
          <a:prstGeom prst="roundRect">
            <a:avLst>
              <a:gd name="adj" fmla="val 14815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8057350" y="4741164"/>
            <a:ext cx="210312" cy="210312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1020406" y="4727448"/>
            <a:ext cx="237744" cy="237744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087718" y="4983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76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760" dirty="0"/>
          </a:p>
        </p:txBody>
      </p:sp>
      <p:sp>
        <p:nvSpPr>
          <p:cNvPr id="84" name="Text 81"/>
          <p:cNvSpPr/>
          <p:nvPr/>
        </p:nvSpPr>
        <p:spPr>
          <a:xfrm>
            <a:off x="6973786" y="41696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 — Integración total</a:t>
            </a:r>
            <a:endParaRPr lang="en-US" sz="78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7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 14-Jul-27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7433501" y="1847088"/>
            <a:ext cx="729005" cy="297180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6" name="Shape 83"/>
          <p:cNvSpPr/>
          <p:nvPr/>
        </p:nvSpPr>
        <p:spPr>
          <a:xfrm>
            <a:off x="6704495" y="2596896"/>
            <a:ext cx="1458011" cy="222199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7" name="Shape 84"/>
          <p:cNvSpPr/>
          <p:nvPr/>
        </p:nvSpPr>
        <p:spPr>
          <a:xfrm>
            <a:off x="7190499" y="3346704"/>
            <a:ext cx="972007" cy="14721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8" name="Shape 85"/>
          <p:cNvSpPr/>
          <p:nvPr/>
        </p:nvSpPr>
        <p:spPr>
          <a:xfrm>
            <a:off x="7190499" y="4096512"/>
            <a:ext cx="972007" cy="72237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89" name="Text 86"/>
          <p:cNvSpPr/>
          <p:nvPr/>
        </p:nvSpPr>
        <p:spPr>
          <a:xfrm>
            <a:off x="502920" y="5349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HITOS PRINCIPALES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1965960" y="5678424"/>
            <a:ext cx="9720072" cy="0"/>
          </a:xfrm>
          <a:prstGeom prst="line">
            <a:avLst/>
          </a:prstGeom>
          <a:noFill/>
          <a:ln w="19050">
            <a:solidFill>
              <a:srgbClr val="C7D0D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99405" y="5609844"/>
            <a:ext cx="137160" cy="137160"/>
          </a:xfrm>
          <a:prstGeom prst="diamond">
            <a:avLst/>
          </a:prstGeom>
          <a:solidFill>
            <a:srgbClr val="6A1B9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4682185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 HIMA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690" dirty="0"/>
          </a:p>
        </p:txBody>
      </p:sp>
      <p:sp>
        <p:nvSpPr>
          <p:cNvPr id="93" name="Shape 90"/>
          <p:cNvSpPr/>
          <p:nvPr/>
        </p:nvSpPr>
        <p:spPr>
          <a:xfrm>
            <a:off x="6635915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018695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PMS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690" dirty="0"/>
          </a:p>
        </p:txBody>
      </p:sp>
      <p:sp>
        <p:nvSpPr>
          <p:cNvPr id="95" name="Shape 92"/>
          <p:cNvSpPr/>
          <p:nvPr/>
        </p:nvSpPr>
        <p:spPr>
          <a:xfrm>
            <a:off x="7121919" y="5609844"/>
            <a:ext cx="137160" cy="137160"/>
          </a:xfrm>
          <a:prstGeom prst="diamond">
            <a:avLst/>
          </a:prstGeom>
          <a:solidFill>
            <a:srgbClr val="1565C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6504699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 FAT integral PCS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690" dirty="0"/>
          </a:p>
        </p:txBody>
      </p:sp>
      <p:sp>
        <p:nvSpPr>
          <p:cNvPr id="97" name="Shape 94"/>
          <p:cNvSpPr/>
          <p:nvPr/>
        </p:nvSpPr>
        <p:spPr>
          <a:xfrm>
            <a:off x="7364921" y="5609844"/>
            <a:ext cx="137160" cy="137160"/>
          </a:xfrm>
          <a:prstGeom prst="diamond">
            <a:avLst/>
          </a:prstGeom>
          <a:solidFill>
            <a:srgbClr val="C6282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6747701" y="6053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S#3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690" dirty="0"/>
          </a:p>
        </p:txBody>
      </p:sp>
      <p:sp>
        <p:nvSpPr>
          <p:cNvPr id="99" name="Shape 96"/>
          <p:cNvSpPr/>
          <p:nvPr/>
        </p:nvSpPr>
        <p:spPr>
          <a:xfrm>
            <a:off x="8093926" y="5609844"/>
            <a:ext cx="137160" cy="137160"/>
          </a:xfrm>
          <a:prstGeom prst="diamond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7476706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25-Jun→14-Jul-27</a:t>
            </a:r>
            <a:endParaRPr lang="en-US" sz="690" dirty="0"/>
          </a:p>
        </p:txBody>
      </p:sp>
      <p:sp>
        <p:nvSpPr>
          <p:cNvPr id="101" name="Shape 98"/>
          <p:cNvSpPr/>
          <p:nvPr/>
        </p:nvSpPr>
        <p:spPr>
          <a:xfrm>
            <a:off x="11047838" y="5586984"/>
            <a:ext cx="182880" cy="182880"/>
          </a:xfrm>
          <a:prstGeom prst="star5">
            <a:avLst/>
          </a:prstGeom>
          <a:solidFill>
            <a:srgbClr val="C99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453478" y="5760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6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690" dirty="0"/>
          </a:p>
        </p:txBody>
      </p:sp>
      <p:sp>
        <p:nvSpPr>
          <p:cNvPr id="103" name="Shape 100"/>
          <p:cNvSpPr/>
          <p:nvPr/>
        </p:nvSpPr>
        <p:spPr>
          <a:xfrm>
            <a:off x="502920" y="640994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4" name="Text 101"/>
          <p:cNvSpPr/>
          <p:nvPr/>
        </p:nvSpPr>
        <p:spPr>
          <a:xfrm>
            <a:off x="6858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050" dirty="0"/>
          </a:p>
        </p:txBody>
      </p:sp>
      <p:sp>
        <p:nvSpPr>
          <p:cNvPr id="105" name="Shape 102"/>
          <p:cNvSpPr/>
          <p:nvPr/>
        </p:nvSpPr>
        <p:spPr>
          <a:xfrm>
            <a:off x="1874520" y="6409944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06" name="Text 103"/>
          <p:cNvSpPr/>
          <p:nvPr/>
        </p:nvSpPr>
        <p:spPr>
          <a:xfrm>
            <a:off x="20574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050" dirty="0"/>
          </a:p>
        </p:txBody>
      </p:sp>
      <p:sp>
        <p:nvSpPr>
          <p:cNvPr id="107" name="Shape 104"/>
          <p:cNvSpPr/>
          <p:nvPr/>
        </p:nvSpPr>
        <p:spPr>
          <a:xfrm>
            <a:off x="3246120" y="6409944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08" name="Text 105"/>
          <p:cNvSpPr/>
          <p:nvPr/>
        </p:nvSpPr>
        <p:spPr>
          <a:xfrm>
            <a:off x="34290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050" dirty="0"/>
          </a:p>
        </p:txBody>
      </p:sp>
      <p:sp>
        <p:nvSpPr>
          <p:cNvPr id="109" name="Shape 106"/>
          <p:cNvSpPr/>
          <p:nvPr/>
        </p:nvSpPr>
        <p:spPr>
          <a:xfrm>
            <a:off x="4617720" y="6409944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0" name="Text 107"/>
          <p:cNvSpPr/>
          <p:nvPr/>
        </p:nvSpPr>
        <p:spPr>
          <a:xfrm>
            <a:off x="4800600" y="6336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050" dirty="0"/>
          </a:p>
        </p:txBody>
      </p:sp>
      <p:sp>
        <p:nvSpPr>
          <p:cNvPr id="111" name="Text 108"/>
          <p:cNvSpPr/>
          <p:nvPr/>
        </p:nvSpPr>
        <p:spPr>
          <a:xfrm>
            <a:off x="5943600" y="638251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Fechas según Cronograma Integrado CPF2 Rev2 (06-08-2026),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CORTE 07-AGO-2026 · 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Riesgos — cuellos de botella en adjudicaciones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4 · 13-Ago-2026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deck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" y="1545336"/>
            <a:ext cx="365760" cy="45720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/ 68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922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 con OC colocada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26% del total — resto en gestión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13582" y="1545336"/>
            <a:ext cx="365760" cy="4572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4" name="Text 11"/>
          <p:cNvSpPr/>
          <p:nvPr/>
        </p:nvSpPr>
        <p:spPr>
          <a:xfrm>
            <a:off x="349529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 / 68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49529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 en Análisis Técnico (59%)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cuello de botella del embudo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9652" y="1545336"/>
            <a:ext cx="365760" cy="4572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4136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+6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34136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que entraron a AT en el último corte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estancadas: sin cambios hace 2 semanas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05722" y="1545336"/>
            <a:ext cx="365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9187434" y="1563624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de 8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9187434" y="1965960"/>
            <a:ext cx="235229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críticos aún sin OC</a:t>
            </a:r>
            <a:endParaRPr lang="en-US" sz="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de control (vencido) · Cables IN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02920" y="269748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7724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Embudo de adjudicación por especialidad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099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Composición de las RI emitidas (%), corte 07-08-2026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77240" y="34747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— 19 RI (15 emitidas · 4 sin emitir)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7240" y="3730752"/>
            <a:ext cx="2117558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3730752"/>
            <a:ext cx="2117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894798" y="3730752"/>
            <a:ext cx="1852863" cy="292608"/>
          </a:xfrm>
          <a:prstGeom prst="rect">
            <a:avLst/>
          </a:prstGeom>
          <a:solidFill>
            <a:srgbClr val="D98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894798" y="3730752"/>
            <a:ext cx="18528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747661" y="3730752"/>
            <a:ext cx="1058779" cy="292608"/>
          </a:xfrm>
          <a:prstGeom prst="rect">
            <a:avLst/>
          </a:prstGeom>
          <a:solidFill>
            <a:srgbClr val="C9D2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47661" y="3730752"/>
            <a:ext cx="1058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77240" y="42062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— 49 RI (45 emitidas · 4 sin emitir)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7240" y="4462272"/>
            <a:ext cx="1026367" cy="292608"/>
          </a:xfrm>
          <a:prstGeom prst="rect">
            <a:avLst/>
          </a:prstGeom>
          <a:solidFill>
            <a:srgbClr val="2E7D3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4462272"/>
            <a:ext cx="10263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803607" y="4462272"/>
            <a:ext cx="3387012" cy="292608"/>
          </a:xfrm>
          <a:prstGeom prst="rect">
            <a:avLst/>
          </a:prstGeom>
          <a:solidFill>
            <a:srgbClr val="D982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803607" y="4462272"/>
            <a:ext cx="33870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190620" y="4462272"/>
            <a:ext cx="205273" cy="292608"/>
          </a:xfrm>
          <a:prstGeom prst="rect">
            <a:avLst/>
          </a:prstGeom>
          <a:solidFill>
            <a:srgbClr val="8FA3B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95893" y="4462272"/>
            <a:ext cx="410547" cy="292608"/>
          </a:xfrm>
          <a:prstGeom prst="rect">
            <a:avLst/>
          </a:prstGeom>
          <a:solidFill>
            <a:srgbClr val="C9D2D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7240" y="5010912"/>
            <a:ext cx="118872" cy="1188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Text 39"/>
          <p:cNvSpPr/>
          <p:nvPr/>
        </p:nvSpPr>
        <p:spPr>
          <a:xfrm>
            <a:off x="941832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2075688" y="5010912"/>
            <a:ext cx="118872" cy="118872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44" name="Text 41"/>
          <p:cNvSpPr/>
          <p:nvPr/>
        </p:nvSpPr>
        <p:spPr>
          <a:xfrm>
            <a:off x="2240280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Análisis Técnico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3374136" y="5010912"/>
            <a:ext cx="118872" cy="118872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46" name="Text 43"/>
          <p:cNvSpPr/>
          <p:nvPr/>
        </p:nvSpPr>
        <p:spPr>
          <a:xfrm>
            <a:off x="3538728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Petición ofertas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4672584" y="5010912"/>
            <a:ext cx="118872" cy="118872"/>
          </a:xfrm>
          <a:prstGeom prst="rect">
            <a:avLst/>
          </a:prstGeom>
          <a:solidFill>
            <a:srgbClr val="C9D2DE"/>
          </a:solidFill>
          <a:ln/>
        </p:spPr>
      </p:sp>
      <p:sp>
        <p:nvSpPr>
          <p:cNvPr id="48" name="Text 45"/>
          <p:cNvSpPr/>
          <p:nvPr/>
        </p:nvSpPr>
        <p:spPr>
          <a:xfrm>
            <a:off x="4837176" y="49560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emitir (RI)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77240" y="53126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Lectura: 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concentra el cuello de botella — 67% de sus RI emitidas está en Análisis Técnico (vs. 47% en Electricidad) y solo el 20% tiene OC (vs. 42% en Electricidad).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6309360" y="2697480"/>
            <a:ext cx="5376672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565392" y="2862072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Ítems críticos — cadena RI → OC</a:t>
            </a:r>
            <a:endParaRPr lang="en-US" sz="1350" dirty="0"/>
          </a:p>
        </p:txBody>
      </p:sp>
      <p:sp>
        <p:nvSpPr>
          <p:cNvPr id="52" name="Text 49"/>
          <p:cNvSpPr/>
          <p:nvPr/>
        </p:nvSpPr>
        <p:spPr>
          <a:xfrm>
            <a:off x="6565392" y="3099816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ítems seguidos desde el inicio del proyecto (Long Lead Items, Hito 2, alto monto)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565392" y="3433572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4" name="Text 51"/>
          <p:cNvSpPr/>
          <p:nvPr/>
        </p:nvSpPr>
        <p:spPr>
          <a:xfrm>
            <a:off x="6729984" y="3392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Shelter Eléctrico SE#4</a:t>
            </a:r>
            <a:endParaRPr lang="en-US" sz="880" dirty="0"/>
          </a:p>
        </p:txBody>
      </p:sp>
      <p:sp>
        <p:nvSpPr>
          <p:cNvPr id="55" name="Text 52"/>
          <p:cNvSpPr/>
          <p:nvPr/>
        </p:nvSpPr>
        <p:spPr>
          <a:xfrm>
            <a:off x="9070848" y="339242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56" name="Text 53"/>
          <p:cNvSpPr/>
          <p:nvPr/>
        </p:nvSpPr>
        <p:spPr>
          <a:xfrm>
            <a:off x="9436608" y="339242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129 d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565392" y="3739896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8" name="Text 55"/>
          <p:cNvSpPr/>
          <p:nvPr/>
        </p:nvSpPr>
        <p:spPr>
          <a:xfrm>
            <a:off x="6729984" y="36987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Shelter Eléctrico SE#3</a:t>
            </a:r>
            <a:endParaRPr lang="en-US" sz="880" dirty="0"/>
          </a:p>
        </p:txBody>
      </p:sp>
      <p:sp>
        <p:nvSpPr>
          <p:cNvPr id="59" name="Text 56"/>
          <p:cNvSpPr/>
          <p:nvPr/>
        </p:nvSpPr>
        <p:spPr>
          <a:xfrm>
            <a:off x="9070848" y="36987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60" name="Text 57"/>
          <p:cNvSpPr/>
          <p:nvPr/>
        </p:nvSpPr>
        <p:spPr>
          <a:xfrm>
            <a:off x="9436608" y="36987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129 d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6565392" y="4046220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2" name="Text 59"/>
          <p:cNvSpPr/>
          <p:nvPr/>
        </p:nvSpPr>
        <p:spPr>
          <a:xfrm>
            <a:off x="6729984" y="40050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PMS</a:t>
            </a:r>
            <a:endParaRPr lang="en-US" sz="880" dirty="0"/>
          </a:p>
        </p:txBody>
      </p:sp>
      <p:sp>
        <p:nvSpPr>
          <p:cNvPr id="63" name="Text 60"/>
          <p:cNvSpPr/>
          <p:nvPr/>
        </p:nvSpPr>
        <p:spPr>
          <a:xfrm>
            <a:off x="9070848" y="40050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64" name="Text 61"/>
          <p:cNvSpPr/>
          <p:nvPr/>
        </p:nvSpPr>
        <p:spPr>
          <a:xfrm>
            <a:off x="9436608" y="400507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133 d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565392" y="4352544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6" name="Text 63"/>
          <p:cNvSpPr/>
          <p:nvPr/>
        </p:nvSpPr>
        <p:spPr>
          <a:xfrm>
            <a:off x="6729984" y="43113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Control PCS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9070848" y="43113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68" name="Text 65"/>
          <p:cNvSpPr/>
          <p:nvPr/>
        </p:nvSpPr>
        <p:spPr>
          <a:xfrm>
            <a:off x="9436608" y="431139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170 d (el más lento)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6565392" y="4658868"/>
            <a:ext cx="91440" cy="914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0" name="Text 67"/>
          <p:cNvSpPr/>
          <p:nvPr/>
        </p:nvSpPr>
        <p:spPr>
          <a:xfrm>
            <a:off x="6729984" y="4617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Seguridad SIS</a:t>
            </a:r>
            <a:endParaRPr lang="en-US" sz="880" dirty="0"/>
          </a:p>
        </p:txBody>
      </p:sp>
      <p:sp>
        <p:nvSpPr>
          <p:cNvPr id="71" name="Text 68"/>
          <p:cNvSpPr/>
          <p:nvPr/>
        </p:nvSpPr>
        <p:spPr>
          <a:xfrm>
            <a:off x="9070848" y="46177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72" name="Text 69"/>
          <p:cNvSpPr/>
          <p:nvPr/>
        </p:nvSpPr>
        <p:spPr>
          <a:xfrm>
            <a:off x="9436608" y="46177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· 150 d — 12 d tarde vs. necesidad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565392" y="496519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4" name="Text 71"/>
          <p:cNvSpPr/>
          <p:nvPr/>
        </p:nvSpPr>
        <p:spPr>
          <a:xfrm>
            <a:off x="6729984" y="49240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Válvulas de control y autorreg.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9070848" y="49240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76" name="Text 73"/>
          <p:cNvSpPr/>
          <p:nvPr/>
        </p:nvSpPr>
        <p:spPr>
          <a:xfrm>
            <a:off x="9436608" y="49240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106 d — VENCIDO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6565392" y="5271516"/>
            <a:ext cx="91440" cy="914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78" name="Text 75"/>
          <p:cNvSpPr/>
          <p:nvPr/>
        </p:nvSpPr>
        <p:spPr>
          <a:xfrm>
            <a:off x="6729984" y="5230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instrumentación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9070848" y="52303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</a:t>
            </a:r>
            <a:endParaRPr lang="en-US" sz="780" dirty="0"/>
          </a:p>
        </p:txBody>
      </p:sp>
      <p:sp>
        <p:nvSpPr>
          <p:cNvPr id="80" name="Text 77"/>
          <p:cNvSpPr/>
          <p:nvPr/>
        </p:nvSpPr>
        <p:spPr>
          <a:xfrm>
            <a:off x="9436608" y="52303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84 d — en AT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6565392" y="5577840"/>
            <a:ext cx="91440" cy="91440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82" name="Text 79"/>
          <p:cNvSpPr/>
          <p:nvPr/>
        </p:nvSpPr>
        <p:spPr>
          <a:xfrm>
            <a:off x="6729984" y="55366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eléctricos</a:t>
            </a:r>
            <a:endParaRPr lang="en-US" sz="880" dirty="0"/>
          </a:p>
        </p:txBody>
      </p:sp>
      <p:sp>
        <p:nvSpPr>
          <p:cNvPr id="83" name="Text 80"/>
          <p:cNvSpPr/>
          <p:nvPr/>
        </p:nvSpPr>
        <p:spPr>
          <a:xfrm>
            <a:off x="9070848" y="55366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</a:t>
            </a:r>
            <a:endParaRPr lang="en-US" sz="780" dirty="0"/>
          </a:p>
        </p:txBody>
      </p:sp>
      <p:sp>
        <p:nvSpPr>
          <p:cNvPr id="84" name="Text 81"/>
          <p:cNvSpPr/>
          <p:nvPr/>
        </p:nvSpPr>
        <p:spPr>
          <a:xfrm>
            <a:off x="9436608" y="55366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8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OC · AT recién cerrado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6565392" y="5916168"/>
            <a:ext cx="4864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de 8 ítems críticos ya con OC. Los 2 abiertos (Válvulas, Cables IN) concentran el riesgo de plazo — Válvulas ya superó su fecha de necesidad (NecOC 26-Jul-26).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502920" y="63550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Fuente: tablero de gestión de suministros IN+EL, 13 cortes (14-May-26 a 07-Ago-26).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2026-08-13T18:27:29Z</dcterms:created>
  <dcterms:modified xsi:type="dcterms:W3CDTF">2026-08-13T18:27:29Z</dcterms:modified>
</cp:coreProperties>
</file>