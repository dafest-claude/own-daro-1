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OWN-Daro-1/a5c78a85-7f37-586c-8f2d-662506f55282/scratchpad/suministros/assets/aesa_cover_b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434840"/>
            <a:ext cx="12191695" cy="2423160"/>
          </a:xfrm>
          <a:prstGeom prst="rect">
            <a:avLst/>
          </a:prstGeom>
          <a:solidFill>
            <a:srgbClr val="005392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379976"/>
            <a:ext cx="12191695" cy="54864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4617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PARA COMPRAS Y SUMINISTROS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85800" y="491032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Sistemas Críticos de Electricidad e Instrumentación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685800" y="549554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Magnitud, alcance contractual y camino crítico — CPF2 La Calera II · Vaca Muerta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0" y="55138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EDF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Rev. 2 · 25-Ago-2026</a:t>
            </a:r>
            <a:endParaRPr lang="en-US" sz="1050" dirty="0"/>
          </a:p>
        </p:txBody>
      </p:sp>
      <p:pic>
        <p:nvPicPr>
          <p:cNvPr id="9" name="Image 1" descr="/tmp/claude-0/-home-user-OWN-Daro-1/a5c78a85-7f37-586c-8f2d-662506f55282/scratchpad/suministros/assets/aesa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234440" cy="63459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85800" y="5961888"/>
            <a:ext cx="128016" cy="128016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1" name="Text 7"/>
          <p:cNvSpPr/>
          <p:nvPr/>
        </p:nvSpPr>
        <p:spPr>
          <a:xfrm>
            <a:off x="868680" y="588873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ABB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103120" y="5961888"/>
            <a:ext cx="128016" cy="12801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3" name="Text 9"/>
          <p:cNvSpPr/>
          <p:nvPr/>
        </p:nvSpPr>
        <p:spPr>
          <a:xfrm>
            <a:off x="2286000" y="588873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INAUCO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520440" y="5961888"/>
            <a:ext cx="128016" cy="128016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5" name="Text 11"/>
          <p:cNvSpPr/>
          <p:nvPr/>
        </p:nvSpPr>
        <p:spPr>
          <a:xfrm>
            <a:off x="3703320" y="588873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HIMA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937760" y="5961888"/>
            <a:ext cx="128016" cy="128016"/>
          </a:xfrm>
          <a:prstGeom prst="ellipse">
            <a:avLst/>
          </a:prstGeom>
          <a:solidFill>
            <a:srgbClr val="546E7A"/>
          </a:solidFill>
          <a:ln/>
        </p:spPr>
      </p:sp>
      <p:sp>
        <p:nvSpPr>
          <p:cNvPr id="17" name="Text 13"/>
          <p:cNvSpPr/>
          <p:nvPr/>
        </p:nvSpPr>
        <p:spPr>
          <a:xfrm>
            <a:off x="5120640" y="588873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PPSA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355080" y="5961888"/>
            <a:ext cx="128016" cy="12801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9" name="Text 15"/>
          <p:cNvSpPr/>
          <p:nvPr/>
        </p:nvSpPr>
        <p:spPr>
          <a:xfrm>
            <a:off x="6537960" y="588873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AESA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RESUMEN EJECUTIVO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Por qué estos sistemas son camino crítico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2 · 25-Ago-2026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suministros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417320"/>
            <a:ext cx="264490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85800" y="1581912"/>
            <a:ext cx="38404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0" name="Text 7"/>
          <p:cNvSpPr/>
          <p:nvPr/>
        </p:nvSpPr>
        <p:spPr>
          <a:xfrm>
            <a:off x="667512" y="1655064"/>
            <a:ext cx="231571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16.200 kVA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67512" y="2395728"/>
            <a:ext cx="23157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7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Potencia instalada en Salas Eléctricas #3/#4 (ABB) — la mayor provisión física de Electricidad</a:t>
            </a:r>
            <a:endParaRPr lang="en-US" sz="870" dirty="0"/>
          </a:p>
        </p:txBody>
      </p:sp>
      <p:sp>
        <p:nvSpPr>
          <p:cNvPr id="12" name="Shape 9"/>
          <p:cNvSpPr/>
          <p:nvPr/>
        </p:nvSpPr>
        <p:spPr>
          <a:xfrm>
            <a:off x="3348990" y="1417320"/>
            <a:ext cx="264490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31870" y="1581912"/>
            <a:ext cx="384048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Text 11"/>
          <p:cNvSpPr/>
          <p:nvPr/>
        </p:nvSpPr>
        <p:spPr>
          <a:xfrm>
            <a:off x="3513582" y="1655064"/>
            <a:ext cx="231571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1.217 señales I/O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513582" y="2395728"/>
            <a:ext cx="23157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7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Bajo control de Instrumentación — 330 en PCS/SCADA (Inauco) + 887 en SIS (HIMA)</a:t>
            </a:r>
            <a:endParaRPr lang="en-US" sz="870" dirty="0"/>
          </a:p>
        </p:txBody>
      </p:sp>
      <p:sp>
        <p:nvSpPr>
          <p:cNvPr id="16" name="Shape 13"/>
          <p:cNvSpPr/>
          <p:nvPr/>
        </p:nvSpPr>
        <p:spPr>
          <a:xfrm>
            <a:off x="6195060" y="1417320"/>
            <a:ext cx="264490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77940" y="1581912"/>
            <a:ext cx="384048" cy="54864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8" name="Text 15"/>
          <p:cNvSpPr/>
          <p:nvPr/>
        </p:nvSpPr>
        <p:spPr>
          <a:xfrm>
            <a:off x="6359652" y="1655064"/>
            <a:ext cx="231571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proveedores únicos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359652" y="2395728"/>
            <a:ext cx="23157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7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ABB · Inauco · HIMA — sin sustitutos calificados a esta altura del proyecto</a:t>
            </a:r>
            <a:endParaRPr lang="en-US" sz="870" dirty="0"/>
          </a:p>
        </p:txBody>
      </p:sp>
      <p:sp>
        <p:nvSpPr>
          <p:cNvPr id="20" name="Shape 17"/>
          <p:cNvSpPr/>
          <p:nvPr/>
        </p:nvSpPr>
        <p:spPr>
          <a:xfrm>
            <a:off x="9041130" y="1417320"/>
            <a:ext cx="264490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9224010" y="1581912"/>
            <a:ext cx="384048" cy="54864"/>
          </a:xfrm>
          <a:prstGeom prst="rect">
            <a:avLst/>
          </a:prstGeom>
          <a:solidFill>
            <a:srgbClr val="C9922B"/>
          </a:solidFill>
          <a:ln/>
        </p:spPr>
      </p:sp>
      <p:sp>
        <p:nvSpPr>
          <p:cNvPr id="22" name="Text 19"/>
          <p:cNvSpPr/>
          <p:nvPr/>
        </p:nvSpPr>
        <p:spPr>
          <a:xfrm>
            <a:off x="9205722" y="1655064"/>
            <a:ext cx="231571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RFSU 31-Ene-28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9205722" y="2395728"/>
            <a:ext cx="23157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7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≈ 524 días restantes — depende en cadena de estos 3 sistemas</a:t>
            </a:r>
            <a:endParaRPr lang="en-US" sz="870" dirty="0"/>
          </a:p>
        </p:txBody>
      </p:sp>
      <p:sp>
        <p:nvSpPr>
          <p:cNvPr id="24" name="Shape 21"/>
          <p:cNvSpPr/>
          <p:nvPr/>
        </p:nvSpPr>
        <p:spPr>
          <a:xfrm>
            <a:off x="502920" y="3063240"/>
            <a:ext cx="11183112" cy="1051560"/>
          </a:xfrm>
          <a:prstGeom prst="roundRect">
            <a:avLst>
              <a:gd name="adj" fmla="val 5217"/>
            </a:avLst>
          </a:prstGeom>
          <a:solidFill>
            <a:srgbClr val="005392"/>
          </a:solidFill>
          <a:ln/>
        </p:spPr>
      </p:sp>
      <p:sp>
        <p:nvSpPr>
          <p:cNvPr id="25" name="Text 22"/>
          <p:cNvSpPr/>
          <p:nvPr/>
        </p:nvSpPr>
        <p:spPr>
          <a:xfrm>
            <a:off x="777240" y="318211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 atraso en cualquiera de los tres sistemas desplaza el RFSU del proyecto.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777240" y="3511296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60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Salas Eléctricas, PMS, PCS/SCADA y SIS son de fabricación e ingeniería especializada, con plazos de entrega largos y proveedores sin alternativa a esta etapa del contrato. Su cadena de FAT / iFAT es secuencial: un retraso de suministro en un eslabón consume directamente el margen hasta el arranque.</a:t>
            </a:r>
            <a:endParaRPr lang="en-US" sz="960" dirty="0"/>
          </a:p>
        </p:txBody>
      </p:sp>
      <p:sp>
        <p:nvSpPr>
          <p:cNvPr id="27" name="Shape 24"/>
          <p:cNvSpPr/>
          <p:nvPr/>
        </p:nvSpPr>
        <p:spPr>
          <a:xfrm>
            <a:off x="502920" y="4343400"/>
            <a:ext cx="11183112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758952" y="450799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Qué significa esto para Suministros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758952" y="4928616"/>
            <a:ext cx="73152" cy="73152"/>
          </a:xfrm>
          <a:prstGeom prst="ellipse">
            <a:avLst/>
          </a:prstGeom>
          <a:solidFill>
            <a:srgbClr val="0094D3"/>
          </a:solidFill>
          <a:ln/>
        </p:spPr>
      </p:sp>
      <p:sp>
        <p:nvSpPr>
          <p:cNvPr id="30" name="Text 27"/>
          <p:cNvSpPr/>
          <p:nvPr/>
        </p:nvSpPr>
        <p:spPr>
          <a:xfrm>
            <a:off x="941832" y="4864608"/>
            <a:ext cx="1046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Estos 3 sistemas concentran la mayor parte del valor y del riesgo de plazo de la provisión E&amp;I — su seguimiento debe ser semanal, no mensual.</a:t>
            </a:r>
            <a:endParaRPr lang="en-US" sz="1030" dirty="0"/>
          </a:p>
        </p:txBody>
      </p:sp>
      <p:sp>
        <p:nvSpPr>
          <p:cNvPr id="31" name="Shape 28"/>
          <p:cNvSpPr/>
          <p:nvPr/>
        </p:nvSpPr>
        <p:spPr>
          <a:xfrm>
            <a:off x="758952" y="5312664"/>
            <a:ext cx="73152" cy="73152"/>
          </a:xfrm>
          <a:prstGeom prst="ellipse">
            <a:avLst/>
          </a:prstGeom>
          <a:solidFill>
            <a:srgbClr val="0094D3"/>
          </a:solidFill>
          <a:ln/>
        </p:spPr>
      </p:sp>
      <p:sp>
        <p:nvSpPr>
          <p:cNvPr id="32" name="Text 29"/>
          <p:cNvSpPr/>
          <p:nvPr/>
        </p:nvSpPr>
        <p:spPr>
          <a:xfrm>
            <a:off x="941832" y="5248656"/>
            <a:ext cx="1046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 OC de estos sistemas lleva asociados hitos de ingeniería, FAT y montaje que no admiten reprogramación sin impacto directo en el RFSU.</a:t>
            </a:r>
            <a:endParaRPr lang="en-US" sz="1030" dirty="0"/>
          </a:p>
        </p:txBody>
      </p:sp>
      <p:sp>
        <p:nvSpPr>
          <p:cNvPr id="33" name="Shape 30"/>
          <p:cNvSpPr/>
          <p:nvPr/>
        </p:nvSpPr>
        <p:spPr>
          <a:xfrm>
            <a:off x="758952" y="5696712"/>
            <a:ext cx="73152" cy="73152"/>
          </a:xfrm>
          <a:prstGeom prst="ellipse">
            <a:avLst/>
          </a:prstGeom>
          <a:solidFill>
            <a:srgbClr val="0094D3"/>
          </a:solidFill>
          <a:ln/>
        </p:spPr>
      </p:sp>
      <p:sp>
        <p:nvSpPr>
          <p:cNvPr id="34" name="Text 31"/>
          <p:cNvSpPr/>
          <p:nvPr/>
        </p:nvSpPr>
        <p:spPr>
          <a:xfrm>
            <a:off x="941832" y="5632704"/>
            <a:ext cx="1046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Las diapositivas siguientes muestran la magnitud física, el alcance contractual exacto (qué compra/gestiona AESA vs. qué provee el cliente) y el estado actual de adjudicación de cada uno.</a:t>
            </a:r>
            <a:endParaRPr lang="en-US" sz="10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ELECTRICIDAD · PROVISIÓN ABB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Salas Eléctricas #3/#4 y PMS — la base de todo el sistema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2 · 25-Ago-2026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suministros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371600"/>
            <a:ext cx="37033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pic>
        <p:nvPicPr>
          <p:cNvPr id="9" name="Image 1" descr="/tmp/claude-0/-home-user-OWN-Daro-1/a5c78a85-7f37-586c-8f2d-662506f55282/scratchpad/suministros/assets/sala3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7784" y="1426464"/>
            <a:ext cx="3593592" cy="176479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30936" y="289864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11" name="Text 7"/>
          <p:cNvSpPr/>
          <p:nvPr/>
        </p:nvSpPr>
        <p:spPr>
          <a:xfrm>
            <a:off x="630936" y="28986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SE#3 · BT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407408" y="1371600"/>
            <a:ext cx="37033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pic>
        <p:nvPicPr>
          <p:cNvPr id="13" name="Image 2" descr="/tmp/claude-0/-home-user-OWN-Daro-1/a5c78a85-7f37-586c-8f2d-662506f55282/scratchpad/suministros/assets/sala4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462272" y="1426464"/>
            <a:ext cx="3593592" cy="176479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535424" y="289864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15" name="Text 10"/>
          <p:cNvSpPr/>
          <p:nvPr/>
        </p:nvSpPr>
        <p:spPr>
          <a:xfrm>
            <a:off x="4535424" y="28986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SE#4 · MT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8311896" y="1371600"/>
            <a:ext cx="3376879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8494776" y="1499616"/>
            <a:ext cx="30111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628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16.200 kVA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8494776" y="1874520"/>
            <a:ext cx="301111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potencia total instalada · 8 transformadores</a:t>
            </a:r>
            <a:endParaRPr lang="en-US" sz="8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37 + 25 tableros BT/CCM (SE#3) + celdas MT (SE#4)</a:t>
            </a:r>
            <a:endParaRPr lang="en-US" sz="830" dirty="0"/>
          </a:p>
        </p:txBody>
      </p:sp>
      <p:sp>
        <p:nvSpPr>
          <p:cNvPr id="19" name="Shape 14"/>
          <p:cNvSpPr/>
          <p:nvPr/>
        </p:nvSpPr>
        <p:spPr>
          <a:xfrm>
            <a:off x="8311896" y="2395728"/>
            <a:ext cx="3376879" cy="850392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476488" y="2523744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21" name="Text 16"/>
          <p:cNvSpPr/>
          <p:nvPr/>
        </p:nvSpPr>
        <p:spPr>
          <a:xfrm>
            <a:off x="8476488" y="252374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ABB · PMS</a:t>
            </a:r>
            <a:endParaRPr lang="en-US" sz="830" dirty="0"/>
          </a:p>
        </p:txBody>
      </p:sp>
      <p:sp>
        <p:nvSpPr>
          <p:cNvPr id="22" name="Text 17"/>
          <p:cNvSpPr/>
          <p:nvPr/>
        </p:nvSpPr>
        <p:spPr>
          <a:xfrm>
            <a:off x="8494776" y="2816352"/>
            <a:ext cx="30111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Power Management System — gestión de energía</a:t>
            </a:r>
            <a:endParaRPr lang="en-US" sz="930" dirty="0"/>
          </a:p>
        </p:txBody>
      </p:sp>
      <p:sp>
        <p:nvSpPr>
          <p:cNvPr id="23" name="Text 18"/>
          <p:cNvSpPr/>
          <p:nvPr/>
        </p:nvSpPr>
        <p:spPr>
          <a:xfrm>
            <a:off x="8494776" y="3044952"/>
            <a:ext cx="30111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Parte de la provisión ABB, junto con las salas. Supervisa 28 tableros y se integra al PCS/SCADA.</a:t>
            </a:r>
            <a:endParaRPr lang="en-US" sz="790" dirty="0"/>
          </a:p>
        </p:txBody>
      </p:sp>
      <p:sp>
        <p:nvSpPr>
          <p:cNvPr id="24" name="Text 19"/>
          <p:cNvSpPr/>
          <p:nvPr/>
        </p:nvSpPr>
        <p:spPr>
          <a:xfrm>
            <a:off x="502920" y="3337560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Capturas de referencia del modelo 3D (BIM) — shelters premontados de fábrica por ABB, sobre estructura elevada con bandejas de vinculación.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502920" y="3685032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667512" y="3813048"/>
            <a:ext cx="23157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11.200 kVA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667512" y="4197096"/>
            <a:ext cx="231571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SE#3 · instalados</a:t>
            </a:r>
            <a:endParaRPr lang="en-US" sz="8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 transformadores exteriores</a:t>
            </a:r>
            <a:endParaRPr lang="en-US" sz="830" dirty="0"/>
          </a:p>
        </p:txBody>
      </p:sp>
      <p:sp>
        <p:nvSpPr>
          <p:cNvPr id="28" name="Shape 23"/>
          <p:cNvSpPr/>
          <p:nvPr/>
        </p:nvSpPr>
        <p:spPr>
          <a:xfrm>
            <a:off x="3348990" y="3685032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3513582" y="3813048"/>
            <a:ext cx="23157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5.000 kVA</a:t>
            </a:r>
            <a:endParaRPr lang="en-US" sz="1600" dirty="0"/>
          </a:p>
        </p:txBody>
      </p:sp>
      <p:sp>
        <p:nvSpPr>
          <p:cNvPr id="30" name="Text 25"/>
          <p:cNvSpPr/>
          <p:nvPr/>
        </p:nvSpPr>
        <p:spPr>
          <a:xfrm>
            <a:off x="3513582" y="4197096"/>
            <a:ext cx="231571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SE#4 · instalados</a:t>
            </a:r>
            <a:endParaRPr lang="en-US" sz="83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transformadores TRMT-001 A/B</a:t>
            </a:r>
            <a:endParaRPr lang="en-US" sz="830" dirty="0"/>
          </a:p>
        </p:txBody>
      </p:sp>
      <p:sp>
        <p:nvSpPr>
          <p:cNvPr id="31" name="Shape 26"/>
          <p:cNvSpPr/>
          <p:nvPr/>
        </p:nvSpPr>
        <p:spPr>
          <a:xfrm>
            <a:off x="6195060" y="3685032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2" name="Text 27"/>
          <p:cNvSpPr/>
          <p:nvPr/>
        </p:nvSpPr>
        <p:spPr>
          <a:xfrm>
            <a:off x="6359652" y="3813048"/>
            <a:ext cx="23157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CCM · 25 celdas MT</a:t>
            </a:r>
            <a:endParaRPr lang="en-US" sz="1600" dirty="0"/>
          </a:p>
        </p:txBody>
      </p:sp>
      <p:sp>
        <p:nvSpPr>
          <p:cNvPr id="33" name="Text 28"/>
          <p:cNvSpPr/>
          <p:nvPr/>
        </p:nvSpPr>
        <p:spPr>
          <a:xfrm>
            <a:off x="6359652" y="4197096"/>
            <a:ext cx="231571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SE#3: 4.000 A / 65 kA · SE#4: 630 A / 25 kA</a:t>
            </a:r>
            <a:endParaRPr lang="en-US" sz="830" dirty="0"/>
          </a:p>
        </p:txBody>
      </p:sp>
      <p:sp>
        <p:nvSpPr>
          <p:cNvPr id="34" name="Shape 29"/>
          <p:cNvSpPr/>
          <p:nvPr/>
        </p:nvSpPr>
        <p:spPr>
          <a:xfrm>
            <a:off x="9041130" y="3685032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5" name="Text 30"/>
          <p:cNvSpPr/>
          <p:nvPr/>
        </p:nvSpPr>
        <p:spPr>
          <a:xfrm>
            <a:off x="9205722" y="3813048"/>
            <a:ext cx="23157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6.325 kW</a:t>
            </a:r>
            <a:endParaRPr lang="en-US" sz="1600" dirty="0"/>
          </a:p>
        </p:txBody>
      </p:sp>
      <p:sp>
        <p:nvSpPr>
          <p:cNvPr id="36" name="Text 31"/>
          <p:cNvSpPr/>
          <p:nvPr/>
        </p:nvSpPr>
        <p:spPr>
          <a:xfrm>
            <a:off x="9205722" y="4197096"/>
            <a:ext cx="231571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Carga instalada SE#3 — motores, VFD, HVAC, UPS</a:t>
            </a:r>
            <a:endParaRPr lang="en-US" sz="830" dirty="0"/>
          </a:p>
        </p:txBody>
      </p:sp>
      <p:sp>
        <p:nvSpPr>
          <p:cNvPr id="37" name="Shape 32"/>
          <p:cNvSpPr/>
          <p:nvPr/>
        </p:nvSpPr>
        <p:spPr>
          <a:xfrm>
            <a:off x="502920" y="4901184"/>
            <a:ext cx="11183112" cy="868680"/>
          </a:xfrm>
          <a:prstGeom prst="roundRect">
            <a:avLst>
              <a:gd name="adj" fmla="val 6316"/>
            </a:avLst>
          </a:prstGeom>
          <a:solidFill>
            <a:srgbClr val="005392"/>
          </a:solidFill>
          <a:ln/>
        </p:spPr>
      </p:sp>
      <p:sp>
        <p:nvSpPr>
          <p:cNvPr id="38" name="Text 33"/>
          <p:cNvSpPr/>
          <p:nvPr/>
        </p:nvSpPr>
        <p:spPr>
          <a:xfrm>
            <a:off x="777240" y="5020056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Salas eléctricas + PMS se prueban juntos en fábrica antes de viajar a obra.</a:t>
            </a:r>
            <a:endParaRPr lang="en-US" sz="1350" dirty="0"/>
          </a:p>
        </p:txBody>
      </p:sp>
      <p:sp>
        <p:nvSpPr>
          <p:cNvPr id="39" name="Text 34"/>
          <p:cNvSpPr/>
          <p:nvPr/>
        </p:nvSpPr>
        <p:spPr>
          <a:xfrm>
            <a:off x="777240" y="5349240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60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 PMS se integra al PCS/SCADA de Instrumentación vía Modbus TCP redundante — es la ampliación de un sistema ya instalado en CPF-1/CPF-1.5. Toda la provisión ABB (shelters, transformadores y PMS) debe superar su FAT en fábrica antes de la Entrega SE#3 (14-May-27), primer hito físico de la cadena crítica.</a:t>
            </a:r>
            <a:endParaRPr lang="en-US" sz="9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INSTRUMENTACIÓN · PROVISIÓN INAUCO / HIMA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PCS/SCADA y SIS — 1.217 señales bajo control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2 · 25-Ago-2026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suministros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417320"/>
            <a:ext cx="5454396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22376" y="160020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/>
        </p:spPr>
      </p:sp>
      <p:sp>
        <p:nvSpPr>
          <p:cNvPr id="10" name="Text 7"/>
          <p:cNvSpPr/>
          <p:nvPr/>
        </p:nvSpPr>
        <p:spPr>
          <a:xfrm>
            <a:off x="722376" y="16002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INAUCO · PCS/SCADA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" y="2020824"/>
            <a:ext cx="49423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565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330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758952" y="2606040"/>
            <a:ext cx="49423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señales I/O nuevas (175 AI · 65 AO · 38 DI · 32 DO)</a:t>
            </a:r>
            <a:endParaRPr lang="en-US" sz="93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 ≈500 variables de equipos paquete vía Modbus</a:t>
            </a:r>
            <a:endParaRPr lang="en-US" sz="930" dirty="0"/>
          </a:p>
        </p:txBody>
      </p:sp>
      <p:sp>
        <p:nvSpPr>
          <p:cNvPr id="13" name="Shape 10"/>
          <p:cNvSpPr/>
          <p:nvPr/>
        </p:nvSpPr>
        <p:spPr>
          <a:xfrm>
            <a:off x="758952" y="3300984"/>
            <a:ext cx="64008" cy="6400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4" name="Text 11"/>
          <p:cNvSpPr/>
          <p:nvPr/>
        </p:nvSpPr>
        <p:spPr>
          <a:xfrm>
            <a:off x="923544" y="3246120"/>
            <a:ext cx="4777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Rockwell ControlLogix 1756 — 2 remotas nuevas: 7A y 7B</a:t>
            </a:r>
            <a:endParaRPr lang="en-US" sz="930" dirty="0"/>
          </a:p>
        </p:txBody>
      </p:sp>
      <p:sp>
        <p:nvSpPr>
          <p:cNvPr id="15" name="Shape 12"/>
          <p:cNvSpPr/>
          <p:nvPr/>
        </p:nvSpPr>
        <p:spPr>
          <a:xfrm>
            <a:off x="758952" y="3611880"/>
            <a:ext cx="64008" cy="6400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6" name="Text 13"/>
          <p:cNvSpPr/>
          <p:nvPr/>
        </p:nvSpPr>
        <p:spPr>
          <a:xfrm>
            <a:off x="923544" y="3557016"/>
            <a:ext cx="4777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Backbone Stratix 5800, red PRP redundante</a:t>
            </a:r>
            <a:endParaRPr lang="en-US" sz="930" dirty="0"/>
          </a:p>
        </p:txBody>
      </p:sp>
      <p:sp>
        <p:nvSpPr>
          <p:cNvPr id="17" name="Shape 14"/>
          <p:cNvSpPr/>
          <p:nvPr/>
        </p:nvSpPr>
        <p:spPr>
          <a:xfrm>
            <a:off x="758952" y="3922776"/>
            <a:ext cx="64008" cy="6400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8" name="Text 15"/>
          <p:cNvSpPr/>
          <p:nvPr/>
        </p:nvSpPr>
        <p:spPr>
          <a:xfrm>
            <a:off x="923544" y="3867912"/>
            <a:ext cx="4777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Alcance Inauco hasta entrega; SAT a cargo de AESA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6231636" y="1417320"/>
            <a:ext cx="5454396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451092" y="16002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/>
        </p:spPr>
      </p:sp>
      <p:sp>
        <p:nvSpPr>
          <p:cNvPr id="21" name="Text 18"/>
          <p:cNvSpPr/>
          <p:nvPr/>
        </p:nvSpPr>
        <p:spPr>
          <a:xfrm>
            <a:off x="6451092" y="16002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HIMA · SIS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487668" y="2020824"/>
            <a:ext cx="49423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A1B9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887</a:t>
            </a:r>
            <a:endParaRPr lang="en-US" sz="4000" dirty="0"/>
          </a:p>
        </p:txBody>
      </p:sp>
      <p:sp>
        <p:nvSpPr>
          <p:cNvPr id="23" name="Text 20"/>
          <p:cNvSpPr/>
          <p:nvPr/>
        </p:nvSpPr>
        <p:spPr>
          <a:xfrm>
            <a:off x="6487668" y="2606040"/>
            <a:ext cx="49423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señales I/O de seguridad (ESD 243 + PSS 644)</a:t>
            </a:r>
            <a:endParaRPr lang="en-US" sz="93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protegen personas, proceso y activos</a:t>
            </a:r>
            <a:endParaRPr lang="en-US" sz="930" dirty="0"/>
          </a:p>
        </p:txBody>
      </p:sp>
      <p:sp>
        <p:nvSpPr>
          <p:cNvPr id="24" name="Shape 21"/>
          <p:cNvSpPr/>
          <p:nvPr/>
        </p:nvSpPr>
        <p:spPr>
          <a:xfrm>
            <a:off x="6487668" y="3300984"/>
            <a:ext cx="64008" cy="64008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25" name="Text 22"/>
          <p:cNvSpPr/>
          <p:nvPr/>
        </p:nvSpPr>
        <p:spPr>
          <a:xfrm>
            <a:off x="6652260" y="3246120"/>
            <a:ext cx="4777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Ampliación de la plataforma Planar4 ya instalada — no es un sistema nuevo</a:t>
            </a:r>
            <a:endParaRPr lang="en-US" sz="930" dirty="0"/>
          </a:p>
        </p:txBody>
      </p:sp>
      <p:sp>
        <p:nvSpPr>
          <p:cNvPr id="26" name="Shape 23"/>
          <p:cNvSpPr/>
          <p:nvPr/>
        </p:nvSpPr>
        <p:spPr>
          <a:xfrm>
            <a:off x="6487668" y="3611880"/>
            <a:ext cx="64008" cy="64008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27" name="Text 24"/>
          <p:cNvSpPr/>
          <p:nvPr/>
        </p:nvSpPr>
        <p:spPr>
          <a:xfrm>
            <a:off x="6652260" y="3557016"/>
            <a:ext cx="4777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racks de I/O nuevos en Shelter 7 (provisión PPSA)</a:t>
            </a:r>
            <a:endParaRPr lang="en-US" sz="930" dirty="0"/>
          </a:p>
        </p:txBody>
      </p:sp>
      <p:sp>
        <p:nvSpPr>
          <p:cNvPr id="28" name="Shape 25"/>
          <p:cNvSpPr/>
          <p:nvPr/>
        </p:nvSpPr>
        <p:spPr>
          <a:xfrm>
            <a:off x="6487668" y="3922776"/>
            <a:ext cx="64008" cy="64008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29" name="Text 26"/>
          <p:cNvSpPr/>
          <p:nvPr/>
        </p:nvSpPr>
        <p:spPr>
          <a:xfrm>
            <a:off x="6652260" y="3867912"/>
            <a:ext cx="4777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tableros de marshalling — único alcance contractual de AESA</a:t>
            </a:r>
            <a:endParaRPr lang="en-US" sz="930" dirty="0"/>
          </a:p>
        </p:txBody>
      </p:sp>
      <p:sp>
        <p:nvSpPr>
          <p:cNvPr id="30" name="Shape 27"/>
          <p:cNvSpPr/>
          <p:nvPr/>
        </p:nvSpPr>
        <p:spPr>
          <a:xfrm>
            <a:off x="502920" y="4681728"/>
            <a:ext cx="11183112" cy="914400"/>
          </a:xfrm>
          <a:prstGeom prst="roundRect">
            <a:avLst>
              <a:gd name="adj" fmla="val 6000"/>
            </a:avLst>
          </a:prstGeom>
          <a:solidFill>
            <a:srgbClr val="005392"/>
          </a:solidFill>
          <a:ln/>
        </p:spPr>
      </p:sp>
      <p:sp>
        <p:nvSpPr>
          <p:cNvPr id="31" name="Text 28"/>
          <p:cNvSpPr/>
          <p:nvPr/>
        </p:nvSpPr>
        <p:spPr>
          <a:xfrm>
            <a:off x="777240" y="480060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Ninguno de los dos arranca sin el otro.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777240" y="5129784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60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 SIS (HIMA) protege personas y activos ante desvíos de proceso (ESD/F&amp;G/PSS); el PCS (Inauco) gobierna el proceso completo y recibe la señalización del PMS. Los tres sistemas — PMS, PCS y SIS — deben estar integrados y probados (iFAT) antes del RFSU.</a:t>
            </a:r>
            <a:endParaRPr lang="en-US" sz="9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ALCANCE CONTRACTUAL · COMPRAS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Qué compra y gestiona AESA vs. qué provee el cliente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2 · 25-Ago-2026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suministros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371600"/>
            <a:ext cx="5454396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04088" y="153619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15361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INAUCO · PCS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22376" y="1938528"/>
            <a:ext cx="50154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E7D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Alcance contractual AESA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740664" y="2286000"/>
            <a:ext cx="64008" cy="6400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905256" y="2231136"/>
            <a:ext cx="4814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Backbone Stratix 5800 — red PRP redundante</a:t>
            </a:r>
            <a:endParaRPr lang="en-US" sz="870" dirty="0"/>
          </a:p>
        </p:txBody>
      </p:sp>
      <p:sp>
        <p:nvSpPr>
          <p:cNvPr id="14" name="Shape 11"/>
          <p:cNvSpPr/>
          <p:nvPr/>
        </p:nvSpPr>
        <p:spPr>
          <a:xfrm>
            <a:off x="740664" y="2578608"/>
            <a:ext cx="64008" cy="6400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5" name="Text 12"/>
          <p:cNvSpPr/>
          <p:nvPr/>
        </p:nvSpPr>
        <p:spPr>
          <a:xfrm>
            <a:off x="905256" y="2523744"/>
            <a:ext cx="4814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Tableros remotas 7A/7B — suministro, montaje, cableado</a:t>
            </a:r>
            <a:endParaRPr lang="en-US" sz="870" dirty="0"/>
          </a:p>
        </p:txBody>
      </p:sp>
      <p:sp>
        <p:nvSpPr>
          <p:cNvPr id="16" name="Shape 13"/>
          <p:cNvSpPr/>
          <p:nvPr/>
        </p:nvSpPr>
        <p:spPr>
          <a:xfrm>
            <a:off x="740664" y="2871216"/>
            <a:ext cx="64008" cy="6400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7" name="Text 14"/>
          <p:cNvSpPr/>
          <p:nvPr/>
        </p:nvSpPr>
        <p:spPr>
          <a:xfrm>
            <a:off x="905256" y="2816352"/>
            <a:ext cx="4814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Módulos de E/S: 330 señales</a:t>
            </a:r>
            <a:endParaRPr lang="en-US" sz="870" dirty="0"/>
          </a:p>
        </p:txBody>
      </p:sp>
      <p:sp>
        <p:nvSpPr>
          <p:cNvPr id="18" name="Shape 15"/>
          <p:cNvSpPr/>
          <p:nvPr/>
        </p:nvSpPr>
        <p:spPr>
          <a:xfrm>
            <a:off x="740664" y="3163824"/>
            <a:ext cx="64008" cy="6400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9" name="Text 16"/>
          <p:cNvSpPr/>
          <p:nvPr/>
        </p:nvSpPr>
        <p:spPr>
          <a:xfrm>
            <a:off x="905256" y="3108960"/>
            <a:ext cx="4814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Coordinación FAT / SAT / iFAT con Inauco</a:t>
            </a:r>
            <a:endParaRPr lang="en-US" sz="870" dirty="0"/>
          </a:p>
        </p:txBody>
      </p:sp>
      <p:sp>
        <p:nvSpPr>
          <p:cNvPr id="20" name="Shape 17"/>
          <p:cNvSpPr/>
          <p:nvPr/>
        </p:nvSpPr>
        <p:spPr>
          <a:xfrm>
            <a:off x="667512" y="3511296"/>
            <a:ext cx="5125212" cy="1088136"/>
          </a:xfrm>
          <a:prstGeom prst="roundRect">
            <a:avLst>
              <a:gd name="adj" fmla="val 5042"/>
            </a:avLst>
          </a:prstGeom>
          <a:solidFill>
            <a:srgbClr val="F2F4F6"/>
          </a:solidFill>
          <a:ln w="15875">
            <a:solidFill>
              <a:srgbClr val="546E7A"/>
            </a:solidFill>
            <a:prstDash val="dash"/>
          </a:ln>
        </p:spPr>
      </p:sp>
      <p:sp>
        <p:nvSpPr>
          <p:cNvPr id="21" name="Text 18"/>
          <p:cNvSpPr/>
          <p:nvPr/>
        </p:nvSpPr>
        <p:spPr>
          <a:xfrm>
            <a:off x="813816" y="3602736"/>
            <a:ext cx="48326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546E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Provisión PPSA (cliente)</a:t>
            </a:r>
            <a:endParaRPr lang="en-US" sz="1080" dirty="0"/>
          </a:p>
        </p:txBody>
      </p:sp>
      <p:sp>
        <p:nvSpPr>
          <p:cNvPr id="22" name="Shape 19"/>
          <p:cNvSpPr/>
          <p:nvPr/>
        </p:nvSpPr>
        <p:spPr>
          <a:xfrm>
            <a:off x="832104" y="3950208"/>
            <a:ext cx="64008" cy="64008"/>
          </a:xfrm>
          <a:prstGeom prst="ellipse">
            <a:avLst/>
          </a:prstGeom>
          <a:solidFill>
            <a:srgbClr val="546E7A"/>
          </a:solidFill>
          <a:ln/>
        </p:spPr>
      </p:sp>
      <p:sp>
        <p:nvSpPr>
          <p:cNvPr id="23" name="Text 20"/>
          <p:cNvSpPr/>
          <p:nvPr/>
        </p:nvSpPr>
        <p:spPr>
          <a:xfrm>
            <a:off x="996696" y="3895344"/>
            <a:ext cx="46314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Controladores CPU Rockwell ControlLogix 1756-A13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832104" y="4261104"/>
            <a:ext cx="64008" cy="64008"/>
          </a:xfrm>
          <a:prstGeom prst="ellipse">
            <a:avLst/>
          </a:prstGeom>
          <a:solidFill>
            <a:srgbClr val="546E7A"/>
          </a:solidFill>
          <a:ln/>
        </p:spPr>
      </p:sp>
      <p:sp>
        <p:nvSpPr>
          <p:cNvPr id="25" name="Text 22"/>
          <p:cNvSpPr/>
          <p:nvPr/>
        </p:nvSpPr>
        <p:spPr>
          <a:xfrm>
            <a:off x="996696" y="4206240"/>
            <a:ext cx="46314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Ingeniería, configuración y puesta en marcha (Inauco)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67512" y="4709160"/>
            <a:ext cx="5125212" cy="694944"/>
          </a:xfrm>
          <a:prstGeom prst="rect">
            <a:avLst/>
          </a:prstGeom>
          <a:solidFill>
            <a:srgbClr val="FBF3E4"/>
          </a:solidFill>
          <a:ln w="9525">
            <a:solidFill>
              <a:srgbClr val="C9922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95528" y="4782312"/>
            <a:ext cx="49057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spc="100" kern="0" dirty="0">
                <a:solidFill>
                  <a:srgbClr val="C992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PUNTO DE ATENCIÓN</a:t>
            </a:r>
            <a:endParaRPr lang="en-US" sz="780" dirty="0"/>
          </a:p>
        </p:txBody>
      </p:sp>
      <p:sp>
        <p:nvSpPr>
          <p:cNvPr id="28" name="Text 25"/>
          <p:cNvSpPr/>
          <p:nvPr/>
        </p:nvSpPr>
        <p:spPr>
          <a:xfrm>
            <a:off x="795528" y="4965192"/>
            <a:ext cx="48874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20" i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 SCADA debe adecuarse/reconfigurarse (pantallas ESD/F&amp;G/PSS, matriz C&amp;E, tags Remota 7) — alcance a confirmar con Inauco.</a:t>
            </a:r>
            <a:endParaRPr lang="en-US" sz="820" dirty="0"/>
          </a:p>
        </p:txBody>
      </p:sp>
      <p:sp>
        <p:nvSpPr>
          <p:cNvPr id="29" name="Shape 26"/>
          <p:cNvSpPr/>
          <p:nvPr/>
        </p:nvSpPr>
        <p:spPr>
          <a:xfrm>
            <a:off x="6231636" y="1371600"/>
            <a:ext cx="5454396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432804" y="153619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/>
        </p:spPr>
      </p:sp>
      <p:sp>
        <p:nvSpPr>
          <p:cNvPr id="31" name="Text 28"/>
          <p:cNvSpPr/>
          <p:nvPr/>
        </p:nvSpPr>
        <p:spPr>
          <a:xfrm>
            <a:off x="6432804" y="15361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HIMA · SIS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6451092" y="1938528"/>
            <a:ext cx="50154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E7D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Alcance contractual AESA</a:t>
            </a:r>
            <a:endParaRPr lang="en-US" sz="1080" dirty="0"/>
          </a:p>
        </p:txBody>
      </p:sp>
      <p:sp>
        <p:nvSpPr>
          <p:cNvPr id="33" name="Shape 30"/>
          <p:cNvSpPr/>
          <p:nvPr/>
        </p:nvSpPr>
        <p:spPr>
          <a:xfrm>
            <a:off x="6469380" y="2286000"/>
            <a:ext cx="64008" cy="6400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4" name="Text 31"/>
          <p:cNvSpPr/>
          <p:nvPr/>
        </p:nvSpPr>
        <p:spPr>
          <a:xfrm>
            <a:off x="6633972" y="2231136"/>
            <a:ext cx="4814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tableros de marshalling (ESD/F&amp;G · PSS 07A · PSS 07B)</a:t>
            </a:r>
            <a:endParaRPr lang="en-US" sz="870" dirty="0"/>
          </a:p>
        </p:txBody>
      </p:sp>
      <p:sp>
        <p:nvSpPr>
          <p:cNvPr id="35" name="Shape 32"/>
          <p:cNvSpPr/>
          <p:nvPr/>
        </p:nvSpPr>
        <p:spPr>
          <a:xfrm>
            <a:off x="6469380" y="2578608"/>
            <a:ext cx="64008" cy="6400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6" name="Text 33"/>
          <p:cNvSpPr/>
          <p:nvPr/>
        </p:nvSpPr>
        <p:spPr>
          <a:xfrm>
            <a:off x="6633972" y="2523744"/>
            <a:ext cx="4814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Montaje, conexionado e integración de campo</a:t>
            </a:r>
            <a:endParaRPr lang="en-US" sz="870" dirty="0"/>
          </a:p>
        </p:txBody>
      </p:sp>
      <p:sp>
        <p:nvSpPr>
          <p:cNvPr id="37" name="Shape 34"/>
          <p:cNvSpPr/>
          <p:nvPr/>
        </p:nvSpPr>
        <p:spPr>
          <a:xfrm>
            <a:off x="6469380" y="2871216"/>
            <a:ext cx="64008" cy="6400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8" name="Text 35"/>
          <p:cNvSpPr/>
          <p:nvPr/>
        </p:nvSpPr>
        <p:spPr>
          <a:xfrm>
            <a:off x="6633972" y="2816352"/>
            <a:ext cx="48143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Coordinación FAT / SAT / iFAT con HIMA</a:t>
            </a:r>
            <a:endParaRPr lang="en-US" sz="870" dirty="0"/>
          </a:p>
        </p:txBody>
      </p:sp>
      <p:sp>
        <p:nvSpPr>
          <p:cNvPr id="39" name="Shape 36"/>
          <p:cNvSpPr/>
          <p:nvPr/>
        </p:nvSpPr>
        <p:spPr>
          <a:xfrm>
            <a:off x="6396228" y="3218688"/>
            <a:ext cx="5125212" cy="1088136"/>
          </a:xfrm>
          <a:prstGeom prst="roundRect">
            <a:avLst>
              <a:gd name="adj" fmla="val 5042"/>
            </a:avLst>
          </a:prstGeom>
          <a:solidFill>
            <a:srgbClr val="F2F4F6"/>
          </a:solidFill>
          <a:ln w="15875">
            <a:solidFill>
              <a:srgbClr val="546E7A"/>
            </a:solidFill>
            <a:prstDash val="dash"/>
          </a:ln>
        </p:spPr>
      </p:sp>
      <p:sp>
        <p:nvSpPr>
          <p:cNvPr id="40" name="Text 37"/>
          <p:cNvSpPr/>
          <p:nvPr/>
        </p:nvSpPr>
        <p:spPr>
          <a:xfrm>
            <a:off x="6542532" y="3310128"/>
            <a:ext cx="48326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546E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Provisión PPSA (cliente)</a:t>
            </a:r>
            <a:endParaRPr lang="en-US" sz="1080" dirty="0"/>
          </a:p>
        </p:txBody>
      </p:sp>
      <p:sp>
        <p:nvSpPr>
          <p:cNvPr id="41" name="Shape 38"/>
          <p:cNvSpPr/>
          <p:nvPr/>
        </p:nvSpPr>
        <p:spPr>
          <a:xfrm>
            <a:off x="6560820" y="3657600"/>
            <a:ext cx="64008" cy="64008"/>
          </a:xfrm>
          <a:prstGeom prst="ellipse">
            <a:avLst/>
          </a:prstGeom>
          <a:solidFill>
            <a:srgbClr val="546E7A"/>
          </a:solidFill>
          <a:ln/>
        </p:spPr>
      </p:sp>
      <p:sp>
        <p:nvSpPr>
          <p:cNvPr id="42" name="Text 39"/>
          <p:cNvSpPr/>
          <p:nvPr/>
        </p:nvSpPr>
        <p:spPr>
          <a:xfrm>
            <a:off x="6725412" y="3602736"/>
            <a:ext cx="46314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Hardware y software HIMA — plataforma Planar4 (existente)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6560820" y="3968496"/>
            <a:ext cx="64008" cy="64008"/>
          </a:xfrm>
          <a:prstGeom prst="ellipse">
            <a:avLst/>
          </a:prstGeom>
          <a:solidFill>
            <a:srgbClr val="546E7A"/>
          </a:solidFill>
          <a:ln/>
        </p:spPr>
      </p:sp>
      <p:sp>
        <p:nvSpPr>
          <p:cNvPr id="44" name="Text 41"/>
          <p:cNvSpPr/>
          <p:nvPr/>
        </p:nvSpPr>
        <p:spPr>
          <a:xfrm>
            <a:off x="6725412" y="3913632"/>
            <a:ext cx="46314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racks de I/O nuevos ESD/PSS/USS (Shelter 7)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6396228" y="4416552"/>
            <a:ext cx="5125212" cy="987552"/>
          </a:xfrm>
          <a:prstGeom prst="rect">
            <a:avLst/>
          </a:prstGeom>
          <a:solidFill>
            <a:srgbClr val="FBF3E4"/>
          </a:solidFill>
          <a:ln w="9525">
            <a:solidFill>
              <a:srgbClr val="C9922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524244" y="4489704"/>
            <a:ext cx="49057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spc="100" kern="0" dirty="0">
                <a:solidFill>
                  <a:srgbClr val="C992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PUNTO DE ATENCIÓN</a:t>
            </a:r>
            <a:endParaRPr lang="en-US" sz="780" dirty="0"/>
          </a:p>
        </p:txBody>
      </p:sp>
      <p:sp>
        <p:nvSpPr>
          <p:cNvPr id="47" name="Text 44"/>
          <p:cNvSpPr/>
          <p:nvPr/>
        </p:nvSpPr>
        <p:spPr>
          <a:xfrm>
            <a:off x="6524244" y="4672584"/>
            <a:ext cx="48874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20" i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 reajuste de hardware y software HIMA no estaba en el alcance original — AESA debe asumirlo. A validar contractualmente contra el pliego vigente.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CAMINO CRÍTICO — ABB, INAUCO E HIMA DESDE EL INICIO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 cadena de hitos hacia el RFSU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2 · 25-Ago-2026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suministros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75564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7556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ABB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691640" y="1481328"/>
            <a:ext cx="215188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691640" y="1481328"/>
            <a:ext cx="215188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2" name="Text 9"/>
          <p:cNvSpPr/>
          <p:nvPr/>
        </p:nvSpPr>
        <p:spPr>
          <a:xfrm>
            <a:off x="1819656" y="1627632"/>
            <a:ext cx="1895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OC colocada</a:t>
            </a:r>
            <a:endParaRPr lang="en-US" sz="9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Salas + PMS</a:t>
            </a:r>
            <a:endParaRPr lang="en-US" sz="960" dirty="0"/>
          </a:p>
        </p:txBody>
      </p:sp>
      <p:sp>
        <p:nvSpPr>
          <p:cNvPr id="13" name="Text 10"/>
          <p:cNvSpPr/>
          <p:nvPr/>
        </p:nvSpPr>
        <p:spPr>
          <a:xfrm>
            <a:off x="1819656" y="2029968"/>
            <a:ext cx="189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C628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18–22-May-26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 rot="5400000">
            <a:off x="3861816" y="1847088"/>
            <a:ext cx="109728" cy="109728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15" name="Shape 12"/>
          <p:cNvSpPr/>
          <p:nvPr/>
        </p:nvSpPr>
        <p:spPr>
          <a:xfrm>
            <a:off x="3989832" y="1481328"/>
            <a:ext cx="215188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989832" y="1481328"/>
            <a:ext cx="215188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7" name="Text 14"/>
          <p:cNvSpPr/>
          <p:nvPr/>
        </p:nvSpPr>
        <p:spPr>
          <a:xfrm>
            <a:off x="4117848" y="1627632"/>
            <a:ext cx="1895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FAT ABB — Salas + PMS</a:t>
            </a:r>
            <a:endParaRPr lang="en-US" sz="9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(fábrica, antes de embarque)</a:t>
            </a:r>
            <a:endParaRPr lang="en-US" sz="960" dirty="0"/>
          </a:p>
        </p:txBody>
      </p:sp>
      <p:sp>
        <p:nvSpPr>
          <p:cNvPr id="18" name="Text 15"/>
          <p:cNvSpPr/>
          <p:nvPr/>
        </p:nvSpPr>
        <p:spPr>
          <a:xfrm>
            <a:off x="4117848" y="2029968"/>
            <a:ext cx="189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C628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31-Mar-27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 rot="5400000">
            <a:off x="6160008" y="1847088"/>
            <a:ext cx="109728" cy="109728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20" name="Shape 17"/>
          <p:cNvSpPr/>
          <p:nvPr/>
        </p:nvSpPr>
        <p:spPr>
          <a:xfrm>
            <a:off x="6288024" y="1481328"/>
            <a:ext cx="215188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288024" y="1481328"/>
            <a:ext cx="2151888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2" name="Text 19"/>
          <p:cNvSpPr/>
          <p:nvPr/>
        </p:nvSpPr>
        <p:spPr>
          <a:xfrm>
            <a:off x="6416040" y="1627632"/>
            <a:ext cx="1895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Entrega SE#3</a:t>
            </a:r>
            <a:endParaRPr lang="en-US" sz="9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 obra</a:t>
            </a:r>
            <a:endParaRPr lang="en-US" sz="960" dirty="0"/>
          </a:p>
        </p:txBody>
      </p:sp>
      <p:sp>
        <p:nvSpPr>
          <p:cNvPr id="23" name="Text 20"/>
          <p:cNvSpPr/>
          <p:nvPr/>
        </p:nvSpPr>
        <p:spPr>
          <a:xfrm>
            <a:off x="6416040" y="2029968"/>
            <a:ext cx="189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C628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14-May-27</a:t>
            </a:r>
            <a:endParaRPr lang="en-US" sz="930" dirty="0"/>
          </a:p>
        </p:txBody>
      </p:sp>
      <p:sp>
        <p:nvSpPr>
          <p:cNvPr id="24" name="Shape 21"/>
          <p:cNvSpPr/>
          <p:nvPr/>
        </p:nvSpPr>
        <p:spPr>
          <a:xfrm>
            <a:off x="502920" y="2724912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/>
        </p:spPr>
      </p:sp>
      <p:sp>
        <p:nvSpPr>
          <p:cNvPr id="25" name="Text 22"/>
          <p:cNvSpPr/>
          <p:nvPr/>
        </p:nvSpPr>
        <p:spPr>
          <a:xfrm>
            <a:off x="502920" y="272491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INAUCO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1691640" y="2450592"/>
            <a:ext cx="215188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1691640" y="2450592"/>
            <a:ext cx="2151888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8" name="Text 25"/>
          <p:cNvSpPr/>
          <p:nvPr/>
        </p:nvSpPr>
        <p:spPr>
          <a:xfrm>
            <a:off x="1819656" y="2596896"/>
            <a:ext cx="1895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OC colocada</a:t>
            </a:r>
            <a:endParaRPr lang="en-US" sz="9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PCS/SCADA</a:t>
            </a:r>
            <a:endParaRPr lang="en-US" sz="960" dirty="0"/>
          </a:p>
        </p:txBody>
      </p:sp>
      <p:sp>
        <p:nvSpPr>
          <p:cNvPr id="29" name="Text 26"/>
          <p:cNvSpPr/>
          <p:nvPr/>
        </p:nvSpPr>
        <p:spPr>
          <a:xfrm>
            <a:off x="1819656" y="2999232"/>
            <a:ext cx="189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565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23-Jul-26</a:t>
            </a:r>
            <a:endParaRPr lang="en-US" sz="930" dirty="0"/>
          </a:p>
        </p:txBody>
      </p:sp>
      <p:sp>
        <p:nvSpPr>
          <p:cNvPr id="30" name="Shape 27"/>
          <p:cNvSpPr/>
          <p:nvPr/>
        </p:nvSpPr>
        <p:spPr>
          <a:xfrm rot="5400000">
            <a:off x="3861816" y="2816352"/>
            <a:ext cx="109728" cy="109728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31" name="Shape 28"/>
          <p:cNvSpPr/>
          <p:nvPr/>
        </p:nvSpPr>
        <p:spPr>
          <a:xfrm>
            <a:off x="3989832" y="2450592"/>
            <a:ext cx="215188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3989832" y="2450592"/>
            <a:ext cx="2151888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3" name="Text 30"/>
          <p:cNvSpPr/>
          <p:nvPr/>
        </p:nvSpPr>
        <p:spPr>
          <a:xfrm>
            <a:off x="4117848" y="2596896"/>
            <a:ext cx="1895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FAT integral PCS</a:t>
            </a:r>
            <a:endParaRPr lang="en-US" sz="9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(fábrica)</a:t>
            </a:r>
            <a:endParaRPr lang="en-US" sz="960" dirty="0"/>
          </a:p>
        </p:txBody>
      </p:sp>
      <p:sp>
        <p:nvSpPr>
          <p:cNvPr id="34" name="Text 31"/>
          <p:cNvSpPr/>
          <p:nvPr/>
        </p:nvSpPr>
        <p:spPr>
          <a:xfrm>
            <a:off x="4117848" y="2999232"/>
            <a:ext cx="189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565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04-May-27</a:t>
            </a:r>
            <a:endParaRPr lang="en-US" sz="930" dirty="0"/>
          </a:p>
        </p:txBody>
      </p:sp>
      <p:sp>
        <p:nvSpPr>
          <p:cNvPr id="35" name="Shape 32"/>
          <p:cNvSpPr/>
          <p:nvPr/>
        </p:nvSpPr>
        <p:spPr>
          <a:xfrm>
            <a:off x="502920" y="3694176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69417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HIMA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1691640" y="3419856"/>
            <a:ext cx="215188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1691640" y="3419856"/>
            <a:ext cx="2151888" cy="54864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9" name="Text 36"/>
          <p:cNvSpPr/>
          <p:nvPr/>
        </p:nvSpPr>
        <p:spPr>
          <a:xfrm>
            <a:off x="1819656" y="3566160"/>
            <a:ext cx="1895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OC colocada</a:t>
            </a:r>
            <a:endParaRPr lang="en-US" sz="9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SIS</a:t>
            </a:r>
            <a:endParaRPr lang="en-US" sz="960" dirty="0"/>
          </a:p>
        </p:txBody>
      </p:sp>
      <p:sp>
        <p:nvSpPr>
          <p:cNvPr id="40" name="Text 37"/>
          <p:cNvSpPr/>
          <p:nvPr/>
        </p:nvSpPr>
        <p:spPr>
          <a:xfrm>
            <a:off x="1819656" y="3968496"/>
            <a:ext cx="189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6A1B9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03-Jul-26</a:t>
            </a:r>
            <a:endParaRPr lang="en-US" sz="930" dirty="0"/>
          </a:p>
        </p:txBody>
      </p:sp>
      <p:sp>
        <p:nvSpPr>
          <p:cNvPr id="41" name="Shape 38"/>
          <p:cNvSpPr/>
          <p:nvPr/>
        </p:nvSpPr>
        <p:spPr>
          <a:xfrm rot="5400000">
            <a:off x="3861816" y="3785616"/>
            <a:ext cx="109728" cy="109728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42" name="Shape 39"/>
          <p:cNvSpPr/>
          <p:nvPr/>
        </p:nvSpPr>
        <p:spPr>
          <a:xfrm>
            <a:off x="3989832" y="3419856"/>
            <a:ext cx="215188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3989832" y="3419856"/>
            <a:ext cx="2151888" cy="54864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44" name="Text 41"/>
          <p:cNvSpPr/>
          <p:nvPr/>
        </p:nvSpPr>
        <p:spPr>
          <a:xfrm>
            <a:off x="4117848" y="3566160"/>
            <a:ext cx="1895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Recepción tablero</a:t>
            </a:r>
            <a:endParaRPr lang="en-US" sz="96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 obra</a:t>
            </a:r>
            <a:endParaRPr lang="en-US" sz="960" dirty="0"/>
          </a:p>
        </p:txBody>
      </p:sp>
      <p:sp>
        <p:nvSpPr>
          <p:cNvPr id="45" name="Text 42"/>
          <p:cNvSpPr/>
          <p:nvPr/>
        </p:nvSpPr>
        <p:spPr>
          <a:xfrm>
            <a:off x="4117848" y="3968496"/>
            <a:ext cx="189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6A1B9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25-Dic-26</a:t>
            </a:r>
            <a:endParaRPr lang="en-US" sz="930" dirty="0"/>
          </a:p>
        </p:txBody>
      </p:sp>
      <p:sp>
        <p:nvSpPr>
          <p:cNvPr id="46" name="Shape 43"/>
          <p:cNvSpPr/>
          <p:nvPr/>
        </p:nvSpPr>
        <p:spPr>
          <a:xfrm>
            <a:off x="8439912" y="1901952"/>
            <a:ext cx="164592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 rot="5400000">
            <a:off x="8586216" y="1847088"/>
            <a:ext cx="109728" cy="109728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48" name="Shape 45"/>
          <p:cNvSpPr/>
          <p:nvPr/>
        </p:nvSpPr>
        <p:spPr>
          <a:xfrm>
            <a:off x="6141720" y="2871216"/>
            <a:ext cx="2462784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 rot="5400000">
            <a:off x="8586216" y="2816352"/>
            <a:ext cx="109728" cy="109728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50" name="Shape 47"/>
          <p:cNvSpPr/>
          <p:nvPr/>
        </p:nvSpPr>
        <p:spPr>
          <a:xfrm>
            <a:off x="6141720" y="3840480"/>
            <a:ext cx="2462784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 rot="5400000">
            <a:off x="8586216" y="3785616"/>
            <a:ext cx="109728" cy="109728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52" name="Shape 49"/>
          <p:cNvSpPr/>
          <p:nvPr/>
        </p:nvSpPr>
        <p:spPr>
          <a:xfrm>
            <a:off x="8732520" y="1481328"/>
            <a:ext cx="1417320" cy="2779776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8732520" y="1481328"/>
            <a:ext cx="1417320" cy="54864"/>
          </a:xfrm>
          <a:prstGeom prst="rect">
            <a:avLst/>
          </a:prstGeom>
          <a:solidFill>
            <a:srgbClr val="C9922B"/>
          </a:solidFill>
          <a:ln/>
        </p:spPr>
      </p:sp>
      <p:sp>
        <p:nvSpPr>
          <p:cNvPr id="54" name="Text 51"/>
          <p:cNvSpPr/>
          <p:nvPr/>
        </p:nvSpPr>
        <p:spPr>
          <a:xfrm>
            <a:off x="8860536" y="1645920"/>
            <a:ext cx="1161288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iFAT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Integración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total</a:t>
            </a:r>
            <a:endParaRPr lang="en-US" sz="1150" dirty="0"/>
          </a:p>
        </p:txBody>
      </p:sp>
      <p:sp>
        <p:nvSpPr>
          <p:cNvPr id="55" name="Text 52"/>
          <p:cNvSpPr/>
          <p:nvPr/>
        </p:nvSpPr>
        <p:spPr>
          <a:xfrm>
            <a:off x="8860536" y="3803904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92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25-Jun →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C992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14-Jul-27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 rot="5400000">
            <a:off x="10168128" y="2816352"/>
            <a:ext cx="109728" cy="109728"/>
          </a:xfrm>
          <a:prstGeom prst="triangle">
            <a:avLst/>
          </a:prstGeom>
          <a:solidFill>
            <a:srgbClr val="6B7280"/>
          </a:solidFill>
          <a:ln/>
        </p:spPr>
      </p:sp>
      <p:sp>
        <p:nvSpPr>
          <p:cNvPr id="57" name="Shape 54"/>
          <p:cNvSpPr/>
          <p:nvPr/>
        </p:nvSpPr>
        <p:spPr>
          <a:xfrm>
            <a:off x="10351008" y="1481328"/>
            <a:ext cx="1335024" cy="2779776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58" name="Shape 55"/>
          <p:cNvSpPr/>
          <p:nvPr/>
        </p:nvSpPr>
        <p:spPr>
          <a:xfrm>
            <a:off x="10351008" y="1481328"/>
            <a:ext cx="1335024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9" name="Text 56"/>
          <p:cNvSpPr/>
          <p:nvPr/>
        </p:nvSpPr>
        <p:spPr>
          <a:xfrm>
            <a:off x="10442448" y="1700784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RFSU</a:t>
            </a:r>
            <a:endParaRPr lang="en-US" sz="1500" dirty="0"/>
          </a:p>
        </p:txBody>
      </p:sp>
      <p:sp>
        <p:nvSpPr>
          <p:cNvPr id="60" name="Text 57"/>
          <p:cNvSpPr/>
          <p:nvPr/>
        </p:nvSpPr>
        <p:spPr>
          <a:xfrm>
            <a:off x="10442448" y="3803904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31-Ene-28</a:t>
            </a:r>
            <a:endParaRPr lang="en-US" sz="1050" dirty="0"/>
          </a:p>
        </p:txBody>
      </p:sp>
      <p:sp>
        <p:nvSpPr>
          <p:cNvPr id="61" name="Shape 58"/>
          <p:cNvSpPr/>
          <p:nvPr/>
        </p:nvSpPr>
        <p:spPr>
          <a:xfrm>
            <a:off x="502920" y="4489704"/>
            <a:ext cx="11183112" cy="914400"/>
          </a:xfrm>
          <a:prstGeom prst="roundRect">
            <a:avLst>
              <a:gd name="adj" fmla="val 6000"/>
            </a:avLst>
          </a:prstGeom>
          <a:solidFill>
            <a:srgbClr val="005392"/>
          </a:solidFill>
          <a:ln/>
        </p:spPr>
      </p:sp>
      <p:sp>
        <p:nvSpPr>
          <p:cNvPr id="62" name="Text 59"/>
          <p:cNvSpPr/>
          <p:nvPr/>
        </p:nvSpPr>
        <p:spPr>
          <a:xfrm>
            <a:off x="777240" y="4608576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Los tres proveedores están en la cadena crítica desde su OC — no solo en el tramo final.</a:t>
            </a:r>
            <a:endParaRPr lang="en-US" sz="1350" dirty="0"/>
          </a:p>
        </p:txBody>
      </p:sp>
      <p:sp>
        <p:nvSpPr>
          <p:cNvPr id="63" name="Text 60"/>
          <p:cNvSpPr/>
          <p:nvPr/>
        </p:nvSpPr>
        <p:spPr>
          <a:xfrm>
            <a:off x="777240" y="4937760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60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 atraso de ABB, Inauco o HIMA en cualquier etapa (OC, FAT en fábrica o entrega en obra) consume directamente el margen hasta el RFSU (31-Ene-28, a ≈524 días de hoy). El seguimiento de estas OC debe priorizarse por sobre otras provisiones de menor impacto en la fecha de arranque.</a:t>
            </a:r>
            <a:endParaRPr lang="en-US" sz="960" dirty="0"/>
          </a:p>
        </p:txBody>
      </p:sp>
      <p:sp>
        <p:nvSpPr>
          <p:cNvPr id="64" name="Text 61"/>
          <p:cNvSpPr/>
          <p:nvPr/>
        </p:nvSpPr>
        <p:spPr>
          <a:xfrm>
            <a:off x="502920" y="5468112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8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Columnas = orden secuencial por etapa (no a escala de calendario). Fechas según Cronograma Integrado CPF2 Rev2 (06-08-2026) y tablero de suministros Rev5, sujetas a OC y freezing points.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ELECTRICIDAD · CIERRE GRÁFICO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Arquitectura de sistemas — PMS (ABB)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2 · 25-Ago-2026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suministros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417320"/>
            <a:ext cx="11183112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04088" y="1600200"/>
            <a:ext cx="1609344" cy="310896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160020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ABB · PMS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89397" y="2002536"/>
            <a:ext cx="4810157" cy="34015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pic>
        <p:nvPicPr>
          <p:cNvPr id="12" name="Image 1" descr="/tmp/claude-0/-home-user-OWN-Daro-1/a5c78a85-7f37-586c-8f2d-662506f55282/scratchpad/suministros/assets/arq_pm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397" y="2002536"/>
            <a:ext cx="4810157" cy="34015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8952" y="5422392"/>
            <a:ext cx="10671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Arquitectura SCADA ELE/PMS — expansión CPF2, Salas Eléctricas #3/#4 (ABB, ACAL-100-PL-E-536)</a:t>
            </a:r>
            <a:endParaRPr lang="en-US" sz="830" dirty="0"/>
          </a:p>
        </p:txBody>
      </p:sp>
      <p:sp>
        <p:nvSpPr>
          <p:cNvPr id="14" name="Text 10"/>
          <p:cNvSpPr/>
          <p:nvPr/>
        </p:nvSpPr>
        <p:spPr>
          <a:xfrm>
            <a:off x="502920" y="587044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Muestra la magnitud y el alcance físico de la ampliación: red redundante, tableros de control de ambas salas y el punto de integración con el SCADA de Instrumentación.</a:t>
            </a:r>
            <a:endParaRPr lang="en-US" sz="9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INSTRUMENTACIÓN · CIERRE GRÁFICO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Arquitecturas de sistemas — PCS/SCADA y SIS (HIMA)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2 · 25-Ago-2026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suministros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417320"/>
            <a:ext cx="5454396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04088" y="1600200"/>
            <a:ext cx="2761488" cy="310896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1600200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INAUCO · PCS/SCADA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24699" y="2002536"/>
            <a:ext cx="4810838" cy="34015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pic>
        <p:nvPicPr>
          <p:cNvPr id="12" name="Image 1" descr="/tmp/claude-0/-home-user-OWN-Daro-1/a5c78a85-7f37-586c-8f2d-662506f55282/scratchpad/suministros/assets/arq_pc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699" y="2002536"/>
            <a:ext cx="4810838" cy="34015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8952" y="5422392"/>
            <a:ext cx="49423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Arquitectura de sistemas PCS — Rockwell (Inauco, ACAL-100-PL-K-100)</a:t>
            </a:r>
            <a:endParaRPr lang="en-US" sz="830" dirty="0"/>
          </a:p>
        </p:txBody>
      </p:sp>
      <p:sp>
        <p:nvSpPr>
          <p:cNvPr id="14" name="Shape 10"/>
          <p:cNvSpPr/>
          <p:nvPr/>
        </p:nvSpPr>
        <p:spPr>
          <a:xfrm>
            <a:off x="6231636" y="1417320"/>
            <a:ext cx="5454396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32804" y="160020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/>
        </p:spPr>
      </p:sp>
      <p:sp>
        <p:nvSpPr>
          <p:cNvPr id="16" name="Text 12"/>
          <p:cNvSpPr/>
          <p:nvPr/>
        </p:nvSpPr>
        <p:spPr>
          <a:xfrm>
            <a:off x="6432804" y="16002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HIMA · SIS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758020" y="2002536"/>
            <a:ext cx="4401629" cy="34015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pic>
        <p:nvPicPr>
          <p:cNvPr id="18" name="Image 2" descr="/tmp/claude-0/-home-user-OWN-Daro-1/a5c78a85-7f37-586c-8f2d-662506f55282/scratchpad/suministros/assets/arq_him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8020" y="2002536"/>
            <a:ext cx="4401629" cy="34015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87668" y="5422392"/>
            <a:ext cx="49423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Network architecture CPF y CPF 1.5 — SIS (Inauco/HIMA, ACAL-100-PL-K-551)</a:t>
            </a:r>
            <a:endParaRPr lang="en-US" sz="830" dirty="0"/>
          </a:p>
        </p:txBody>
      </p:sp>
      <p:sp>
        <p:nvSpPr>
          <p:cNvPr id="20" name="Text 15"/>
          <p:cNvSpPr/>
          <p:nvPr/>
        </p:nvSpPr>
        <p:spPr>
          <a:xfrm>
            <a:off x="502920" y="582472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Ambos planos muestran la dimensión real de la red de control y de seguridad — decenas de nodos, tableros y enlaces redundantes que deben adquirirse, fabricarse e integrarse antes del arranque.</a:t>
            </a:r>
            <a:endParaRPr lang="en-US" sz="9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2026-08-25T22:37:14Z</dcterms:created>
  <dcterms:modified xsi:type="dcterms:W3CDTF">2026-08-25T22:37:14Z</dcterms:modified>
</cp:coreProperties>
</file>